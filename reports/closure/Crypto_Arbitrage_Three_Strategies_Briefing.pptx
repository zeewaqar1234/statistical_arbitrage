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wer" id="{ac1dec8d-393c-112f-a003-6e22b41c3ac2}">
          <p14:sldIdLst>
            <p14:sldId id="256"/>
          </p14:sldIdLst>
        </p14:section>
        <p14:section name="History and method" id="{d837c697-4fe3-a808-9bf8-3fa4a2e07b0e}">
          <p14:sldIdLst>
            <p14:sldId id="257"/>
          </p14:sldIdLst>
        </p14:section>
        <p14:section name="Cross-exchange" id="{2b50c39f-45e4-e124-dd82-10c2f411f234}">
          <p14:sldIdLst>
            <p14:sldId id="258"/>
          </p14:sldIdLst>
        </p14:section>
        <p14:section name="Perpetual carry" id="{3223fca1-766d-b29f-ef13-093ffefa8b7e}">
          <p14:sldIdLst>
            <p14:sldId id="259"/>
          </p14:sldIdLst>
        </p14:section>
        <p14:section name="EURC depeg" id="{e40e0397-cf24-61e0-c11b-bd071ef7f0af}">
          <p14:sldIdLst>
            <p14:sldId id="260"/>
          </p14:sldIdLst>
        </p14:section>
        <p14:section name="Decision" id="{28534e51-cd33-7701-22a8-a4686fafc054}">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1" i="0" u="none" strike="noStrike">
                <a:solidFill>
                  <a:srgbClr val="18313B"/>
                </a:solidFill>
                <a:latin typeface="+mn-lt"/>
              </a:defRPr>
            </a:pPr>
            <a:r>
              <a:rPr sz="1300" b="1" i="0" u="none" strike="noStrike">
                <a:solidFill>
                  <a:srgbClr val="18313B"/>
                </a:solidFill>
                <a:latin typeface="+mn-lt"/>
              </a:rPr>
              <a:t>Median tradeable gap by order size vs cost to break even (bps)</a:t>
            </a:r>
          </a:p>
        </c:rich>
      </c:tx>
      <c:layout/>
      <c:overlay val="0"/>
    </c:title>
    <c:autoTitleDeleted val="0"/>
    <c:plotArea>
      <c:layout/>
      <c:barChart>
        <c:barDir val="col"/>
        <c:grouping val="clustered"/>
        <c:varyColors val="0"/>
        <c:ser>
          <c:idx val="0"/>
          <c:order val="0"/>
          <c:tx>
            <c:strRef>
              <c:f>Sheet1!$B$1</c:f>
              <c:strCache>
                <c:ptCount val="1"/>
                <c:pt idx="0">
                  <c:v>BTC median gap</c:v>
                </c:pt>
              </c:strCache>
            </c:strRef>
          </c:tx>
          <c:spPr>
            <a:solidFill>
              <a:srgbClr val="2F5D8A"/>
            </a:solidFill>
            <a:effectLst/>
          </c:spPr>
          <c:invertIfNegative val="0"/>
          <c:dLbls>
            <c:numFmt formatCode="+0.0;-0.0;0" sourceLinked="0"/>
            <c:txPr>
              <a:bodyPr/>
              <a:lstStyle/>
              <a:p>
                <a:pPr>
                  <a:defRPr b="0" i="0" strike="noStrike" sz="1100" u="none">
                    <a:solidFill>
                      <a:srgbClr val="18313B"/>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€1k</c:v>
                  </c:pt>
                  <c:pt idx="1">
                    <c:v>€10k</c:v>
                  </c:pt>
                  <c:pt idx="2">
                    <c:v>€100k</c:v>
                  </c:pt>
                  <c:pt idx="3">
                    <c:v>€250k</c:v>
                  </c:pt>
                </c:lvl>
              </c:multiLvlStrCache>
            </c:multiLvlStrRef>
          </c:cat>
          <c:val>
            <c:numRef>
              <c:f>Sheet1!$B$2:$B$5</c:f>
              <c:numCache>
                <c:formatCode>General</c:formatCode>
                <c:ptCount val="4"/>
                <c:pt idx="0">
                  <c:v>-0.37</c:v>
                </c:pt>
                <c:pt idx="1">
                  <c:v>-0.58</c:v>
                </c:pt>
                <c:pt idx="2">
                  <c:v>-2.26</c:v>
                </c:pt>
                <c:pt idx="3">
                  <c:v>-4.99</c:v>
                </c:pt>
              </c:numCache>
            </c:numRef>
          </c:val>
        </c:ser>
        <c:ser>
          <c:idx val="1"/>
          <c:order val="1"/>
          <c:tx>
            <c:strRef>
              <c:f>Sheet1!$C$1</c:f>
              <c:strCache>
                <c:ptCount val="1"/>
                <c:pt idx="0">
                  <c:v>ETH median gap</c:v>
                </c:pt>
              </c:strCache>
            </c:strRef>
          </c:tx>
          <c:spPr>
            <a:solidFill>
              <a:srgbClr val="8FB3D9"/>
            </a:solidFill>
            <a:effectLst/>
          </c:spPr>
          <c:invertIfNegative val="0"/>
          <c:dLbls>
            <c:numFmt formatCode="+0.0;-0.0;0" sourceLinked="0"/>
            <c:txPr>
              <a:bodyPr/>
              <a:lstStyle/>
              <a:p>
                <a:pPr>
                  <a:defRPr b="0" i="0" strike="noStrike" sz="1100" u="none">
                    <a:solidFill>
                      <a:srgbClr val="18313B"/>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€1k</c:v>
                  </c:pt>
                  <c:pt idx="1">
                    <c:v>€10k</c:v>
                  </c:pt>
                  <c:pt idx="2">
                    <c:v>€100k</c:v>
                  </c:pt>
                  <c:pt idx="3">
                    <c:v>€250k</c:v>
                  </c:pt>
                </c:lvl>
              </c:multiLvlStrCache>
            </c:multiLvlStrRef>
          </c:cat>
          <c:val>
            <c:numRef>
              <c:f>Sheet1!$C$2:$C$5</c:f>
              <c:numCache>
                <c:formatCode>General</c:formatCode>
                <c:ptCount val="4"/>
                <c:pt idx="0">
                  <c:v>-0.52</c:v>
                </c:pt>
                <c:pt idx="1">
                  <c:v>-0.75</c:v>
                </c:pt>
                <c:pt idx="2">
                  <c:v>-4.1</c:v>
                </c:pt>
                <c:pt idx="3">
                  <c:v>-8.47</c:v>
                </c:pt>
              </c:numCache>
            </c:numRef>
          </c:val>
        </c:ser>
        <c:dLbls>
          <c:numFmt formatCode="+0.0;-0.0;0" sourceLinked="0"/>
          <c:txPr>
            <a:bodyPr/>
            <a:lstStyle/>
            <a:p>
              <a:pPr>
                <a:defRPr b="0" i="0" strike="noStrike" sz="1100" u="none">
                  <a:solidFill>
                    <a:srgbClr val="18313B"/>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Break-even, &gt; $250M tier (9 bps)</c:v>
                </c:pt>
              </c:strCache>
            </c:strRef>
          </c:tx>
          <c:spPr>
            <a:solidFill>
              <a:srgbClr val="D98C8E"/>
            </a:solidFill>
            <a:ln w="31750" cap="flat">
              <a:solidFill>
                <a:srgbClr val="D98C8E"/>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33639"/>
              </a:solidFill>
              <a:ln w="9525" cap="flat">
                <a:solidFill>
                  <a:srgbClr val="D98C8E"/>
                </a:solidFill>
                <a:prstDash val="solid"/>
                <a:round/>
              </a:ln>
              <a:effectLst/>
            </c:spPr>
          </c:marker>
          <c:cat>
            <c:multiLvlStrRef>
              <c:f>Sheet1!$A$2:$A$5</c:f>
              <c:multiLvlStrCache>
                <c:ptCount val="4"/>
                <c:lvl>
                  <c:pt idx="0">
                    <c:v>€1k</c:v>
                  </c:pt>
                  <c:pt idx="1">
                    <c:v>€10k</c:v>
                  </c:pt>
                  <c:pt idx="2">
                    <c:v>€100k</c:v>
                  </c:pt>
                  <c:pt idx="3">
                    <c:v>€250k</c:v>
                  </c:pt>
                </c:lvl>
              </c:multiLvlStrCache>
            </c:multiLvlStrRef>
          </c:cat>
          <c:val>
            <c:numRef>
              <c:f>Sheet1!$D$2:$D$5</c:f>
              <c:numCache>
                <c:formatCode>General</c:formatCode>
                <c:ptCount val="4"/>
                <c:pt idx="0">
                  <c:v>9</c:v>
                </c:pt>
                <c:pt idx="1">
                  <c:v>9</c:v>
                </c:pt>
                <c:pt idx="2">
                  <c:v>9</c:v>
                </c:pt>
                <c:pt idx="3">
                  <c:v>9</c:v>
                </c:pt>
              </c:numCache>
            </c:numRef>
          </c:val>
          <c:smooth val="0"/>
        </c:ser>
        <c:ser>
          <c:idx val="3"/>
          <c:order val="3"/>
          <c:tx>
            <c:strRef>
              <c:f>Sheet1!$E$1</c:f>
              <c:strCache>
                <c:ptCount val="1"/>
                <c:pt idx="0">
                  <c:v>Break-even, default &gt; $20M tier (17 bps)</c:v>
                </c:pt>
              </c:strCache>
            </c:strRef>
          </c:tx>
          <c:spPr>
            <a:solidFill>
              <a:srgbClr val="A33639"/>
            </a:solidFill>
            <a:ln w="31750" cap="flat">
              <a:solidFill>
                <a:srgbClr val="A33639"/>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8C8E"/>
              </a:solidFill>
              <a:ln w="9525" cap="flat">
                <a:solidFill>
                  <a:srgbClr val="A33639"/>
                </a:solidFill>
                <a:prstDash val="solid"/>
                <a:round/>
              </a:ln>
              <a:effectLst/>
            </c:spPr>
          </c:marker>
          <c:cat>
            <c:multiLvlStrRef>
              <c:f>Sheet1!$A$2:$A$5</c:f>
              <c:multiLvlStrCache>
                <c:ptCount val="4"/>
                <c:lvl>
                  <c:pt idx="0">
                    <c:v>€1k</c:v>
                  </c:pt>
                  <c:pt idx="1">
                    <c:v>€10k</c:v>
                  </c:pt>
                  <c:pt idx="2">
                    <c:v>€100k</c:v>
                  </c:pt>
                  <c:pt idx="3">
                    <c:v>€250k</c:v>
                  </c:pt>
                </c:lvl>
              </c:multiLvlStrCache>
            </c:multiLvlStrRef>
          </c:cat>
          <c:val>
            <c:numRef>
              <c:f>Sheet1!$E$2:$E$5</c:f>
              <c:numCache>
                <c:formatCode>General</c:formatCode>
                <c:ptCount val="4"/>
                <c:pt idx="0">
                  <c:v>17</c:v>
                </c:pt>
                <c:pt idx="1">
                  <c:v>17</c:v>
                </c:pt>
                <c:pt idx="2">
                  <c:v>17</c:v>
                </c:pt>
                <c:pt idx="3">
                  <c:v>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6DFE2"/>
            </a:solidFill>
            <a:prstDash val="solid"/>
            <a:round/>
          </a:ln>
        </c:spPr>
        <c:txPr>
          <a:bodyPr/>
          <a:lstStyle/>
          <a:p>
            <a:pPr>
              <a:defRPr sz="1100" b="0" i="0" u="none" strike="noStrike">
                <a:solidFill>
                  <a:srgbClr val="53656D"/>
                </a:solidFill>
                <a:latin typeface="+mn-lt"/>
              </a:defRPr>
            </a:pPr>
            <a:endParaRPr lang="en-US"/>
          </a:p>
        </c:txPr>
        <c:crossAx val="2094734552"/>
        <c:crosses val="autoZero"/>
        <c:auto val="1"/>
        <c:lblAlgn val="ctr"/>
        <c:noMultiLvlLbl val="1"/>
      </c:catAx>
      <c:valAx>
        <c:axId val="2094734552"/>
        <c:scaling>
          <c:orientation val="minMax"/>
          <c:max val="20"/>
          <c:min val="-10"/>
        </c:scaling>
        <c:delete val="0"/>
        <c:axPos val="l"/>
        <c:majorGridlines>
          <c:spPr>
            <a:ln w="9525" cap="flat">
              <a:solidFill>
                <a:srgbClr val="D6DFE2"/>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3656D"/>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18313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1" i="0" u="none" strike="noStrike">
                <a:solidFill>
                  <a:srgbClr val="18313B"/>
                </a:solidFill>
                <a:latin typeface="+mn-lt"/>
              </a:defRPr>
            </a:pPr>
            <a:r>
              <a:rPr sz="1300" b="1" i="0" u="none" strike="noStrike">
                <a:solidFill>
                  <a:srgbClr val="18313B"/>
                </a:solidFill>
                <a:latin typeface="+mn-lt"/>
              </a:rPr>
              <a:t>Funding earned by the short, 30-day average (% a year)</a:t>
            </a:r>
          </a:p>
        </c:rich>
      </c:tx>
      <c:layout/>
      <c:overlay val="0"/>
    </c:title>
    <c:autoTitleDeleted val="0"/>
    <c:plotArea>
      <c:layout/>
      <c:lineChart>
        <c:varyColors val="0"/>
        <c:ser>
          <c:idx val="0"/>
          <c:order val="0"/>
          <c:tx>
            <c:strRef>
              <c:f>Sheet1!$B$1</c:f>
              <c:strCache>
                <c:ptCount val="1"/>
                <c:pt idx="0">
                  <c:v>Kraken BTC</c:v>
                </c:pt>
              </c:strCache>
            </c:strRef>
          </c:tx>
          <c:spPr>
            <a:solidFill>
              <a:srgbClr val="B7791F"/>
            </a:solidFill>
            <a:ln w="25400" cap="flat">
              <a:solidFill>
                <a:srgbClr val="B779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7791F"/>
              </a:solidFill>
              <a:ln w="9525" cap="flat">
                <a:solidFill>
                  <a:srgbClr val="B7791F"/>
                </a:solidFill>
                <a:prstDash val="solid"/>
                <a:round/>
              </a:ln>
              <a:effectLst/>
            </c:spPr>
          </c:marker>
          <c:cat>
            <c:multiLvlStrRef>
              <c:f>Sheet1!$A$2:$A$345</c:f>
              <c:multiLvlStrCache>
                <c:ptCount val="344"/>
                <c:lvl>
                  <c:pt idx="0">
                    <c:v>Nov 25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Jan 26</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Mar 26</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May 26</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Jul 26</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Sep 26</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lvl>
              </c:multiLvlStrCache>
            </c:multiLvlStrRef>
          </c:cat>
          <c:val>
            <c:numRef>
              <c:f>Sheet1!$B$2:$B$345</c:f>
              <c:numCache>
                <c:formatCode>General</c:formatCode>
                <c:ptCount val="344"/>
                <c:pt idx="0">
                  <c:v>5.64</c:v>
                </c:pt>
                <c:pt idx="1">
                  <c:v>5.69</c:v>
                </c:pt>
                <c:pt idx="2">
                  <c:v>5.81</c:v>
                </c:pt>
                <c:pt idx="3">
                  <c:v>6.06</c:v>
                </c:pt>
                <c:pt idx="4">
                  <c:v>6.48</c:v>
                </c:pt>
                <c:pt idx="5">
                  <c:v>6.79</c:v>
                </c:pt>
                <c:pt idx="6">
                  <c:v>7</c:v>
                </c:pt>
                <c:pt idx="7">
                  <c:v>7.31</c:v>
                </c:pt>
                <c:pt idx="8">
                  <c:v>7.41</c:v>
                </c:pt>
                <c:pt idx="9">
                  <c:v>7.39</c:v>
                </c:pt>
                <c:pt idx="10">
                  <c:v>7.2</c:v>
                </c:pt>
                <c:pt idx="11">
                  <c:v>6.98</c:v>
                </c:pt>
                <c:pt idx="12">
                  <c:v>6.71</c:v>
                </c:pt>
                <c:pt idx="13">
                  <c:v>6.47</c:v>
                </c:pt>
                <c:pt idx="14">
                  <c:v>6.26</c:v>
                </c:pt>
                <c:pt idx="15">
                  <c:v>6.16</c:v>
                </c:pt>
                <c:pt idx="16">
                  <c:v>6.02</c:v>
                </c:pt>
                <c:pt idx="17">
                  <c:v>5.91</c:v>
                </c:pt>
                <c:pt idx="18">
                  <c:v>5.96</c:v>
                </c:pt>
                <c:pt idx="19">
                  <c:v>5.66</c:v>
                </c:pt>
                <c:pt idx="20">
                  <c:v>5.53</c:v>
                </c:pt>
                <c:pt idx="21">
                  <c:v>5.42</c:v>
                </c:pt>
                <c:pt idx="22">
                  <c:v>5.34</c:v>
                </c:pt>
                <c:pt idx="23">
                  <c:v>5.21</c:v>
                </c:pt>
                <c:pt idx="24">
                  <c:v>5.05</c:v>
                </c:pt>
                <c:pt idx="25">
                  <c:v>5.05</c:v>
                </c:pt>
                <c:pt idx="26">
                  <c:v>4.99</c:v>
                </c:pt>
                <c:pt idx="27">
                  <c:v>4.92</c:v>
                </c:pt>
                <c:pt idx="28">
                  <c:v>4.93</c:v>
                </c:pt>
                <c:pt idx="29">
                  <c:v>4.84</c:v>
                </c:pt>
                <c:pt idx="30">
                  <c:v>4.66</c:v>
                </c:pt>
                <c:pt idx="31">
                  <c:v>4.55</c:v>
                </c:pt>
                <c:pt idx="32">
                  <c:v>4.43</c:v>
                </c:pt>
                <c:pt idx="33">
                  <c:v>4.18</c:v>
                </c:pt>
                <c:pt idx="34">
                  <c:v>3.89</c:v>
                </c:pt>
                <c:pt idx="35">
                  <c:v>3.63</c:v>
                </c:pt>
                <c:pt idx="36">
                  <c:v>3.45</c:v>
                </c:pt>
                <c:pt idx="37">
                  <c:v>3.07</c:v>
                </c:pt>
                <c:pt idx="38">
                  <c:v>3.01</c:v>
                </c:pt>
                <c:pt idx="39">
                  <c:v>3.06</c:v>
                </c:pt>
                <c:pt idx="40">
                  <c:v>3.25</c:v>
                </c:pt>
                <c:pt idx="41">
                  <c:v>3.54</c:v>
                </c:pt>
                <c:pt idx="42">
                  <c:v>3.66</c:v>
                </c:pt>
                <c:pt idx="43">
                  <c:v>3.87</c:v>
                </c:pt>
                <c:pt idx="44">
                  <c:v>4.07</c:v>
                </c:pt>
                <c:pt idx="45">
                  <c:v>4.28</c:v>
                </c:pt>
                <c:pt idx="46">
                  <c:v>4.6</c:v>
                </c:pt>
                <c:pt idx="47">
                  <c:v>4.76</c:v>
                </c:pt>
                <c:pt idx="48">
                  <c:v>5.21</c:v>
                </c:pt>
                <c:pt idx="49">
                  <c:v>5.78</c:v>
                </c:pt>
                <c:pt idx="50">
                  <c:v>5.85</c:v>
                </c:pt>
                <c:pt idx="51">
                  <c:v>5.9</c:v>
                </c:pt>
                <c:pt idx="52">
                  <c:v>6.12</c:v>
                </c:pt>
                <c:pt idx="53">
                  <c:v>6.36</c:v>
                </c:pt>
                <c:pt idx="54">
                  <c:v>6.57</c:v>
                </c:pt>
                <c:pt idx="55">
                  <c:v>6.82</c:v>
                </c:pt>
                <c:pt idx="56">
                  <c:v>7.08</c:v>
                </c:pt>
                <c:pt idx="57">
                  <c:v>7.2</c:v>
                </c:pt>
                <c:pt idx="58">
                  <c:v>7.32</c:v>
                </c:pt>
                <c:pt idx="59">
                  <c:v>7.42</c:v>
                </c:pt>
                <c:pt idx="60">
                  <c:v>7.64</c:v>
                </c:pt>
                <c:pt idx="61">
                  <c:v>7.62</c:v>
                </c:pt>
                <c:pt idx="62">
                  <c:v>7.57</c:v>
                </c:pt>
                <c:pt idx="63">
                  <c:v>7.7</c:v>
                </c:pt>
                <c:pt idx="64">
                  <c:v>7.82</c:v>
                </c:pt>
                <c:pt idx="65">
                  <c:v>7.85</c:v>
                </c:pt>
                <c:pt idx="66">
                  <c:v>7.9</c:v>
                </c:pt>
                <c:pt idx="67">
                  <c:v>7.95</c:v>
                </c:pt>
                <c:pt idx="68">
                  <c:v>8.03</c:v>
                </c:pt>
                <c:pt idx="69">
                  <c:v>8.11</c:v>
                </c:pt>
                <c:pt idx="70">
                  <c:v>8.14</c:v>
                </c:pt>
                <c:pt idx="71">
                  <c:v>8.18</c:v>
                </c:pt>
                <c:pt idx="72">
                  <c:v>8.42</c:v>
                </c:pt>
                <c:pt idx="73">
                  <c:v>8.51</c:v>
                </c:pt>
                <c:pt idx="74">
                  <c:v>8.44</c:v>
                </c:pt>
                <c:pt idx="75">
                  <c:v>8.37</c:v>
                </c:pt>
                <c:pt idx="76">
                  <c:v>8.21</c:v>
                </c:pt>
                <c:pt idx="77">
                  <c:v>8.27</c:v>
                </c:pt>
                <c:pt idx="78">
                  <c:v>7.85</c:v>
                </c:pt>
                <c:pt idx="79">
                  <c:v>7.41</c:v>
                </c:pt>
                <c:pt idx="80">
                  <c:v>6.85</c:v>
                </c:pt>
                <c:pt idx="81">
                  <c:v>6.68</c:v>
                </c:pt>
                <c:pt idx="82">
                  <c:v>6.39</c:v>
                </c:pt>
                <c:pt idx="83">
                  <c:v>6.3</c:v>
                </c:pt>
                <c:pt idx="84">
                  <c:v>6.06</c:v>
                </c:pt>
                <c:pt idx="85">
                  <c:v>5.4</c:v>
                </c:pt>
                <c:pt idx="86">
                  <c:v>5.03</c:v>
                </c:pt>
                <c:pt idx="87">
                  <c:v>4.65</c:v>
                </c:pt>
                <c:pt idx="88">
                  <c:v>4.22</c:v>
                </c:pt>
                <c:pt idx="89">
                  <c:v>3.84</c:v>
                </c:pt>
                <c:pt idx="90">
                  <c:v>3.57</c:v>
                </c:pt>
                <c:pt idx="91">
                  <c:v>3.56</c:v>
                </c:pt>
                <c:pt idx="92">
                  <c:v>3.45</c:v>
                </c:pt>
                <c:pt idx="93">
                  <c:v>3.24</c:v>
                </c:pt>
                <c:pt idx="94">
                  <c:v>3.01</c:v>
                </c:pt>
                <c:pt idx="95">
                  <c:v>2.92</c:v>
                </c:pt>
                <c:pt idx="96">
                  <c:v>2.67</c:v>
                </c:pt>
                <c:pt idx="97">
                  <c:v>2.57</c:v>
                </c:pt>
                <c:pt idx="98">
                  <c:v>2.33</c:v>
                </c:pt>
                <c:pt idx="99">
                  <c:v>2.13</c:v>
                </c:pt>
                <c:pt idx="100">
                  <c:v>1.86</c:v>
                </c:pt>
                <c:pt idx="101">
                  <c:v>1.62</c:v>
                </c:pt>
                <c:pt idx="102">
                  <c:v>1.08</c:v>
                </c:pt>
                <c:pt idx="103">
                  <c:v>0.6</c:v>
                </c:pt>
                <c:pt idx="104">
                  <c:v>0.35</c:v>
                </c:pt>
                <c:pt idx="105">
                  <c:v>0.13</c:v>
                </c:pt>
                <c:pt idx="106">
                  <c:v>-0.11</c:v>
                </c:pt>
                <c:pt idx="107">
                  <c:v>-0.64</c:v>
                </c:pt>
                <c:pt idx="108">
                  <c:v>-0.8</c:v>
                </c:pt>
                <c:pt idx="109">
                  <c:v>-0.95</c:v>
                </c:pt>
                <c:pt idx="110">
                  <c:v>-0.59</c:v>
                </c:pt>
                <c:pt idx="111">
                  <c:v>-0.79</c:v>
                </c:pt>
                <c:pt idx="112">
                  <c:v>-0.85</c:v>
                </c:pt>
                <c:pt idx="113">
                  <c:v>-1.07</c:v>
                </c:pt>
                <c:pt idx="114">
                  <c:v>-1.11</c:v>
                </c:pt>
                <c:pt idx="115">
                  <c:v>-0.83</c:v>
                </c:pt>
                <c:pt idx="116">
                  <c:v>-0.92</c:v>
                </c:pt>
                <c:pt idx="117">
                  <c:v>-1.12</c:v>
                </c:pt>
                <c:pt idx="118">
                  <c:v>-1.3</c:v>
                </c:pt>
                <c:pt idx="119">
                  <c:v>-1.42</c:v>
                </c:pt>
                <c:pt idx="120">
                  <c:v>-1.45</c:v>
                </c:pt>
                <c:pt idx="121">
                  <c:v>-1.7</c:v>
                </c:pt>
                <c:pt idx="122">
                  <c:v>-1.87</c:v>
                </c:pt>
                <c:pt idx="123">
                  <c:v>-1.87</c:v>
                </c:pt>
                <c:pt idx="124">
                  <c:v>-1.91</c:v>
                </c:pt>
                <c:pt idx="125">
                  <c:v>-1.94</c:v>
                </c:pt>
                <c:pt idx="126">
                  <c:v>-1.85</c:v>
                </c:pt>
                <c:pt idx="127">
                  <c:v>-1.8</c:v>
                </c:pt>
                <c:pt idx="128">
                  <c:v>-1.78</c:v>
                </c:pt>
                <c:pt idx="129">
                  <c:v>-1.91</c:v>
                </c:pt>
                <c:pt idx="130">
                  <c:v>-1.87</c:v>
                </c:pt>
                <c:pt idx="131">
                  <c:v>-1.72</c:v>
                </c:pt>
                <c:pt idx="132">
                  <c:v>-1.43</c:v>
                </c:pt>
                <c:pt idx="133">
                  <c:v>-1.11</c:v>
                </c:pt>
                <c:pt idx="134">
                  <c:v>-0.94</c:v>
                </c:pt>
                <c:pt idx="135">
                  <c:v>-1.15</c:v>
                </c:pt>
                <c:pt idx="136">
                  <c:v>-1.19</c:v>
                </c:pt>
                <c:pt idx="137">
                  <c:v>-1.1</c:v>
                </c:pt>
                <c:pt idx="138">
                  <c:v>-0.95</c:v>
                </c:pt>
                <c:pt idx="139">
                  <c:v>-0.97</c:v>
                </c:pt>
                <c:pt idx="140">
                  <c:v>-1.11</c:v>
                </c:pt>
                <c:pt idx="141">
                  <c:v>-1.02</c:v>
                </c:pt>
                <c:pt idx="142">
                  <c:v>-1.01</c:v>
                </c:pt>
                <c:pt idx="143">
                  <c:v>-1.05</c:v>
                </c:pt>
                <c:pt idx="144">
                  <c:v>-1.12</c:v>
                </c:pt>
                <c:pt idx="145">
                  <c:v>-1.06</c:v>
                </c:pt>
                <c:pt idx="146">
                  <c:v>-0.96</c:v>
                </c:pt>
                <c:pt idx="147">
                  <c:v>-0.83</c:v>
                </c:pt>
                <c:pt idx="148">
                  <c:v>-0.77</c:v>
                </c:pt>
                <c:pt idx="149">
                  <c:v>-0.74</c:v>
                </c:pt>
                <c:pt idx="150">
                  <c:v>-0.85</c:v>
                </c:pt>
                <c:pt idx="151">
                  <c:v>-0.96</c:v>
                </c:pt>
                <c:pt idx="152">
                  <c:v>-0.96</c:v>
                </c:pt>
                <c:pt idx="153">
                  <c:v>-1.13</c:v>
                </c:pt>
                <c:pt idx="154">
                  <c:v>-1.18</c:v>
                </c:pt>
                <c:pt idx="155">
                  <c:v>-1.29</c:v>
                </c:pt>
                <c:pt idx="156">
                  <c:v>-1.52</c:v>
                </c:pt>
                <c:pt idx="157">
                  <c:v>-1.74</c:v>
                </c:pt>
                <c:pt idx="158">
                  <c:v>-2.2</c:v>
                </c:pt>
                <c:pt idx="159">
                  <c:v>-2.3</c:v>
                </c:pt>
                <c:pt idx="160">
                  <c:v>-2.47</c:v>
                </c:pt>
                <c:pt idx="161">
                  <c:v>-2.85</c:v>
                </c:pt>
                <c:pt idx="162">
                  <c:v>-3.11</c:v>
                </c:pt>
                <c:pt idx="163">
                  <c:v>-3.41</c:v>
                </c:pt>
                <c:pt idx="164">
                  <c:v>-3.51</c:v>
                </c:pt>
                <c:pt idx="165">
                  <c:v>-3.27</c:v>
                </c:pt>
                <c:pt idx="166">
                  <c:v>-3.36</c:v>
                </c:pt>
                <c:pt idx="167">
                  <c:v>-3.33</c:v>
                </c:pt>
                <c:pt idx="168">
                  <c:v>-3.44</c:v>
                </c:pt>
                <c:pt idx="169">
                  <c:v>-3.42</c:v>
                </c:pt>
                <c:pt idx="170">
                  <c:v>-3.34</c:v>
                </c:pt>
                <c:pt idx="171">
                  <c:v>-3.25</c:v>
                </c:pt>
                <c:pt idx="172">
                  <c:v>-3.37</c:v>
                </c:pt>
                <c:pt idx="173">
                  <c:v>-3.53</c:v>
                </c:pt>
                <c:pt idx="174">
                  <c:v>-3.62</c:v>
                </c:pt>
                <c:pt idx="175">
                  <c:v>-3.72</c:v>
                </c:pt>
                <c:pt idx="176">
                  <c:v>-3.58</c:v>
                </c:pt>
                <c:pt idx="177">
                  <c:v>-3.42</c:v>
                </c:pt>
                <c:pt idx="178">
                  <c:v>-3.23</c:v>
                </c:pt>
                <c:pt idx="179">
                  <c:v>-3.01</c:v>
                </c:pt>
                <c:pt idx="180">
                  <c:v>-2.85</c:v>
                </c:pt>
                <c:pt idx="181">
                  <c:v>-2.53</c:v>
                </c:pt>
                <c:pt idx="182">
                  <c:v>-2.31</c:v>
                </c:pt>
                <c:pt idx="183">
                  <c:v>-2.19</c:v>
                </c:pt>
                <c:pt idx="184">
                  <c:v>-2.22</c:v>
                </c:pt>
                <c:pt idx="185">
                  <c:v>-2.19</c:v>
                </c:pt>
                <c:pt idx="186">
                  <c:v>-2.01</c:v>
                </c:pt>
                <c:pt idx="187">
                  <c:v>-1.72</c:v>
                </c:pt>
                <c:pt idx="188">
                  <c:v>-1.16</c:v>
                </c:pt>
                <c:pt idx="189">
                  <c:v>-0.95</c:v>
                </c:pt>
                <c:pt idx="190">
                  <c:v>-0.75</c:v>
                </c:pt>
                <c:pt idx="191">
                  <c:v>-0.47</c:v>
                </c:pt>
                <c:pt idx="192">
                  <c:v>-0.35</c:v>
                </c:pt>
                <c:pt idx="193">
                  <c:v>-0.26</c:v>
                </c:pt>
                <c:pt idx="194">
                  <c:v>-0.11</c:v>
                </c:pt>
                <c:pt idx="195">
                  <c:v>-0.03</c:v>
                </c:pt>
                <c:pt idx="196">
                  <c:v>0.26</c:v>
                </c:pt>
                <c:pt idx="197">
                  <c:v>0.38</c:v>
                </c:pt>
                <c:pt idx="198">
                  <c:v>0.44</c:v>
                </c:pt>
                <c:pt idx="199">
                  <c:v>0.57</c:v>
                </c:pt>
                <c:pt idx="200">
                  <c:v>0.7</c:v>
                </c:pt>
                <c:pt idx="201">
                  <c:v>0.5</c:v>
                </c:pt>
                <c:pt idx="202">
                  <c:v>0.53</c:v>
                </c:pt>
                <c:pt idx="203">
                  <c:v>0.51</c:v>
                </c:pt>
                <c:pt idx="204">
                  <c:v>0.48</c:v>
                </c:pt>
                <c:pt idx="205">
                  <c:v>0.53</c:v>
                </c:pt>
                <c:pt idx="206">
                  <c:v>0.57</c:v>
                </c:pt>
                <c:pt idx="207">
                  <c:v>0.73</c:v>
                </c:pt>
                <c:pt idx="208">
                  <c:v>0.85</c:v>
                </c:pt>
                <c:pt idx="209">
                  <c:v>0.81</c:v>
                </c:pt>
                <c:pt idx="210">
                  <c:v>0.81</c:v>
                </c:pt>
                <c:pt idx="211">
                  <c:v>0.69</c:v>
                </c:pt>
                <c:pt idx="212">
                  <c:v>0.54</c:v>
                </c:pt>
                <c:pt idx="213">
                  <c:v>0.78</c:v>
                </c:pt>
                <c:pt idx="214">
                  <c:v>0.95</c:v>
                </c:pt>
                <c:pt idx="215">
                  <c:v>1.19</c:v>
                </c:pt>
                <c:pt idx="216">
                  <c:v>1.11</c:v>
                </c:pt>
                <c:pt idx="217">
                  <c:v>1.07</c:v>
                </c:pt>
                <c:pt idx="218">
                  <c:v>0.6</c:v>
                </c:pt>
                <c:pt idx="219">
                  <c:v>0.42</c:v>
                </c:pt>
                <c:pt idx="220">
                  <c:v>0.3</c:v>
                </c:pt>
                <c:pt idx="221">
                  <c:v>0.24</c:v>
                </c:pt>
                <c:pt idx="222">
                  <c:v>0.21</c:v>
                </c:pt>
                <c:pt idx="223">
                  <c:v>0.28</c:v>
                </c:pt>
                <c:pt idx="224">
                  <c:v>0.17</c:v>
                </c:pt>
                <c:pt idx="225">
                  <c:v>-0.01</c:v>
                </c:pt>
                <c:pt idx="226">
                  <c:v>-0.06</c:v>
                </c:pt>
                <c:pt idx="227">
                  <c:v>-0.32</c:v>
                </c:pt>
                <c:pt idx="228">
                  <c:v>0.01</c:v>
                </c:pt>
                <c:pt idx="229">
                  <c:v>0.23</c:v>
                </c:pt>
                <c:pt idx="230">
                  <c:v>0.14</c:v>
                </c:pt>
                <c:pt idx="231">
                  <c:v>0.43</c:v>
                </c:pt>
                <c:pt idx="232">
                  <c:v>1.11</c:v>
                </c:pt>
                <c:pt idx="233">
                  <c:v>1.47</c:v>
                </c:pt>
                <c:pt idx="234">
                  <c:v>1.92</c:v>
                </c:pt>
                <c:pt idx="235">
                  <c:v>2.24</c:v>
                </c:pt>
                <c:pt idx="236">
                  <c:v>2.15</c:v>
                </c:pt>
                <c:pt idx="237">
                  <c:v>2.28</c:v>
                </c:pt>
                <c:pt idx="238">
                  <c:v>2.36</c:v>
                </c:pt>
                <c:pt idx="239">
                  <c:v>2.55</c:v>
                </c:pt>
                <c:pt idx="240">
                  <c:v>2.58</c:v>
                </c:pt>
                <c:pt idx="241">
                  <c:v>2.81</c:v>
                </c:pt>
                <c:pt idx="242">
                  <c:v>3.23</c:v>
                </c:pt>
                <c:pt idx="243">
                  <c:v>3.09</c:v>
                </c:pt>
                <c:pt idx="244">
                  <c:v>3.16</c:v>
                </c:pt>
                <c:pt idx="245">
                  <c:v>3.19</c:v>
                </c:pt>
                <c:pt idx="246">
                  <c:v>3.43</c:v>
                </c:pt>
                <c:pt idx="247">
                  <c:v>3.49</c:v>
                </c:pt>
                <c:pt idx="248">
                  <c:v>3.86</c:v>
                </c:pt>
                <c:pt idx="249">
                  <c:v>4.22</c:v>
                </c:pt>
                <c:pt idx="250">
                  <c:v>4.11</c:v>
                </c:pt>
                <c:pt idx="251">
                  <c:v>4.24</c:v>
                </c:pt>
                <c:pt idx="252">
                  <c:v>4.48</c:v>
                </c:pt>
                <c:pt idx="253">
                  <c:v>4.69</c:v>
                </c:pt>
                <c:pt idx="254">
                  <c:v>4.76</c:v>
                </c:pt>
                <c:pt idx="255">
                  <c:v>5</c:v>
                </c:pt>
                <c:pt idx="256">
                  <c:v>5.12</c:v>
                </c:pt>
                <c:pt idx="257">
                  <c:v>5.59</c:v>
                </c:pt>
                <c:pt idx="258">
                  <c:v>5.58</c:v>
                </c:pt>
                <c:pt idx="259">
                  <c:v>5.48</c:v>
                </c:pt>
                <c:pt idx="260">
                  <c:v>5.74</c:v>
                </c:pt>
                <c:pt idx="261">
                  <c:v>5.78</c:v>
                </c:pt>
                <c:pt idx="262">
                  <c:v>5.55</c:v>
                </c:pt>
                <c:pt idx="263">
                  <c:v>5.45</c:v>
                </c:pt>
                <c:pt idx="264">
                  <c:v>5.18</c:v>
                </c:pt>
                <c:pt idx="265">
                  <c:v>4.77</c:v>
                </c:pt>
                <c:pt idx="266">
                  <c:v>4.83</c:v>
                </c:pt>
                <c:pt idx="267">
                  <c:v>4.46</c:v>
                </c:pt>
                <c:pt idx="268">
                  <c:v>4.23</c:v>
                </c:pt>
                <c:pt idx="269">
                  <c:v>4.22</c:v>
                </c:pt>
                <c:pt idx="270">
                  <c:v>4.38</c:v>
                </c:pt>
                <c:pt idx="271">
                  <c:v>4.29</c:v>
                </c:pt>
                <c:pt idx="272">
                  <c:v>4.11</c:v>
                </c:pt>
                <c:pt idx="273">
                  <c:v>4.36</c:v>
                </c:pt>
                <c:pt idx="274">
                  <c:v>4.37</c:v>
                </c:pt>
                <c:pt idx="275">
                  <c:v>4.17</c:v>
                </c:pt>
                <c:pt idx="276">
                  <c:v>3.92</c:v>
                </c:pt>
                <c:pt idx="277">
                  <c:v>3.64</c:v>
                </c:pt>
                <c:pt idx="278">
                  <c:v>3.59</c:v>
                </c:pt>
                <c:pt idx="279">
                  <c:v>3.44</c:v>
                </c:pt>
                <c:pt idx="280">
                  <c:v>3.66</c:v>
                </c:pt>
                <c:pt idx="281">
                  <c:v>4.25</c:v>
                </c:pt>
                <c:pt idx="282">
                  <c:v>4.88</c:v>
                </c:pt>
                <c:pt idx="283">
                  <c:v>5.38</c:v>
                </c:pt>
                <c:pt idx="284">
                  <c:v>5.51</c:v>
                </c:pt>
                <c:pt idx="285">
                  <c:v>5.42</c:v>
                </c:pt>
                <c:pt idx="286">
                  <c:v>5.31</c:v>
                </c:pt>
                <c:pt idx="287">
                  <c:v>5.28</c:v>
                </c:pt>
                <c:pt idx="288">
                  <c:v>5.04</c:v>
                </c:pt>
                <c:pt idx="289">
                  <c:v>4.99</c:v>
                </c:pt>
                <c:pt idx="290">
                  <c:v>5.16</c:v>
                </c:pt>
                <c:pt idx="291">
                  <c:v>5.4</c:v>
                </c:pt>
                <c:pt idx="292">
                  <c:v>5.37</c:v>
                </c:pt>
                <c:pt idx="293">
                  <c:v>5.58</c:v>
                </c:pt>
                <c:pt idx="294">
                  <c:v>5.69</c:v>
                </c:pt>
                <c:pt idx="295">
                  <c:v>5.69</c:v>
                </c:pt>
                <c:pt idx="296">
                  <c:v>5.62</c:v>
                </c:pt>
                <c:pt idx="297">
                  <c:v>6</c:v>
                </c:pt>
                <c:pt idx="298">
                  <c:v>6.2</c:v>
                </c:pt>
                <c:pt idx="299">
                  <c:v>6.31</c:v>
                </c:pt>
                <c:pt idx="300">
                  <c:v>6.5</c:v>
                </c:pt>
                <c:pt idx="301">
                  <c:v>6.78</c:v>
                </c:pt>
                <c:pt idx="302">
                  <c:v>6.69</c:v>
                </c:pt>
                <c:pt idx="303">
                  <c:v>6.44</c:v>
                </c:pt>
                <c:pt idx="304">
                  <c:v>6.57</c:v>
                </c:pt>
                <c:pt idx="305">
                  <c:v>6.72</c:v>
                </c:pt>
                <c:pt idx="306">
                  <c:v>7.07</c:v>
                </c:pt>
                <c:pt idx="307">
                  <c:v>7.74</c:v>
                </c:pt>
                <c:pt idx="308">
                  <c:v>8.09</c:v>
                </c:pt>
                <c:pt idx="309">
                  <c:v>8.17</c:v>
                </c:pt>
                <c:pt idx="310">
                  <c:v>8.32</c:v>
                </c:pt>
                <c:pt idx="311">
                  <c:v>7.79</c:v>
                </c:pt>
                <c:pt idx="312">
                  <c:v>7.21</c:v>
                </c:pt>
                <c:pt idx="313">
                  <c:v>6.53</c:v>
                </c:pt>
                <c:pt idx="314">
                  <c:v>6.55</c:v>
                </c:pt>
                <c:pt idx="315">
                  <c:v>6.58</c:v>
                </c:pt>
                <c:pt idx="316">
                  <c:v>6.43</c:v>
                </c:pt>
                <c:pt idx="317">
                  <c:v>6.13</c:v>
                </c:pt>
                <c:pt idx="318">
                  <c:v>6.16</c:v>
                </c:pt>
                <c:pt idx="319">
                  <c:v>6.26</c:v>
                </c:pt>
                <c:pt idx="320">
                  <c:v>6.14</c:v>
                </c:pt>
                <c:pt idx="321">
                  <c:v>6.01</c:v>
                </c:pt>
                <c:pt idx="322">
                  <c:v>5.98</c:v>
                </c:pt>
                <c:pt idx="323">
                  <c:v>5.88</c:v>
                </c:pt>
                <c:pt idx="324">
                  <c:v>5.62</c:v>
                </c:pt>
                <c:pt idx="325">
                  <c:v>5.86</c:v>
                </c:pt>
                <c:pt idx="326">
                  <c:v>5.92</c:v>
                </c:pt>
                <c:pt idx="327">
                  <c:v>5.87</c:v>
                </c:pt>
                <c:pt idx="328">
                  <c:v>5.94</c:v>
                </c:pt>
                <c:pt idx="329">
                  <c:v>6.14</c:v>
                </c:pt>
                <c:pt idx="330">
                  <c:v>6.16</c:v>
                </c:pt>
                <c:pt idx="331">
                  <c:v>5.99</c:v>
                </c:pt>
                <c:pt idx="332">
                  <c:v>6.18</c:v>
                </c:pt>
                <c:pt idx="333">
                  <c:v>6.52</c:v>
                </c:pt>
                <c:pt idx="334">
                  <c:v>6.51</c:v>
                </c:pt>
                <c:pt idx="335">
                  <c:v>6.69</c:v>
                </c:pt>
                <c:pt idx="336">
                  <c:v>6.79</c:v>
                </c:pt>
                <c:pt idx="337">
                  <c:v>6.73</c:v>
                </c:pt>
                <c:pt idx="338">
                  <c:v>6.77</c:v>
                </c:pt>
                <c:pt idx="339">
                  <c:v>6.98</c:v>
                </c:pt>
                <c:pt idx="340">
                  <c:v>7.18</c:v>
                </c:pt>
                <c:pt idx="341">
                  <c:v>7.48</c:v>
                </c:pt>
                <c:pt idx="342">
                  <c:v>7.49</c:v>
                </c:pt>
                <c:pt idx="343">
                  <c:v>7.85</c:v>
                </c:pt>
              </c:numCache>
            </c:numRef>
          </c:val>
          <c:smooth val="0"/>
        </c:ser>
        <c:ser>
          <c:idx val="1"/>
          <c:order val="1"/>
          <c:tx>
            <c:strRef>
              <c:f>Sheet1!$C$1</c:f>
              <c:strCache>
                <c:ptCount val="1"/>
                <c:pt idx="0">
                  <c:v>Deribit BTC</c:v>
                </c:pt>
              </c:strCache>
            </c:strRef>
          </c:tx>
          <c:spPr>
            <a:solidFill>
              <a:srgbClr val="E2B66B"/>
            </a:solidFill>
            <a:ln w="25400" cap="flat">
              <a:solidFill>
                <a:srgbClr val="E2B6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2B66B"/>
              </a:solidFill>
              <a:ln w="9525" cap="flat">
                <a:solidFill>
                  <a:srgbClr val="E2B66B"/>
                </a:solidFill>
                <a:prstDash val="solid"/>
                <a:round/>
              </a:ln>
              <a:effectLst/>
            </c:spPr>
          </c:marker>
          <c:cat>
            <c:multiLvlStrRef>
              <c:f>Sheet1!$A$2:$A$345</c:f>
              <c:multiLvlStrCache>
                <c:ptCount val="344"/>
                <c:lvl>
                  <c:pt idx="0">
                    <c:v>Nov 25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Jan 26</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Mar 26</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May 26</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Jul 26</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Sep 26</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lvl>
              </c:multiLvlStrCache>
            </c:multiLvlStrRef>
          </c:cat>
          <c:val>
            <c:numRef>
              <c:f>Sheet1!$C$2:$C$345</c:f>
              <c:numCache>
                <c:formatCode>General</c:formatCode>
                <c:ptCount val="344"/>
                <c:pt idx="0">
                  <c:v/>
                </c:pt>
                <c:pt idx="1">
                  <c:v/>
                </c:pt>
                <c:pt idx="2">
                  <c:v/>
                </c:pt>
                <c:pt idx="3">
                  <c:v/>
                </c:pt>
                <c:pt idx="4">
                  <c:v/>
                </c:pt>
                <c:pt idx="5">
                  <c:v/>
                </c:pt>
                <c:pt idx="6">
                  <c:v/>
                </c:pt>
                <c:pt idx="7">
                  <c:v>2.32</c:v>
                </c:pt>
                <c:pt idx="8">
                  <c:v>2.18</c:v>
                </c:pt>
                <c:pt idx="9">
                  <c:v>1.98</c:v>
                </c:pt>
                <c:pt idx="10">
                  <c:v>1.81</c:v>
                </c:pt>
                <c:pt idx="11">
                  <c:v>1.74</c:v>
                </c:pt>
                <c:pt idx="12">
                  <c:v>1.25</c:v>
                </c:pt>
                <c:pt idx="13">
                  <c:v>0.91</c:v>
                </c:pt>
                <c:pt idx="14">
                  <c:v>0.55</c:v>
                </c:pt>
                <c:pt idx="15">
                  <c:v>0.39</c:v>
                </c:pt>
                <c:pt idx="16">
                  <c:v>0.33</c:v>
                </c:pt>
                <c:pt idx="17">
                  <c:v>0.1</c:v>
                </c:pt>
                <c:pt idx="18">
                  <c:v>0.02</c:v>
                </c:pt>
                <c:pt idx="19">
                  <c:v>-0.36</c:v>
                </c:pt>
                <c:pt idx="20">
                  <c:v>-0.3</c:v>
                </c:pt>
                <c:pt idx="21">
                  <c:v>-0.22</c:v>
                </c:pt>
                <c:pt idx="22">
                  <c:v>-0.21</c:v>
                </c:pt>
                <c:pt idx="23">
                  <c:v>-0.04</c:v>
                </c:pt>
                <c:pt idx="24">
                  <c:v>0</c:v>
                </c:pt>
                <c:pt idx="25">
                  <c:v>0.1</c:v>
                </c:pt>
                <c:pt idx="26">
                  <c:v>0.13</c:v>
                </c:pt>
                <c:pt idx="27">
                  <c:v>0.02</c:v>
                </c:pt>
                <c:pt idx="28">
                  <c:v>0.06</c:v>
                </c:pt>
                <c:pt idx="29">
                  <c:v>0.09</c:v>
                </c:pt>
                <c:pt idx="30">
                  <c:v>0.08</c:v>
                </c:pt>
                <c:pt idx="31">
                  <c:v>0.16</c:v>
                </c:pt>
                <c:pt idx="32">
                  <c:v>0.33</c:v>
                </c:pt>
                <c:pt idx="33">
                  <c:v>0.51</c:v>
                </c:pt>
                <c:pt idx="34">
                  <c:v>0.58</c:v>
                </c:pt>
                <c:pt idx="35">
                  <c:v>0.76</c:v>
                </c:pt>
                <c:pt idx="36">
                  <c:v>1.07</c:v>
                </c:pt>
                <c:pt idx="37">
                  <c:v>1.13</c:v>
                </c:pt>
                <c:pt idx="38">
                  <c:v>1.28</c:v>
                </c:pt>
                <c:pt idx="39">
                  <c:v>1.44</c:v>
                </c:pt>
                <c:pt idx="40">
                  <c:v>1.54</c:v>
                </c:pt>
                <c:pt idx="41">
                  <c:v>1.68</c:v>
                </c:pt>
                <c:pt idx="42">
                  <c:v>1.74</c:v>
                </c:pt>
                <c:pt idx="43">
                  <c:v>2.1</c:v>
                </c:pt>
                <c:pt idx="44">
                  <c:v>2.29</c:v>
                </c:pt>
                <c:pt idx="45">
                  <c:v>2.37</c:v>
                </c:pt>
                <c:pt idx="46">
                  <c:v>2.85</c:v>
                </c:pt>
                <c:pt idx="47">
                  <c:v>3</c:v>
                </c:pt>
                <c:pt idx="48">
                  <c:v>3.43</c:v>
                </c:pt>
                <c:pt idx="49">
                  <c:v>3.8</c:v>
                </c:pt>
                <c:pt idx="50">
                  <c:v>4.11</c:v>
                </c:pt>
                <c:pt idx="51">
                  <c:v>4.27</c:v>
                </c:pt>
                <c:pt idx="52">
                  <c:v>4.66</c:v>
                </c:pt>
                <c:pt idx="53">
                  <c:v>5.07</c:v>
                </c:pt>
                <c:pt idx="54">
                  <c:v>5.28</c:v>
                </c:pt>
                <c:pt idx="55">
                  <c:v>5.37</c:v>
                </c:pt>
                <c:pt idx="56">
                  <c:v>5.39</c:v>
                </c:pt>
                <c:pt idx="57">
                  <c:v>5.47</c:v>
                </c:pt>
                <c:pt idx="58">
                  <c:v>5.71</c:v>
                </c:pt>
                <c:pt idx="59">
                  <c:v>5.87</c:v>
                </c:pt>
                <c:pt idx="60">
                  <c:v>6.17</c:v>
                </c:pt>
                <c:pt idx="61">
                  <c:v>6.37</c:v>
                </c:pt>
                <c:pt idx="62">
                  <c:v>6.41</c:v>
                </c:pt>
                <c:pt idx="63">
                  <c:v>6.4</c:v>
                </c:pt>
                <c:pt idx="64">
                  <c:v>6.39</c:v>
                </c:pt>
                <c:pt idx="65">
                  <c:v>6.21</c:v>
                </c:pt>
                <c:pt idx="66">
                  <c:v>5.96</c:v>
                </c:pt>
                <c:pt idx="67">
                  <c:v>5.91</c:v>
                </c:pt>
                <c:pt idx="68">
                  <c:v>5.94</c:v>
                </c:pt>
                <c:pt idx="69">
                  <c:v>6.12</c:v>
                </c:pt>
                <c:pt idx="70">
                  <c:v>6.35</c:v>
                </c:pt>
                <c:pt idx="71">
                  <c:v>6.5</c:v>
                </c:pt>
                <c:pt idx="72">
                  <c:v>6.66</c:v>
                </c:pt>
                <c:pt idx="73">
                  <c:v>6.41</c:v>
                </c:pt>
                <c:pt idx="74">
                  <c:v>6.41</c:v>
                </c:pt>
                <c:pt idx="75">
                  <c:v>6.35</c:v>
                </c:pt>
                <c:pt idx="76">
                  <c:v>6.16</c:v>
                </c:pt>
                <c:pt idx="77">
                  <c:v>6.06</c:v>
                </c:pt>
                <c:pt idx="78">
                  <c:v>5.67</c:v>
                </c:pt>
                <c:pt idx="79">
                  <c:v>5.41</c:v>
                </c:pt>
                <c:pt idx="80">
                  <c:v>5.02</c:v>
                </c:pt>
                <c:pt idx="81">
                  <c:v>4.82</c:v>
                </c:pt>
                <c:pt idx="82">
                  <c:v>4.42</c:v>
                </c:pt>
                <c:pt idx="83">
                  <c:v>4.11</c:v>
                </c:pt>
                <c:pt idx="84">
                  <c:v>3.86</c:v>
                </c:pt>
                <c:pt idx="85">
                  <c:v>3.28</c:v>
                </c:pt>
                <c:pt idx="86">
                  <c:v>3.21</c:v>
                </c:pt>
                <c:pt idx="87">
                  <c:v>3.1</c:v>
                </c:pt>
                <c:pt idx="88">
                  <c:v>2.82</c:v>
                </c:pt>
                <c:pt idx="89">
                  <c:v>2.6</c:v>
                </c:pt>
                <c:pt idx="90">
                  <c:v>2.24</c:v>
                </c:pt>
                <c:pt idx="91">
                  <c:v>2.03</c:v>
                </c:pt>
                <c:pt idx="92">
                  <c:v>1.83</c:v>
                </c:pt>
                <c:pt idx="93">
                  <c:v>1.82</c:v>
                </c:pt>
                <c:pt idx="94">
                  <c:v>1.74</c:v>
                </c:pt>
                <c:pt idx="95">
                  <c:v>1.72</c:v>
                </c:pt>
                <c:pt idx="96">
                  <c:v>1.71</c:v>
                </c:pt>
                <c:pt idx="97">
                  <c:v>1.62</c:v>
                </c:pt>
                <c:pt idx="98">
                  <c:v>1.56</c:v>
                </c:pt>
                <c:pt idx="99">
                  <c:v>1.25</c:v>
                </c:pt>
                <c:pt idx="100">
                  <c:v>1.01</c:v>
                </c:pt>
                <c:pt idx="101">
                  <c:v>0.74</c:v>
                </c:pt>
                <c:pt idx="102">
                  <c:v>0.44</c:v>
                </c:pt>
                <c:pt idx="103">
                  <c:v>0.07</c:v>
                </c:pt>
                <c:pt idx="104">
                  <c:v>-0.18</c:v>
                </c:pt>
                <c:pt idx="105">
                  <c:v>-0.4</c:v>
                </c:pt>
                <c:pt idx="106">
                  <c:v>-0.84</c:v>
                </c:pt>
                <c:pt idx="107">
                  <c:v>-1.18</c:v>
                </c:pt>
                <c:pt idx="108">
                  <c:v>-1.36</c:v>
                </c:pt>
                <c:pt idx="109">
                  <c:v>-1.5</c:v>
                </c:pt>
                <c:pt idx="110">
                  <c:v>-1.52</c:v>
                </c:pt>
                <c:pt idx="111">
                  <c:v>-1.54</c:v>
                </c:pt>
                <c:pt idx="112">
                  <c:v>-1.49</c:v>
                </c:pt>
                <c:pt idx="113">
                  <c:v>-1.6</c:v>
                </c:pt>
                <c:pt idx="114">
                  <c:v>-1.63</c:v>
                </c:pt>
                <c:pt idx="115">
                  <c:v>-1.23</c:v>
                </c:pt>
                <c:pt idx="116">
                  <c:v>-1.19</c:v>
                </c:pt>
                <c:pt idx="117">
                  <c:v>-1.19</c:v>
                </c:pt>
                <c:pt idx="118">
                  <c:v>-1.19</c:v>
                </c:pt>
                <c:pt idx="119">
                  <c:v>-1.19</c:v>
                </c:pt>
                <c:pt idx="120">
                  <c:v>-1.1</c:v>
                </c:pt>
                <c:pt idx="121">
                  <c:v>-1.13</c:v>
                </c:pt>
                <c:pt idx="122">
                  <c:v>-1.06</c:v>
                </c:pt>
                <c:pt idx="123">
                  <c:v>-1.04</c:v>
                </c:pt>
                <c:pt idx="124">
                  <c:v>-1.03</c:v>
                </c:pt>
                <c:pt idx="125">
                  <c:v>-1</c:v>
                </c:pt>
                <c:pt idx="126">
                  <c:v>-1</c:v>
                </c:pt>
                <c:pt idx="127">
                  <c:v>-0.94</c:v>
                </c:pt>
                <c:pt idx="128">
                  <c:v>-0.8</c:v>
                </c:pt>
                <c:pt idx="129">
                  <c:v>-0.84</c:v>
                </c:pt>
                <c:pt idx="130">
                  <c:v>-0.76</c:v>
                </c:pt>
                <c:pt idx="131">
                  <c:v>-0.71</c:v>
                </c:pt>
                <c:pt idx="132">
                  <c:v>-0.56</c:v>
                </c:pt>
                <c:pt idx="133">
                  <c:v>-0.29</c:v>
                </c:pt>
                <c:pt idx="134">
                  <c:v>-0.21</c:v>
                </c:pt>
                <c:pt idx="135">
                  <c:v>-0.13</c:v>
                </c:pt>
                <c:pt idx="136">
                  <c:v>0.08</c:v>
                </c:pt>
                <c:pt idx="137">
                  <c:v>0.4</c:v>
                </c:pt>
                <c:pt idx="138">
                  <c:v>0.65</c:v>
                </c:pt>
                <c:pt idx="139">
                  <c:v>0.78</c:v>
                </c:pt>
                <c:pt idx="140">
                  <c:v>0.7</c:v>
                </c:pt>
                <c:pt idx="141">
                  <c:v>0.84</c:v>
                </c:pt>
                <c:pt idx="142">
                  <c:v>0.87</c:v>
                </c:pt>
                <c:pt idx="143">
                  <c:v>0.91</c:v>
                </c:pt>
                <c:pt idx="144">
                  <c:v>1.02</c:v>
                </c:pt>
                <c:pt idx="145">
                  <c:v>1.04</c:v>
                </c:pt>
                <c:pt idx="146">
                  <c:v>1.17</c:v>
                </c:pt>
                <c:pt idx="147">
                  <c:v>1.16</c:v>
                </c:pt>
                <c:pt idx="148">
                  <c:v>1.19</c:v>
                </c:pt>
                <c:pt idx="149">
                  <c:v>1.2</c:v>
                </c:pt>
                <c:pt idx="150">
                  <c:v>1.19</c:v>
                </c:pt>
                <c:pt idx="151">
                  <c:v>1.17</c:v>
                </c:pt>
                <c:pt idx="152">
                  <c:v>1.13</c:v>
                </c:pt>
                <c:pt idx="153">
                  <c:v>1.11</c:v>
                </c:pt>
                <c:pt idx="154">
                  <c:v>1.12</c:v>
                </c:pt>
                <c:pt idx="155">
                  <c:v>1.06</c:v>
                </c:pt>
                <c:pt idx="156">
                  <c:v>1.03</c:v>
                </c:pt>
                <c:pt idx="157">
                  <c:v>1.01</c:v>
                </c:pt>
                <c:pt idx="158">
                  <c:v>0.88</c:v>
                </c:pt>
                <c:pt idx="159">
                  <c:v>0.9</c:v>
                </c:pt>
                <c:pt idx="160">
                  <c:v>0.66</c:v>
                </c:pt>
                <c:pt idx="161">
                  <c:v>0.53</c:v>
                </c:pt>
                <c:pt idx="162">
                  <c:v>0.41</c:v>
                </c:pt>
                <c:pt idx="163">
                  <c:v>0.29</c:v>
                </c:pt>
                <c:pt idx="164">
                  <c:v>0.26</c:v>
                </c:pt>
                <c:pt idx="165">
                  <c:v>0.26</c:v>
                </c:pt>
                <c:pt idx="166">
                  <c:v>0.16</c:v>
                </c:pt>
                <c:pt idx="167">
                  <c:v>0.06</c:v>
                </c:pt>
                <c:pt idx="168">
                  <c:v>-0.05</c:v>
                </c:pt>
                <c:pt idx="169">
                  <c:v>-0.09</c:v>
                </c:pt>
                <c:pt idx="170">
                  <c:v>0.02</c:v>
                </c:pt>
                <c:pt idx="171">
                  <c:v>-0.07</c:v>
                </c:pt>
                <c:pt idx="172">
                  <c:v>-0.14</c:v>
                </c:pt>
                <c:pt idx="173">
                  <c:v>-0.2</c:v>
                </c:pt>
                <c:pt idx="174">
                  <c:v>-0.31</c:v>
                </c:pt>
                <c:pt idx="175">
                  <c:v>-0.25</c:v>
                </c:pt>
                <c:pt idx="176">
                  <c:v>-0.39</c:v>
                </c:pt>
                <c:pt idx="177">
                  <c:v>-0.29</c:v>
                </c:pt>
                <c:pt idx="178">
                  <c:v>-0.24</c:v>
                </c:pt>
                <c:pt idx="179">
                  <c:v>-0.1</c:v>
                </c:pt>
                <c:pt idx="180">
                  <c:v>-0.1</c:v>
                </c:pt>
                <c:pt idx="181">
                  <c:v>-0.02</c:v>
                </c:pt>
                <c:pt idx="182">
                  <c:v>0.01</c:v>
                </c:pt>
                <c:pt idx="183">
                  <c:v>0.01</c:v>
                </c:pt>
                <c:pt idx="184">
                  <c:v>-0.01</c:v>
                </c:pt>
                <c:pt idx="185">
                  <c:v>-0.01</c:v>
                </c:pt>
                <c:pt idx="186">
                  <c:v>0.01</c:v>
                </c:pt>
                <c:pt idx="187">
                  <c:v>-0.01</c:v>
                </c:pt>
                <c:pt idx="188">
                  <c:v>0.07</c:v>
                </c:pt>
                <c:pt idx="189">
                  <c:v>0.15</c:v>
                </c:pt>
                <c:pt idx="190">
                  <c:v>0.31</c:v>
                </c:pt>
                <c:pt idx="191">
                  <c:v>0.38</c:v>
                </c:pt>
                <c:pt idx="192">
                  <c:v>0.41</c:v>
                </c:pt>
                <c:pt idx="193">
                  <c:v>0.51</c:v>
                </c:pt>
                <c:pt idx="194">
                  <c:v>0.51</c:v>
                </c:pt>
                <c:pt idx="195">
                  <c:v>0.57</c:v>
                </c:pt>
                <c:pt idx="196">
                  <c:v>0.73</c:v>
                </c:pt>
                <c:pt idx="197">
                  <c:v>0.95</c:v>
                </c:pt>
                <c:pt idx="198">
                  <c:v>1</c:v>
                </c:pt>
                <c:pt idx="199">
                  <c:v>0.95</c:v>
                </c:pt>
                <c:pt idx="200">
                  <c:v>0.95</c:v>
                </c:pt>
                <c:pt idx="201">
                  <c:v>0.9</c:v>
                </c:pt>
                <c:pt idx="202">
                  <c:v>0.87</c:v>
                </c:pt>
                <c:pt idx="203">
                  <c:v>0.54</c:v>
                </c:pt>
                <c:pt idx="204">
                  <c:v>0.36</c:v>
                </c:pt>
                <c:pt idx="205">
                  <c:v>0.29</c:v>
                </c:pt>
                <c:pt idx="206">
                  <c:v>0.27</c:v>
                </c:pt>
                <c:pt idx="207">
                  <c:v>0.17</c:v>
                </c:pt>
                <c:pt idx="208">
                  <c:v>0.11</c:v>
                </c:pt>
                <c:pt idx="209">
                  <c:v>-0.02</c:v>
                </c:pt>
                <c:pt idx="210">
                  <c:v>-0.02</c:v>
                </c:pt>
                <c:pt idx="211">
                  <c:v>-0.05</c:v>
                </c:pt>
                <c:pt idx="212">
                  <c:v>-0.04</c:v>
                </c:pt>
                <c:pt idx="213">
                  <c:v>-0.03</c:v>
                </c:pt>
                <c:pt idx="214">
                  <c:v>-0.03</c:v>
                </c:pt>
                <c:pt idx="215">
                  <c:v>0.04</c:v>
                </c:pt>
                <c:pt idx="216">
                  <c:v>0.06</c:v>
                </c:pt>
                <c:pt idx="217">
                  <c:v>0.07</c:v>
                </c:pt>
                <c:pt idx="218">
                  <c:v>-0.02</c:v>
                </c:pt>
                <c:pt idx="219">
                  <c:v>-0.1</c:v>
                </c:pt>
                <c:pt idx="220">
                  <c:v>-0.12</c:v>
                </c:pt>
                <c:pt idx="221">
                  <c:v>-0.08</c:v>
                </c:pt>
                <c:pt idx="222">
                  <c:v>-0.07</c:v>
                </c:pt>
                <c:pt idx="223">
                  <c:v>-0.07</c:v>
                </c:pt>
                <c:pt idx="224">
                  <c:v>-0.15</c:v>
                </c:pt>
                <c:pt idx="225">
                  <c:v>-0.12</c:v>
                </c:pt>
                <c:pt idx="226">
                  <c:v>-0.15</c:v>
                </c:pt>
                <c:pt idx="227">
                  <c:v>-0.34</c:v>
                </c:pt>
                <c:pt idx="228">
                  <c:v>-0.19</c:v>
                </c:pt>
                <c:pt idx="229">
                  <c:v>-0.2</c:v>
                </c:pt>
                <c:pt idx="230">
                  <c:v>-0.13</c:v>
                </c:pt>
                <c:pt idx="231">
                  <c:v>-0.05</c:v>
                </c:pt>
                <c:pt idx="232">
                  <c:v>0.11</c:v>
                </c:pt>
                <c:pt idx="233">
                  <c:v>0.49</c:v>
                </c:pt>
                <c:pt idx="234">
                  <c:v>0.8</c:v>
                </c:pt>
                <c:pt idx="235">
                  <c:v>1.09</c:v>
                </c:pt>
                <c:pt idx="236">
                  <c:v>1.27</c:v>
                </c:pt>
                <c:pt idx="237">
                  <c:v>1.42</c:v>
                </c:pt>
                <c:pt idx="238">
                  <c:v>1.57</c:v>
                </c:pt>
                <c:pt idx="239">
                  <c:v>1.86</c:v>
                </c:pt>
                <c:pt idx="240">
                  <c:v>2.06</c:v>
                </c:pt>
                <c:pt idx="241">
                  <c:v>2.16</c:v>
                </c:pt>
                <c:pt idx="242">
                  <c:v>2.41</c:v>
                </c:pt>
                <c:pt idx="243">
                  <c:v>2.45</c:v>
                </c:pt>
                <c:pt idx="244">
                  <c:v>2.71</c:v>
                </c:pt>
                <c:pt idx="245">
                  <c:v>2.81</c:v>
                </c:pt>
                <c:pt idx="246">
                  <c:v>2.84</c:v>
                </c:pt>
                <c:pt idx="247">
                  <c:v>2.9</c:v>
                </c:pt>
                <c:pt idx="248">
                  <c:v>3.2</c:v>
                </c:pt>
                <c:pt idx="249">
                  <c:v>3.36</c:v>
                </c:pt>
                <c:pt idx="250">
                  <c:v>3.56</c:v>
                </c:pt>
                <c:pt idx="251">
                  <c:v>3.79</c:v>
                </c:pt>
                <c:pt idx="252">
                  <c:v>3.83</c:v>
                </c:pt>
                <c:pt idx="253">
                  <c:v>3.9</c:v>
                </c:pt>
                <c:pt idx="254">
                  <c:v>4.01</c:v>
                </c:pt>
                <c:pt idx="255">
                  <c:v>3.95</c:v>
                </c:pt>
                <c:pt idx="256">
                  <c:v>4.12</c:v>
                </c:pt>
                <c:pt idx="257">
                  <c:v>4.22</c:v>
                </c:pt>
                <c:pt idx="258">
                  <c:v>4.28</c:v>
                </c:pt>
                <c:pt idx="259">
                  <c:v>4.61</c:v>
                </c:pt>
                <c:pt idx="260">
                  <c:v>4.66</c:v>
                </c:pt>
                <c:pt idx="261">
                  <c:v>4.69</c:v>
                </c:pt>
                <c:pt idx="262">
                  <c:v>4.64</c:v>
                </c:pt>
                <c:pt idx="263">
                  <c:v>4.81</c:v>
                </c:pt>
                <c:pt idx="264">
                  <c:v>4.83</c:v>
                </c:pt>
                <c:pt idx="265">
                  <c:v>4.61</c:v>
                </c:pt>
                <c:pt idx="266">
                  <c:v>4.48</c:v>
                </c:pt>
                <c:pt idx="267">
                  <c:v>4.35</c:v>
                </c:pt>
                <c:pt idx="268">
                  <c:v>4.17</c:v>
                </c:pt>
                <c:pt idx="269">
                  <c:v>3.88</c:v>
                </c:pt>
                <c:pt idx="270">
                  <c:v>3.7</c:v>
                </c:pt>
                <c:pt idx="271">
                  <c:v>3.66</c:v>
                </c:pt>
                <c:pt idx="272">
                  <c:v>3.64</c:v>
                </c:pt>
                <c:pt idx="273">
                  <c:v>3.89</c:v>
                </c:pt>
                <c:pt idx="274">
                  <c:v>3.85</c:v>
                </c:pt>
                <c:pt idx="275">
                  <c:v>3.74</c:v>
                </c:pt>
                <c:pt idx="276">
                  <c:v>3.7</c:v>
                </c:pt>
                <c:pt idx="277">
                  <c:v>3.77</c:v>
                </c:pt>
                <c:pt idx="278">
                  <c:v>3.53</c:v>
                </c:pt>
                <c:pt idx="279">
                  <c:v>3.51</c:v>
                </c:pt>
                <c:pt idx="280">
                  <c:v>3.64</c:v>
                </c:pt>
                <c:pt idx="281">
                  <c:v>3.62</c:v>
                </c:pt>
                <c:pt idx="282">
                  <c:v>3.96</c:v>
                </c:pt>
                <c:pt idx="283">
                  <c:v>4.14</c:v>
                </c:pt>
                <c:pt idx="284">
                  <c:v>4.27</c:v>
                </c:pt>
                <c:pt idx="285">
                  <c:v>4.32</c:v>
                </c:pt>
                <c:pt idx="286">
                  <c:v>4.2</c:v>
                </c:pt>
                <c:pt idx="287">
                  <c:v>4.3</c:v>
                </c:pt>
                <c:pt idx="288">
                  <c:v>4.05</c:v>
                </c:pt>
                <c:pt idx="289">
                  <c:v>3.75</c:v>
                </c:pt>
                <c:pt idx="290">
                  <c:v>3.74</c:v>
                </c:pt>
                <c:pt idx="291">
                  <c:v>3.97</c:v>
                </c:pt>
                <c:pt idx="292">
                  <c:v>4.11</c:v>
                </c:pt>
                <c:pt idx="293">
                  <c:v>4.14</c:v>
                </c:pt>
                <c:pt idx="294">
                  <c:v>4.21</c:v>
                </c:pt>
                <c:pt idx="295">
                  <c:v>4.12</c:v>
                </c:pt>
                <c:pt idx="296">
                  <c:v>4</c:v>
                </c:pt>
                <c:pt idx="297">
                  <c:v>3.98</c:v>
                </c:pt>
                <c:pt idx="298">
                  <c:v>3.99</c:v>
                </c:pt>
                <c:pt idx="299">
                  <c:v>4.08</c:v>
                </c:pt>
                <c:pt idx="300">
                  <c:v>4.23</c:v>
                </c:pt>
                <c:pt idx="301">
                  <c:v>4.19</c:v>
                </c:pt>
                <c:pt idx="302">
                  <c:v>3.99</c:v>
                </c:pt>
                <c:pt idx="303">
                  <c:v>3.69</c:v>
                </c:pt>
                <c:pt idx="304">
                  <c:v>3.54</c:v>
                </c:pt>
                <c:pt idx="305">
                  <c:v>3.53</c:v>
                </c:pt>
                <c:pt idx="306">
                  <c:v>3.62</c:v>
                </c:pt>
                <c:pt idx="307">
                  <c:v>3.7</c:v>
                </c:pt>
                <c:pt idx="308">
                  <c:v>3.87</c:v>
                </c:pt>
                <c:pt idx="309">
                  <c:v>3.81</c:v>
                </c:pt>
                <c:pt idx="310">
                  <c:v>3.88</c:v>
                </c:pt>
                <c:pt idx="311">
                  <c:v>3.9</c:v>
                </c:pt>
                <c:pt idx="312">
                  <c:v>4.24</c:v>
                </c:pt>
                <c:pt idx="313">
                  <c:v>4.4</c:v>
                </c:pt>
                <c:pt idx="314">
                  <c:v>4.56</c:v>
                </c:pt>
                <c:pt idx="315">
                  <c:v>4.61</c:v>
                </c:pt>
                <c:pt idx="316">
                  <c:v>4.42</c:v>
                </c:pt>
                <c:pt idx="317">
                  <c:v>4.21</c:v>
                </c:pt>
                <c:pt idx="318">
                  <c:v>4.19</c:v>
                </c:pt>
                <c:pt idx="319">
                  <c:v>4.15</c:v>
                </c:pt>
                <c:pt idx="320">
                  <c:v>4.09</c:v>
                </c:pt>
                <c:pt idx="321">
                  <c:v>3.88</c:v>
                </c:pt>
                <c:pt idx="322">
                  <c:v>3.8</c:v>
                </c:pt>
                <c:pt idx="323">
                  <c:v>3.81</c:v>
                </c:pt>
                <c:pt idx="324">
                  <c:v>3.62</c:v>
                </c:pt>
                <c:pt idx="325">
                  <c:v>3.65</c:v>
                </c:pt>
                <c:pt idx="326">
                  <c:v>3.97</c:v>
                </c:pt>
                <c:pt idx="327">
                  <c:v>4.04</c:v>
                </c:pt>
                <c:pt idx="328">
                  <c:v>4.07</c:v>
                </c:pt>
                <c:pt idx="329">
                  <c:v>4.22</c:v>
                </c:pt>
                <c:pt idx="330">
                  <c:v>4.26</c:v>
                </c:pt>
                <c:pt idx="331">
                  <c:v>4.36</c:v>
                </c:pt>
                <c:pt idx="332">
                  <c:v>4.43</c:v>
                </c:pt>
                <c:pt idx="333">
                  <c:v>4.72</c:v>
                </c:pt>
                <c:pt idx="334">
                  <c:v>4.88</c:v>
                </c:pt>
                <c:pt idx="335">
                  <c:v>5.07</c:v>
                </c:pt>
                <c:pt idx="336">
                  <c:v>5.18</c:v>
                </c:pt>
                <c:pt idx="337">
                  <c:v>5.13</c:v>
                </c:pt>
                <c:pt idx="338">
                  <c:v>4.99</c:v>
                </c:pt>
                <c:pt idx="339">
                  <c:v>5.09</c:v>
                </c:pt>
                <c:pt idx="340">
                  <c:v>4.88</c:v>
                </c:pt>
                <c:pt idx="341">
                  <c:v>4.79</c:v>
                </c:pt>
                <c:pt idx="342">
                  <c:v>4.22</c:v>
                </c:pt>
                <c:pt idx="343">
                  <c:v>3.86</c:v>
                </c:pt>
              </c:numCache>
            </c:numRef>
          </c:val>
          <c:smooth val="0"/>
        </c:ser>
        <c:ser>
          <c:idx val="2"/>
          <c:order val="2"/>
          <c:tx>
            <c:strRef>
              <c:f>Sheet1!$D$1</c:f>
              <c:strCache>
                <c:ptCount val="1"/>
                <c:pt idx="0">
                  <c:v>Bank deposit 2.5%</c:v>
                </c:pt>
              </c:strCache>
            </c:strRef>
          </c:tx>
          <c:spPr>
            <a:solidFill>
              <a:srgbClr val="18313B"/>
            </a:solidFill>
            <a:ln w="25400" cap="flat">
              <a:solidFill>
                <a:srgbClr val="1831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8313B"/>
              </a:solidFill>
              <a:ln w="9525" cap="flat">
                <a:solidFill>
                  <a:srgbClr val="18313B"/>
                </a:solidFill>
                <a:prstDash val="solid"/>
                <a:round/>
              </a:ln>
              <a:effectLst/>
            </c:spPr>
          </c:marker>
          <c:cat>
            <c:multiLvlStrRef>
              <c:f>Sheet1!$A$2:$A$345</c:f>
              <c:multiLvlStrCache>
                <c:ptCount val="344"/>
                <c:lvl>
                  <c:pt idx="0">
                    <c:v>Nov 25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Jan 26</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Mar 26</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May 26</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Jul 26</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Sep 26</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lvl>
              </c:multiLvlStrCache>
            </c:multiLvlStrRef>
          </c:cat>
          <c:val>
            <c:numRef>
              <c:f>Sheet1!$D$2:$D$345</c:f>
              <c:numCache>
                <c:formatCode>General</c:formatCode>
                <c:ptCount val="344"/>
                <c:pt idx="0">
                  <c:v>2.5</c:v>
                </c:pt>
                <c:pt idx="1">
                  <c:v>2.5</c:v>
                </c:pt>
                <c:pt idx="2">
                  <c:v>2.5</c:v>
                </c:pt>
                <c:pt idx="3">
                  <c:v>2.5</c:v>
                </c:pt>
                <c:pt idx="4">
                  <c:v>2.5</c:v>
                </c:pt>
                <c:pt idx="5">
                  <c:v>2.5</c:v>
                </c:pt>
                <c:pt idx="6">
                  <c:v>2.5</c:v>
                </c:pt>
                <c:pt idx="7">
                  <c:v>2.5</c:v>
                </c:pt>
                <c:pt idx="8">
                  <c:v>2.5</c:v>
                </c:pt>
                <c:pt idx="9">
                  <c:v>2.5</c:v>
                </c:pt>
                <c:pt idx="10">
                  <c:v>2.5</c:v>
                </c:pt>
                <c:pt idx="11">
                  <c:v>2.5</c:v>
                </c:pt>
                <c:pt idx="12">
                  <c:v>2.5</c:v>
                </c:pt>
                <c:pt idx="13">
                  <c:v>2.5</c:v>
                </c:pt>
                <c:pt idx="14">
                  <c:v>2.5</c:v>
                </c:pt>
                <c:pt idx="15">
                  <c:v>2.5</c:v>
                </c:pt>
                <c:pt idx="16">
                  <c:v>2.5</c:v>
                </c:pt>
                <c:pt idx="17">
                  <c:v>2.5</c:v>
                </c:pt>
                <c:pt idx="18">
                  <c:v>2.5</c:v>
                </c:pt>
                <c:pt idx="19">
                  <c:v>2.5</c:v>
                </c:pt>
                <c:pt idx="20">
                  <c:v>2.5</c:v>
                </c:pt>
                <c:pt idx="21">
                  <c:v>2.5</c:v>
                </c:pt>
                <c:pt idx="22">
                  <c:v>2.5</c:v>
                </c:pt>
                <c:pt idx="23">
                  <c:v>2.5</c:v>
                </c:pt>
                <c:pt idx="24">
                  <c:v>2.5</c:v>
                </c:pt>
                <c:pt idx="25">
                  <c:v>2.5</c:v>
                </c:pt>
                <c:pt idx="26">
                  <c:v>2.5</c:v>
                </c:pt>
                <c:pt idx="27">
                  <c:v>2.5</c:v>
                </c:pt>
                <c:pt idx="28">
                  <c:v>2.5</c:v>
                </c:pt>
                <c:pt idx="29">
                  <c:v>2.5</c:v>
                </c:pt>
                <c:pt idx="30">
                  <c:v>2.5</c:v>
                </c:pt>
                <c:pt idx="31">
                  <c:v>2.5</c:v>
                </c:pt>
                <c:pt idx="32">
                  <c:v>2.5</c:v>
                </c:pt>
                <c:pt idx="33">
                  <c:v>2.5</c:v>
                </c:pt>
                <c:pt idx="34">
                  <c:v>2.5</c:v>
                </c:pt>
                <c:pt idx="35">
                  <c:v>2.5</c:v>
                </c:pt>
                <c:pt idx="36">
                  <c:v>2.5</c:v>
                </c:pt>
                <c:pt idx="37">
                  <c:v>2.5</c:v>
                </c:pt>
                <c:pt idx="38">
                  <c:v>2.5</c:v>
                </c:pt>
                <c:pt idx="39">
                  <c:v>2.5</c:v>
                </c:pt>
                <c:pt idx="40">
                  <c:v>2.5</c:v>
                </c:pt>
                <c:pt idx="41">
                  <c:v>2.5</c:v>
                </c:pt>
                <c:pt idx="42">
                  <c:v>2.5</c:v>
                </c:pt>
                <c:pt idx="43">
                  <c:v>2.5</c:v>
                </c:pt>
                <c:pt idx="44">
                  <c:v>2.5</c:v>
                </c:pt>
                <c:pt idx="45">
                  <c:v>2.5</c:v>
                </c:pt>
                <c:pt idx="46">
                  <c:v>2.5</c:v>
                </c:pt>
                <c:pt idx="47">
                  <c:v>2.5</c:v>
                </c:pt>
                <c:pt idx="48">
                  <c:v>2.5</c:v>
                </c:pt>
                <c:pt idx="49">
                  <c:v>2.5</c:v>
                </c:pt>
                <c:pt idx="50">
                  <c:v>2.5</c:v>
                </c:pt>
                <c:pt idx="51">
                  <c:v>2.5</c:v>
                </c:pt>
                <c:pt idx="52">
                  <c:v>2.5</c:v>
                </c:pt>
                <c:pt idx="53">
                  <c:v>2.5</c:v>
                </c:pt>
                <c:pt idx="54">
                  <c:v>2.5</c:v>
                </c:pt>
                <c:pt idx="55">
                  <c:v>2.5</c:v>
                </c:pt>
                <c:pt idx="56">
                  <c:v>2.5</c:v>
                </c:pt>
                <c:pt idx="57">
                  <c:v>2.5</c:v>
                </c:pt>
                <c:pt idx="58">
                  <c:v>2.5</c:v>
                </c:pt>
                <c:pt idx="59">
                  <c:v>2.5</c:v>
                </c:pt>
                <c:pt idx="60">
                  <c:v>2.5</c:v>
                </c:pt>
                <c:pt idx="61">
                  <c:v>2.5</c:v>
                </c:pt>
                <c:pt idx="62">
                  <c:v>2.5</c:v>
                </c:pt>
                <c:pt idx="63">
                  <c:v>2.5</c:v>
                </c:pt>
                <c:pt idx="64">
                  <c:v>2.5</c:v>
                </c:pt>
                <c:pt idx="65">
                  <c:v>2.5</c:v>
                </c:pt>
                <c:pt idx="66">
                  <c:v>2.5</c:v>
                </c:pt>
                <c:pt idx="67">
                  <c:v>2.5</c:v>
                </c:pt>
                <c:pt idx="68">
                  <c:v>2.5</c:v>
                </c:pt>
                <c:pt idx="69">
                  <c:v>2.5</c:v>
                </c:pt>
                <c:pt idx="70">
                  <c:v>2.5</c:v>
                </c:pt>
                <c:pt idx="71">
                  <c:v>2.5</c:v>
                </c:pt>
                <c:pt idx="72">
                  <c:v>2.5</c:v>
                </c:pt>
                <c:pt idx="73">
                  <c:v>2.5</c:v>
                </c:pt>
                <c:pt idx="74">
                  <c:v>2.5</c:v>
                </c:pt>
                <c:pt idx="75">
                  <c:v>2.5</c:v>
                </c:pt>
                <c:pt idx="76">
                  <c:v>2.5</c:v>
                </c:pt>
                <c:pt idx="77">
                  <c:v>2.5</c:v>
                </c:pt>
                <c:pt idx="78">
                  <c:v>2.5</c:v>
                </c:pt>
                <c:pt idx="79">
                  <c:v>2.5</c:v>
                </c:pt>
                <c:pt idx="80">
                  <c:v>2.5</c:v>
                </c:pt>
                <c:pt idx="81">
                  <c:v>2.5</c:v>
                </c:pt>
                <c:pt idx="82">
                  <c:v>2.5</c:v>
                </c:pt>
                <c:pt idx="83">
                  <c:v>2.5</c:v>
                </c:pt>
                <c:pt idx="84">
                  <c:v>2.5</c:v>
                </c:pt>
                <c:pt idx="85">
                  <c:v>2.5</c:v>
                </c:pt>
                <c:pt idx="86">
                  <c:v>2.5</c:v>
                </c:pt>
                <c:pt idx="87">
                  <c:v>2.5</c:v>
                </c:pt>
                <c:pt idx="88">
                  <c:v>2.5</c:v>
                </c:pt>
                <c:pt idx="89">
                  <c:v>2.5</c:v>
                </c:pt>
                <c:pt idx="90">
                  <c:v>2.5</c:v>
                </c:pt>
                <c:pt idx="91">
                  <c:v>2.5</c:v>
                </c:pt>
                <c:pt idx="92">
                  <c:v>2.5</c:v>
                </c:pt>
                <c:pt idx="93">
                  <c:v>2.5</c:v>
                </c:pt>
                <c:pt idx="94">
                  <c:v>2.5</c:v>
                </c:pt>
                <c:pt idx="95">
                  <c:v>2.5</c:v>
                </c:pt>
                <c:pt idx="96">
                  <c:v>2.5</c:v>
                </c:pt>
                <c:pt idx="97">
                  <c:v>2.5</c:v>
                </c:pt>
                <c:pt idx="98">
                  <c:v>2.5</c:v>
                </c:pt>
                <c:pt idx="99">
                  <c:v>2.5</c:v>
                </c:pt>
                <c:pt idx="100">
                  <c:v>2.5</c:v>
                </c:pt>
                <c:pt idx="101">
                  <c:v>2.5</c:v>
                </c:pt>
                <c:pt idx="102">
                  <c:v>2.5</c:v>
                </c:pt>
                <c:pt idx="103">
                  <c:v>2.5</c:v>
                </c:pt>
                <c:pt idx="104">
                  <c:v>2.5</c:v>
                </c:pt>
                <c:pt idx="105">
                  <c:v>2.5</c:v>
                </c:pt>
                <c:pt idx="106">
                  <c:v>2.5</c:v>
                </c:pt>
                <c:pt idx="107">
                  <c:v>2.5</c:v>
                </c:pt>
                <c:pt idx="108">
                  <c:v>2.5</c:v>
                </c:pt>
                <c:pt idx="109">
                  <c:v>2.5</c:v>
                </c:pt>
                <c:pt idx="110">
                  <c:v>2.5</c:v>
                </c:pt>
                <c:pt idx="111">
                  <c:v>2.5</c:v>
                </c:pt>
                <c:pt idx="112">
                  <c:v>2.5</c:v>
                </c:pt>
                <c:pt idx="113">
                  <c:v>2.5</c:v>
                </c:pt>
                <c:pt idx="114">
                  <c:v>2.5</c:v>
                </c:pt>
                <c:pt idx="115">
                  <c:v>2.5</c:v>
                </c:pt>
                <c:pt idx="116">
                  <c:v>2.5</c:v>
                </c:pt>
                <c:pt idx="117">
                  <c:v>2.5</c:v>
                </c:pt>
                <c:pt idx="118">
                  <c:v>2.5</c:v>
                </c:pt>
                <c:pt idx="119">
                  <c:v>2.5</c:v>
                </c:pt>
                <c:pt idx="120">
                  <c:v>2.5</c:v>
                </c:pt>
                <c:pt idx="121">
                  <c:v>2.5</c:v>
                </c:pt>
                <c:pt idx="122">
                  <c:v>2.5</c:v>
                </c:pt>
                <c:pt idx="123">
                  <c:v>2.5</c:v>
                </c:pt>
                <c:pt idx="124">
                  <c:v>2.5</c:v>
                </c:pt>
                <c:pt idx="125">
                  <c:v>2.5</c:v>
                </c:pt>
                <c:pt idx="126">
                  <c:v>2.5</c:v>
                </c:pt>
                <c:pt idx="127">
                  <c:v>2.5</c:v>
                </c:pt>
                <c:pt idx="128">
                  <c:v>2.5</c:v>
                </c:pt>
                <c:pt idx="129">
                  <c:v>2.5</c:v>
                </c:pt>
                <c:pt idx="130">
                  <c:v>2.5</c:v>
                </c:pt>
                <c:pt idx="131">
                  <c:v>2.5</c:v>
                </c:pt>
                <c:pt idx="132">
                  <c:v>2.5</c:v>
                </c:pt>
                <c:pt idx="133">
                  <c:v>2.5</c:v>
                </c:pt>
                <c:pt idx="134">
                  <c:v>2.5</c:v>
                </c:pt>
                <c:pt idx="135">
                  <c:v>2.5</c:v>
                </c:pt>
                <c:pt idx="136">
                  <c:v>2.5</c:v>
                </c:pt>
                <c:pt idx="137">
                  <c:v>2.5</c:v>
                </c:pt>
                <c:pt idx="138">
                  <c:v>2.5</c:v>
                </c:pt>
                <c:pt idx="139">
                  <c:v>2.5</c:v>
                </c:pt>
                <c:pt idx="140">
                  <c:v>2.5</c:v>
                </c:pt>
                <c:pt idx="141">
                  <c:v>2.5</c:v>
                </c:pt>
                <c:pt idx="142">
                  <c:v>2.5</c:v>
                </c:pt>
                <c:pt idx="143">
                  <c:v>2.5</c:v>
                </c:pt>
                <c:pt idx="144">
                  <c:v>2.5</c:v>
                </c:pt>
                <c:pt idx="145">
                  <c:v>2.5</c:v>
                </c:pt>
                <c:pt idx="146">
                  <c:v>2.5</c:v>
                </c:pt>
                <c:pt idx="147">
                  <c:v>2.5</c:v>
                </c:pt>
                <c:pt idx="148">
                  <c:v>2.5</c:v>
                </c:pt>
                <c:pt idx="149">
                  <c:v>2.5</c:v>
                </c:pt>
                <c:pt idx="150">
                  <c:v>2.5</c:v>
                </c:pt>
                <c:pt idx="151">
                  <c:v>2.5</c:v>
                </c:pt>
                <c:pt idx="152">
                  <c:v>2.5</c:v>
                </c:pt>
                <c:pt idx="153">
                  <c:v>2.5</c:v>
                </c:pt>
                <c:pt idx="154">
                  <c:v>2.5</c:v>
                </c:pt>
                <c:pt idx="155">
                  <c:v>2.5</c:v>
                </c:pt>
                <c:pt idx="156">
                  <c:v>2.5</c:v>
                </c:pt>
                <c:pt idx="157">
                  <c:v>2.5</c:v>
                </c:pt>
                <c:pt idx="158">
                  <c:v>2.5</c:v>
                </c:pt>
                <c:pt idx="159">
                  <c:v>2.5</c:v>
                </c:pt>
                <c:pt idx="160">
                  <c:v>2.5</c:v>
                </c:pt>
                <c:pt idx="161">
                  <c:v>2.5</c:v>
                </c:pt>
                <c:pt idx="162">
                  <c:v>2.5</c:v>
                </c:pt>
                <c:pt idx="163">
                  <c:v>2.5</c:v>
                </c:pt>
                <c:pt idx="164">
                  <c:v>2.5</c:v>
                </c:pt>
                <c:pt idx="165">
                  <c:v>2.5</c:v>
                </c:pt>
                <c:pt idx="166">
                  <c:v>2.5</c:v>
                </c:pt>
                <c:pt idx="167">
                  <c:v>2.5</c:v>
                </c:pt>
                <c:pt idx="168">
                  <c:v>2.5</c:v>
                </c:pt>
                <c:pt idx="169">
                  <c:v>2.5</c:v>
                </c:pt>
                <c:pt idx="170">
                  <c:v>2.5</c:v>
                </c:pt>
                <c:pt idx="171">
                  <c:v>2.5</c:v>
                </c:pt>
                <c:pt idx="172">
                  <c:v>2.5</c:v>
                </c:pt>
                <c:pt idx="173">
                  <c:v>2.5</c:v>
                </c:pt>
                <c:pt idx="174">
                  <c:v>2.5</c:v>
                </c:pt>
                <c:pt idx="175">
                  <c:v>2.5</c:v>
                </c:pt>
                <c:pt idx="176">
                  <c:v>2.5</c:v>
                </c:pt>
                <c:pt idx="177">
                  <c:v>2.5</c:v>
                </c:pt>
                <c:pt idx="178">
                  <c:v>2.5</c:v>
                </c:pt>
                <c:pt idx="179">
                  <c:v>2.5</c:v>
                </c:pt>
                <c:pt idx="180">
                  <c:v>2.5</c:v>
                </c:pt>
                <c:pt idx="181">
                  <c:v>2.5</c:v>
                </c:pt>
                <c:pt idx="182">
                  <c:v>2.5</c:v>
                </c:pt>
                <c:pt idx="183">
                  <c:v>2.5</c:v>
                </c:pt>
                <c:pt idx="184">
                  <c:v>2.5</c:v>
                </c:pt>
                <c:pt idx="185">
                  <c:v>2.5</c:v>
                </c:pt>
                <c:pt idx="186">
                  <c:v>2.5</c:v>
                </c:pt>
                <c:pt idx="187">
                  <c:v>2.5</c:v>
                </c:pt>
                <c:pt idx="188">
                  <c:v>2.5</c:v>
                </c:pt>
                <c:pt idx="189">
                  <c:v>2.5</c:v>
                </c:pt>
                <c:pt idx="190">
                  <c:v>2.5</c:v>
                </c:pt>
                <c:pt idx="191">
                  <c:v>2.5</c:v>
                </c:pt>
                <c:pt idx="192">
                  <c:v>2.5</c:v>
                </c:pt>
                <c:pt idx="193">
                  <c:v>2.5</c:v>
                </c:pt>
                <c:pt idx="194">
                  <c:v>2.5</c:v>
                </c:pt>
                <c:pt idx="195">
                  <c:v>2.5</c:v>
                </c:pt>
                <c:pt idx="196">
                  <c:v>2.5</c:v>
                </c:pt>
                <c:pt idx="197">
                  <c:v>2.5</c:v>
                </c:pt>
                <c:pt idx="198">
                  <c:v>2.5</c:v>
                </c:pt>
                <c:pt idx="199">
                  <c:v>2.5</c:v>
                </c:pt>
                <c:pt idx="200">
                  <c:v>2.5</c:v>
                </c:pt>
                <c:pt idx="201">
                  <c:v>2.5</c:v>
                </c:pt>
                <c:pt idx="202">
                  <c:v>2.5</c:v>
                </c:pt>
                <c:pt idx="203">
                  <c:v>2.5</c:v>
                </c:pt>
                <c:pt idx="204">
                  <c:v>2.5</c:v>
                </c:pt>
                <c:pt idx="205">
                  <c:v>2.5</c:v>
                </c:pt>
                <c:pt idx="206">
                  <c:v>2.5</c:v>
                </c:pt>
                <c:pt idx="207">
                  <c:v>2.5</c:v>
                </c:pt>
                <c:pt idx="208">
                  <c:v>2.5</c:v>
                </c:pt>
                <c:pt idx="209">
                  <c:v>2.5</c:v>
                </c:pt>
                <c:pt idx="210">
                  <c:v>2.5</c:v>
                </c:pt>
                <c:pt idx="211">
                  <c:v>2.5</c:v>
                </c:pt>
                <c:pt idx="212">
                  <c:v>2.5</c:v>
                </c:pt>
                <c:pt idx="213">
                  <c:v>2.5</c:v>
                </c:pt>
                <c:pt idx="214">
                  <c:v>2.5</c:v>
                </c:pt>
                <c:pt idx="215">
                  <c:v>2.5</c:v>
                </c:pt>
                <c:pt idx="216">
                  <c:v>2.5</c:v>
                </c:pt>
                <c:pt idx="217">
                  <c:v>2.5</c:v>
                </c:pt>
                <c:pt idx="218">
                  <c:v>2.5</c:v>
                </c:pt>
                <c:pt idx="219">
                  <c:v>2.5</c:v>
                </c:pt>
                <c:pt idx="220">
                  <c:v>2.5</c:v>
                </c:pt>
                <c:pt idx="221">
                  <c:v>2.5</c:v>
                </c:pt>
                <c:pt idx="222">
                  <c:v>2.5</c:v>
                </c:pt>
                <c:pt idx="223">
                  <c:v>2.5</c:v>
                </c:pt>
                <c:pt idx="224">
                  <c:v>2.5</c:v>
                </c:pt>
                <c:pt idx="225">
                  <c:v>2.5</c:v>
                </c:pt>
                <c:pt idx="226">
                  <c:v>2.5</c:v>
                </c:pt>
                <c:pt idx="227">
                  <c:v>2.5</c:v>
                </c:pt>
                <c:pt idx="228">
                  <c:v>2.5</c:v>
                </c:pt>
                <c:pt idx="229">
                  <c:v>2.5</c:v>
                </c:pt>
                <c:pt idx="230">
                  <c:v>2.5</c:v>
                </c:pt>
                <c:pt idx="231">
                  <c:v>2.5</c:v>
                </c:pt>
                <c:pt idx="232">
                  <c:v>2.5</c:v>
                </c:pt>
                <c:pt idx="233">
                  <c:v>2.5</c:v>
                </c:pt>
                <c:pt idx="234">
                  <c:v>2.5</c:v>
                </c:pt>
                <c:pt idx="235">
                  <c:v>2.5</c:v>
                </c:pt>
                <c:pt idx="236">
                  <c:v>2.5</c:v>
                </c:pt>
                <c:pt idx="237">
                  <c:v>2.5</c:v>
                </c:pt>
                <c:pt idx="238">
                  <c:v>2.5</c:v>
                </c:pt>
                <c:pt idx="239">
                  <c:v>2.5</c:v>
                </c:pt>
                <c:pt idx="240">
                  <c:v>2.5</c:v>
                </c:pt>
                <c:pt idx="241">
                  <c:v>2.5</c:v>
                </c:pt>
                <c:pt idx="242">
                  <c:v>2.5</c:v>
                </c:pt>
                <c:pt idx="243">
                  <c:v>2.5</c:v>
                </c:pt>
                <c:pt idx="244">
                  <c:v>2.5</c:v>
                </c:pt>
                <c:pt idx="245">
                  <c:v>2.5</c:v>
                </c:pt>
                <c:pt idx="246">
                  <c:v>2.5</c:v>
                </c:pt>
                <c:pt idx="247">
                  <c:v>2.5</c:v>
                </c:pt>
                <c:pt idx="248">
                  <c:v>2.5</c:v>
                </c:pt>
                <c:pt idx="249">
                  <c:v>2.5</c:v>
                </c:pt>
                <c:pt idx="250">
                  <c:v>2.5</c:v>
                </c:pt>
                <c:pt idx="251">
                  <c:v>2.5</c:v>
                </c:pt>
                <c:pt idx="252">
                  <c:v>2.5</c:v>
                </c:pt>
                <c:pt idx="253">
                  <c:v>2.5</c:v>
                </c:pt>
                <c:pt idx="254">
                  <c:v>2.5</c:v>
                </c:pt>
                <c:pt idx="255">
                  <c:v>2.5</c:v>
                </c:pt>
                <c:pt idx="256">
                  <c:v>2.5</c:v>
                </c:pt>
                <c:pt idx="257">
                  <c:v>2.5</c:v>
                </c:pt>
                <c:pt idx="258">
                  <c:v>2.5</c:v>
                </c:pt>
                <c:pt idx="259">
                  <c:v>2.5</c:v>
                </c:pt>
                <c:pt idx="260">
                  <c:v>2.5</c:v>
                </c:pt>
                <c:pt idx="261">
                  <c:v>2.5</c:v>
                </c:pt>
                <c:pt idx="262">
                  <c:v>2.5</c:v>
                </c:pt>
                <c:pt idx="263">
                  <c:v>2.5</c:v>
                </c:pt>
                <c:pt idx="264">
                  <c:v>2.5</c:v>
                </c:pt>
                <c:pt idx="265">
                  <c:v>2.5</c:v>
                </c:pt>
                <c:pt idx="266">
                  <c:v>2.5</c:v>
                </c:pt>
                <c:pt idx="267">
                  <c:v>2.5</c:v>
                </c:pt>
                <c:pt idx="268">
                  <c:v>2.5</c:v>
                </c:pt>
                <c:pt idx="269">
                  <c:v>2.5</c:v>
                </c:pt>
                <c:pt idx="270">
                  <c:v>2.5</c:v>
                </c:pt>
                <c:pt idx="271">
                  <c:v>2.5</c:v>
                </c:pt>
                <c:pt idx="272">
                  <c:v>2.5</c:v>
                </c:pt>
                <c:pt idx="273">
                  <c:v>2.5</c:v>
                </c:pt>
                <c:pt idx="274">
                  <c:v>2.5</c:v>
                </c:pt>
                <c:pt idx="275">
                  <c:v>2.5</c:v>
                </c:pt>
                <c:pt idx="276">
                  <c:v>2.5</c:v>
                </c:pt>
                <c:pt idx="277">
                  <c:v>2.5</c:v>
                </c:pt>
                <c:pt idx="278">
                  <c:v>2.5</c:v>
                </c:pt>
                <c:pt idx="279">
                  <c:v>2.5</c:v>
                </c:pt>
                <c:pt idx="280">
                  <c:v>2.5</c:v>
                </c:pt>
                <c:pt idx="281">
                  <c:v>2.5</c:v>
                </c:pt>
                <c:pt idx="282">
                  <c:v>2.5</c:v>
                </c:pt>
                <c:pt idx="283">
                  <c:v>2.5</c:v>
                </c:pt>
                <c:pt idx="284">
                  <c:v>2.5</c:v>
                </c:pt>
                <c:pt idx="285">
                  <c:v>2.5</c:v>
                </c:pt>
                <c:pt idx="286">
                  <c:v>2.5</c:v>
                </c:pt>
                <c:pt idx="287">
                  <c:v>2.5</c:v>
                </c:pt>
                <c:pt idx="288">
                  <c:v>2.5</c:v>
                </c:pt>
                <c:pt idx="289">
                  <c:v>2.5</c:v>
                </c:pt>
                <c:pt idx="290">
                  <c:v>2.5</c:v>
                </c:pt>
                <c:pt idx="291">
                  <c:v>2.5</c:v>
                </c:pt>
                <c:pt idx="292">
                  <c:v>2.5</c:v>
                </c:pt>
                <c:pt idx="293">
                  <c:v>2.5</c:v>
                </c:pt>
                <c:pt idx="294">
                  <c:v>2.5</c:v>
                </c:pt>
                <c:pt idx="295">
                  <c:v>2.5</c:v>
                </c:pt>
                <c:pt idx="296">
                  <c:v>2.5</c:v>
                </c:pt>
                <c:pt idx="297">
                  <c:v>2.5</c:v>
                </c:pt>
                <c:pt idx="298">
                  <c:v>2.5</c:v>
                </c:pt>
                <c:pt idx="299">
                  <c:v>2.5</c:v>
                </c:pt>
                <c:pt idx="300">
                  <c:v>2.5</c:v>
                </c:pt>
                <c:pt idx="301">
                  <c:v>2.5</c:v>
                </c:pt>
                <c:pt idx="302">
                  <c:v>2.5</c:v>
                </c:pt>
                <c:pt idx="303">
                  <c:v>2.5</c:v>
                </c:pt>
                <c:pt idx="304">
                  <c:v>2.5</c:v>
                </c:pt>
                <c:pt idx="305">
                  <c:v>2.5</c:v>
                </c:pt>
                <c:pt idx="306">
                  <c:v>2.5</c:v>
                </c:pt>
                <c:pt idx="307">
                  <c:v>2.5</c:v>
                </c:pt>
                <c:pt idx="308">
                  <c:v>2.5</c:v>
                </c:pt>
                <c:pt idx="309">
                  <c:v>2.5</c:v>
                </c:pt>
                <c:pt idx="310">
                  <c:v>2.5</c:v>
                </c:pt>
                <c:pt idx="311">
                  <c:v>2.5</c:v>
                </c:pt>
                <c:pt idx="312">
                  <c:v>2.5</c:v>
                </c:pt>
                <c:pt idx="313">
                  <c:v>2.5</c:v>
                </c:pt>
                <c:pt idx="314">
                  <c:v>2.5</c:v>
                </c:pt>
                <c:pt idx="315">
                  <c:v>2.5</c:v>
                </c:pt>
                <c:pt idx="316">
                  <c:v>2.5</c:v>
                </c:pt>
                <c:pt idx="317">
                  <c:v>2.5</c:v>
                </c:pt>
                <c:pt idx="318">
                  <c:v>2.5</c:v>
                </c:pt>
                <c:pt idx="319">
                  <c:v>2.5</c:v>
                </c:pt>
                <c:pt idx="320">
                  <c:v>2.5</c:v>
                </c:pt>
                <c:pt idx="321">
                  <c:v>2.5</c:v>
                </c:pt>
                <c:pt idx="322">
                  <c:v>2.5</c:v>
                </c:pt>
                <c:pt idx="323">
                  <c:v>2.5</c:v>
                </c:pt>
                <c:pt idx="324">
                  <c:v>2.5</c:v>
                </c:pt>
                <c:pt idx="325">
                  <c:v>2.5</c:v>
                </c:pt>
                <c:pt idx="326">
                  <c:v>2.5</c:v>
                </c:pt>
                <c:pt idx="327">
                  <c:v>2.5</c:v>
                </c:pt>
                <c:pt idx="328">
                  <c:v>2.5</c:v>
                </c:pt>
                <c:pt idx="329">
                  <c:v>2.5</c:v>
                </c:pt>
                <c:pt idx="330">
                  <c:v>2.5</c:v>
                </c:pt>
                <c:pt idx="331">
                  <c:v>2.5</c:v>
                </c:pt>
                <c:pt idx="332">
                  <c:v>2.5</c:v>
                </c:pt>
                <c:pt idx="333">
                  <c:v>2.5</c:v>
                </c:pt>
                <c:pt idx="334">
                  <c:v>2.5</c:v>
                </c:pt>
                <c:pt idx="335">
                  <c:v>2.5</c:v>
                </c:pt>
                <c:pt idx="336">
                  <c:v>2.5</c:v>
                </c:pt>
                <c:pt idx="337">
                  <c:v>2.5</c:v>
                </c:pt>
                <c:pt idx="338">
                  <c:v>2.5</c:v>
                </c:pt>
                <c:pt idx="339">
                  <c:v>2.5</c:v>
                </c:pt>
                <c:pt idx="340">
                  <c:v>2.5</c:v>
                </c:pt>
                <c:pt idx="341">
                  <c:v>2.5</c:v>
                </c:pt>
                <c:pt idx="342">
                  <c:v>2.5</c:v>
                </c:pt>
                <c:pt idx="343">
                  <c:v>2.5</c:v>
                </c:pt>
              </c:numCache>
            </c:numRef>
          </c:val>
          <c:smooth val="0"/>
        </c:ser>
        <c:ser>
          <c:idx val="3"/>
          <c:order val="3"/>
          <c:tx>
            <c:strRef>
              <c:f>Sheet1!$E$1</c:f>
              <c:strCache>
                <c:ptCount val="1"/>
                <c:pt idx="0">
                  <c:v>Needed to justify the risk ≈ 7%</c:v>
                </c:pt>
              </c:strCache>
            </c:strRef>
          </c:tx>
          <c:spPr>
            <a:solidFill>
              <a:srgbClr val="A33639"/>
            </a:solidFill>
            <a:ln w="25400" cap="flat">
              <a:solidFill>
                <a:srgbClr val="A3363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33639"/>
              </a:solidFill>
              <a:ln w="9525" cap="flat">
                <a:solidFill>
                  <a:srgbClr val="A33639"/>
                </a:solidFill>
                <a:prstDash val="solid"/>
                <a:round/>
              </a:ln>
              <a:effectLst/>
            </c:spPr>
          </c:marker>
          <c:cat>
            <c:multiLvlStrRef>
              <c:f>Sheet1!$A$2:$A$345</c:f>
              <c:multiLvlStrCache>
                <c:ptCount val="344"/>
                <c:lvl>
                  <c:pt idx="0">
                    <c:v>Nov 25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Jan 26</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Mar 26</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May 26</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Jul 26</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Sep 26</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lvl>
              </c:multiLvlStrCache>
            </c:multiLvlStrRef>
          </c:cat>
          <c:val>
            <c:numRef>
              <c:f>Sheet1!$E$2:$E$345</c:f>
              <c:numCache>
                <c:formatCode>General</c:formatCode>
                <c:ptCount val="344"/>
                <c:pt idx="0">
                  <c:v>7</c:v>
                </c:pt>
                <c:pt idx="1">
                  <c:v>7</c:v>
                </c:pt>
                <c:pt idx="2">
                  <c:v>7</c:v>
                </c:pt>
                <c:pt idx="3">
                  <c:v>7</c:v>
                </c:pt>
                <c:pt idx="4">
                  <c:v>7</c:v>
                </c:pt>
                <c:pt idx="5">
                  <c:v>7</c:v>
                </c:pt>
                <c:pt idx="6">
                  <c:v>7</c:v>
                </c:pt>
                <c:pt idx="7">
                  <c:v>7</c:v>
                </c:pt>
                <c:pt idx="8">
                  <c:v>7</c:v>
                </c:pt>
                <c:pt idx="9">
                  <c:v>7</c:v>
                </c:pt>
                <c:pt idx="10">
                  <c:v>7</c:v>
                </c:pt>
                <c:pt idx="11">
                  <c:v>7</c:v>
                </c:pt>
                <c:pt idx="12">
                  <c:v>7</c:v>
                </c:pt>
                <c:pt idx="13">
                  <c:v>7</c:v>
                </c:pt>
                <c:pt idx="14">
                  <c:v>7</c:v>
                </c:pt>
                <c:pt idx="15">
                  <c:v>7</c:v>
                </c:pt>
                <c:pt idx="16">
                  <c:v>7</c:v>
                </c:pt>
                <c:pt idx="17">
                  <c:v>7</c:v>
                </c:pt>
                <c:pt idx="18">
                  <c:v>7</c:v>
                </c:pt>
                <c:pt idx="19">
                  <c:v>7</c:v>
                </c:pt>
                <c:pt idx="20">
                  <c:v>7</c:v>
                </c:pt>
                <c:pt idx="21">
                  <c:v>7</c:v>
                </c:pt>
                <c:pt idx="22">
                  <c:v>7</c:v>
                </c:pt>
                <c:pt idx="23">
                  <c:v>7</c:v>
                </c:pt>
                <c:pt idx="24">
                  <c:v>7</c:v>
                </c:pt>
                <c:pt idx="25">
                  <c:v>7</c:v>
                </c:pt>
                <c:pt idx="26">
                  <c:v>7</c:v>
                </c:pt>
                <c:pt idx="27">
                  <c:v>7</c:v>
                </c:pt>
                <c:pt idx="28">
                  <c:v>7</c:v>
                </c:pt>
                <c:pt idx="29">
                  <c:v>7</c:v>
                </c:pt>
                <c:pt idx="30">
                  <c:v>7</c:v>
                </c:pt>
                <c:pt idx="31">
                  <c:v>7</c:v>
                </c:pt>
                <c:pt idx="32">
                  <c:v>7</c:v>
                </c:pt>
                <c:pt idx="33">
                  <c:v>7</c:v>
                </c:pt>
                <c:pt idx="34">
                  <c:v>7</c:v>
                </c:pt>
                <c:pt idx="35">
                  <c:v>7</c:v>
                </c:pt>
                <c:pt idx="36">
                  <c:v>7</c:v>
                </c:pt>
                <c:pt idx="37">
                  <c:v>7</c:v>
                </c:pt>
                <c:pt idx="38">
                  <c:v>7</c:v>
                </c:pt>
                <c:pt idx="39">
                  <c:v>7</c:v>
                </c:pt>
                <c:pt idx="40">
                  <c:v>7</c:v>
                </c:pt>
                <c:pt idx="41">
                  <c:v>7</c:v>
                </c:pt>
                <c:pt idx="42">
                  <c:v>7</c:v>
                </c:pt>
                <c:pt idx="43">
                  <c:v>7</c:v>
                </c:pt>
                <c:pt idx="44">
                  <c:v>7</c:v>
                </c:pt>
                <c:pt idx="45">
                  <c:v>7</c:v>
                </c:pt>
                <c:pt idx="46">
                  <c:v>7</c:v>
                </c:pt>
                <c:pt idx="47">
                  <c:v>7</c:v>
                </c:pt>
                <c:pt idx="48">
                  <c:v>7</c:v>
                </c:pt>
                <c:pt idx="49">
                  <c:v>7</c:v>
                </c:pt>
                <c:pt idx="50">
                  <c:v>7</c:v>
                </c:pt>
                <c:pt idx="51">
                  <c:v>7</c:v>
                </c:pt>
                <c:pt idx="52">
                  <c:v>7</c:v>
                </c:pt>
                <c:pt idx="53">
                  <c:v>7</c:v>
                </c:pt>
                <c:pt idx="54">
                  <c:v>7</c:v>
                </c:pt>
                <c:pt idx="55">
                  <c:v>7</c:v>
                </c:pt>
                <c:pt idx="56">
                  <c:v>7</c:v>
                </c:pt>
                <c:pt idx="57">
                  <c:v>7</c:v>
                </c:pt>
                <c:pt idx="58">
                  <c:v>7</c:v>
                </c:pt>
                <c:pt idx="59">
                  <c:v>7</c:v>
                </c:pt>
                <c:pt idx="60">
                  <c:v>7</c:v>
                </c:pt>
                <c:pt idx="61">
                  <c:v>7</c:v>
                </c:pt>
                <c:pt idx="62">
                  <c:v>7</c:v>
                </c:pt>
                <c:pt idx="63">
                  <c:v>7</c:v>
                </c:pt>
                <c:pt idx="64">
                  <c:v>7</c:v>
                </c:pt>
                <c:pt idx="65">
                  <c:v>7</c:v>
                </c:pt>
                <c:pt idx="66">
                  <c:v>7</c:v>
                </c:pt>
                <c:pt idx="67">
                  <c:v>7</c:v>
                </c:pt>
                <c:pt idx="68">
                  <c:v>7</c:v>
                </c:pt>
                <c:pt idx="69">
                  <c:v>7</c:v>
                </c:pt>
                <c:pt idx="70">
                  <c:v>7</c:v>
                </c:pt>
                <c:pt idx="71">
                  <c:v>7</c:v>
                </c:pt>
                <c:pt idx="72">
                  <c:v>7</c:v>
                </c:pt>
                <c:pt idx="73">
                  <c:v>7</c:v>
                </c:pt>
                <c:pt idx="74">
                  <c:v>7</c:v>
                </c:pt>
                <c:pt idx="75">
                  <c:v>7</c:v>
                </c:pt>
                <c:pt idx="76">
                  <c:v>7</c:v>
                </c:pt>
                <c:pt idx="77">
                  <c:v>7</c:v>
                </c:pt>
                <c:pt idx="78">
                  <c:v>7</c:v>
                </c:pt>
                <c:pt idx="79">
                  <c:v>7</c:v>
                </c:pt>
                <c:pt idx="80">
                  <c:v>7</c:v>
                </c:pt>
                <c:pt idx="81">
                  <c:v>7</c:v>
                </c:pt>
                <c:pt idx="82">
                  <c:v>7</c:v>
                </c:pt>
                <c:pt idx="83">
                  <c:v>7</c:v>
                </c:pt>
                <c:pt idx="84">
                  <c:v>7</c:v>
                </c:pt>
                <c:pt idx="85">
                  <c:v>7</c:v>
                </c:pt>
                <c:pt idx="86">
                  <c:v>7</c:v>
                </c:pt>
                <c:pt idx="87">
                  <c:v>7</c:v>
                </c:pt>
                <c:pt idx="88">
                  <c:v>7</c:v>
                </c:pt>
                <c:pt idx="89">
                  <c:v>7</c:v>
                </c:pt>
                <c:pt idx="90">
                  <c:v>7</c:v>
                </c:pt>
                <c:pt idx="91">
                  <c:v>7</c:v>
                </c:pt>
                <c:pt idx="92">
                  <c:v>7</c:v>
                </c:pt>
                <c:pt idx="93">
                  <c:v>7</c:v>
                </c:pt>
                <c:pt idx="94">
                  <c:v>7</c:v>
                </c:pt>
                <c:pt idx="95">
                  <c:v>7</c:v>
                </c:pt>
                <c:pt idx="96">
                  <c:v>7</c:v>
                </c:pt>
                <c:pt idx="97">
                  <c:v>7</c:v>
                </c:pt>
                <c:pt idx="98">
                  <c:v>7</c:v>
                </c:pt>
                <c:pt idx="99">
                  <c:v>7</c:v>
                </c:pt>
                <c:pt idx="100">
                  <c:v>7</c:v>
                </c:pt>
                <c:pt idx="101">
                  <c:v>7</c:v>
                </c:pt>
                <c:pt idx="102">
                  <c:v>7</c:v>
                </c:pt>
                <c:pt idx="103">
                  <c:v>7</c:v>
                </c:pt>
                <c:pt idx="104">
                  <c:v>7</c:v>
                </c:pt>
                <c:pt idx="105">
                  <c:v>7</c:v>
                </c:pt>
                <c:pt idx="106">
                  <c:v>7</c:v>
                </c:pt>
                <c:pt idx="107">
                  <c:v>7</c:v>
                </c:pt>
                <c:pt idx="108">
                  <c:v>7</c:v>
                </c:pt>
                <c:pt idx="109">
                  <c:v>7</c:v>
                </c:pt>
                <c:pt idx="110">
                  <c:v>7</c:v>
                </c:pt>
                <c:pt idx="111">
                  <c:v>7</c:v>
                </c:pt>
                <c:pt idx="112">
                  <c:v>7</c:v>
                </c:pt>
                <c:pt idx="113">
                  <c:v>7</c:v>
                </c:pt>
                <c:pt idx="114">
                  <c:v>7</c:v>
                </c:pt>
                <c:pt idx="115">
                  <c:v>7</c:v>
                </c:pt>
                <c:pt idx="116">
                  <c:v>7</c:v>
                </c:pt>
                <c:pt idx="117">
                  <c:v>7</c:v>
                </c:pt>
                <c:pt idx="118">
                  <c:v>7</c:v>
                </c:pt>
                <c:pt idx="119">
                  <c:v>7</c:v>
                </c:pt>
                <c:pt idx="120">
                  <c:v>7</c:v>
                </c:pt>
                <c:pt idx="121">
                  <c:v>7</c:v>
                </c:pt>
                <c:pt idx="122">
                  <c:v>7</c:v>
                </c:pt>
                <c:pt idx="123">
                  <c:v>7</c:v>
                </c:pt>
                <c:pt idx="124">
                  <c:v>7</c:v>
                </c:pt>
                <c:pt idx="125">
                  <c:v>7</c:v>
                </c:pt>
                <c:pt idx="126">
                  <c:v>7</c:v>
                </c:pt>
                <c:pt idx="127">
                  <c:v>7</c:v>
                </c:pt>
                <c:pt idx="128">
                  <c:v>7</c:v>
                </c:pt>
                <c:pt idx="129">
                  <c:v>7</c:v>
                </c:pt>
                <c:pt idx="130">
                  <c:v>7</c:v>
                </c:pt>
                <c:pt idx="131">
                  <c:v>7</c:v>
                </c:pt>
                <c:pt idx="132">
                  <c:v>7</c:v>
                </c:pt>
                <c:pt idx="133">
                  <c:v>7</c:v>
                </c:pt>
                <c:pt idx="134">
                  <c:v>7</c:v>
                </c:pt>
                <c:pt idx="135">
                  <c:v>7</c:v>
                </c:pt>
                <c:pt idx="136">
                  <c:v>7</c:v>
                </c:pt>
                <c:pt idx="137">
                  <c:v>7</c:v>
                </c:pt>
                <c:pt idx="138">
                  <c:v>7</c:v>
                </c:pt>
                <c:pt idx="139">
                  <c:v>7</c:v>
                </c:pt>
                <c:pt idx="140">
                  <c:v>7</c:v>
                </c:pt>
                <c:pt idx="141">
                  <c:v>7</c:v>
                </c:pt>
                <c:pt idx="142">
                  <c:v>7</c:v>
                </c:pt>
                <c:pt idx="143">
                  <c:v>7</c:v>
                </c:pt>
                <c:pt idx="144">
                  <c:v>7</c:v>
                </c:pt>
                <c:pt idx="145">
                  <c:v>7</c:v>
                </c:pt>
                <c:pt idx="146">
                  <c:v>7</c:v>
                </c:pt>
                <c:pt idx="147">
                  <c:v>7</c:v>
                </c:pt>
                <c:pt idx="148">
                  <c:v>7</c:v>
                </c:pt>
                <c:pt idx="149">
                  <c:v>7</c:v>
                </c:pt>
                <c:pt idx="150">
                  <c:v>7</c:v>
                </c:pt>
                <c:pt idx="151">
                  <c:v>7</c:v>
                </c:pt>
                <c:pt idx="152">
                  <c:v>7</c:v>
                </c:pt>
                <c:pt idx="153">
                  <c:v>7</c:v>
                </c:pt>
                <c:pt idx="154">
                  <c:v>7</c:v>
                </c:pt>
                <c:pt idx="155">
                  <c:v>7</c:v>
                </c:pt>
                <c:pt idx="156">
                  <c:v>7</c:v>
                </c:pt>
                <c:pt idx="157">
                  <c:v>7</c:v>
                </c:pt>
                <c:pt idx="158">
                  <c:v>7</c:v>
                </c:pt>
                <c:pt idx="159">
                  <c:v>7</c:v>
                </c:pt>
                <c:pt idx="160">
                  <c:v>7</c:v>
                </c:pt>
                <c:pt idx="161">
                  <c:v>7</c:v>
                </c:pt>
                <c:pt idx="162">
                  <c:v>7</c:v>
                </c:pt>
                <c:pt idx="163">
                  <c:v>7</c:v>
                </c:pt>
                <c:pt idx="164">
                  <c:v>7</c:v>
                </c:pt>
                <c:pt idx="165">
                  <c:v>7</c:v>
                </c:pt>
                <c:pt idx="166">
                  <c:v>7</c:v>
                </c:pt>
                <c:pt idx="167">
                  <c:v>7</c:v>
                </c:pt>
                <c:pt idx="168">
                  <c:v>7</c:v>
                </c:pt>
                <c:pt idx="169">
                  <c:v>7</c:v>
                </c:pt>
                <c:pt idx="170">
                  <c:v>7</c:v>
                </c:pt>
                <c:pt idx="171">
                  <c:v>7</c:v>
                </c:pt>
                <c:pt idx="172">
                  <c:v>7</c:v>
                </c:pt>
                <c:pt idx="173">
                  <c:v>7</c:v>
                </c:pt>
                <c:pt idx="174">
                  <c:v>7</c:v>
                </c:pt>
                <c:pt idx="175">
                  <c:v>7</c:v>
                </c:pt>
                <c:pt idx="176">
                  <c:v>7</c:v>
                </c:pt>
                <c:pt idx="177">
                  <c:v>7</c:v>
                </c:pt>
                <c:pt idx="178">
                  <c:v>7</c:v>
                </c:pt>
                <c:pt idx="179">
                  <c:v>7</c:v>
                </c:pt>
                <c:pt idx="180">
                  <c:v>7</c:v>
                </c:pt>
                <c:pt idx="181">
                  <c:v>7</c:v>
                </c:pt>
                <c:pt idx="182">
                  <c:v>7</c:v>
                </c:pt>
                <c:pt idx="183">
                  <c:v>7</c:v>
                </c:pt>
                <c:pt idx="184">
                  <c:v>7</c:v>
                </c:pt>
                <c:pt idx="185">
                  <c:v>7</c:v>
                </c:pt>
                <c:pt idx="186">
                  <c:v>7</c:v>
                </c:pt>
                <c:pt idx="187">
                  <c:v>7</c:v>
                </c:pt>
                <c:pt idx="188">
                  <c:v>7</c:v>
                </c:pt>
                <c:pt idx="189">
                  <c:v>7</c:v>
                </c:pt>
                <c:pt idx="190">
                  <c:v>7</c:v>
                </c:pt>
                <c:pt idx="191">
                  <c:v>7</c:v>
                </c:pt>
                <c:pt idx="192">
                  <c:v>7</c:v>
                </c:pt>
                <c:pt idx="193">
                  <c:v>7</c:v>
                </c:pt>
                <c:pt idx="194">
                  <c:v>7</c:v>
                </c:pt>
                <c:pt idx="195">
                  <c:v>7</c:v>
                </c:pt>
                <c:pt idx="196">
                  <c:v>7</c:v>
                </c:pt>
                <c:pt idx="197">
                  <c:v>7</c:v>
                </c:pt>
                <c:pt idx="198">
                  <c:v>7</c:v>
                </c:pt>
                <c:pt idx="199">
                  <c:v>7</c:v>
                </c:pt>
                <c:pt idx="200">
                  <c:v>7</c:v>
                </c:pt>
                <c:pt idx="201">
                  <c:v>7</c:v>
                </c:pt>
                <c:pt idx="202">
                  <c:v>7</c:v>
                </c:pt>
                <c:pt idx="203">
                  <c:v>7</c:v>
                </c:pt>
                <c:pt idx="204">
                  <c:v>7</c:v>
                </c:pt>
                <c:pt idx="205">
                  <c:v>7</c:v>
                </c:pt>
                <c:pt idx="206">
                  <c:v>7</c:v>
                </c:pt>
                <c:pt idx="207">
                  <c:v>7</c:v>
                </c:pt>
                <c:pt idx="208">
                  <c:v>7</c:v>
                </c:pt>
                <c:pt idx="209">
                  <c:v>7</c:v>
                </c:pt>
                <c:pt idx="210">
                  <c:v>7</c:v>
                </c:pt>
                <c:pt idx="211">
                  <c:v>7</c:v>
                </c:pt>
                <c:pt idx="212">
                  <c:v>7</c:v>
                </c:pt>
                <c:pt idx="213">
                  <c:v>7</c:v>
                </c:pt>
                <c:pt idx="214">
                  <c:v>7</c:v>
                </c:pt>
                <c:pt idx="215">
                  <c:v>7</c:v>
                </c:pt>
                <c:pt idx="216">
                  <c:v>7</c:v>
                </c:pt>
                <c:pt idx="217">
                  <c:v>7</c:v>
                </c:pt>
                <c:pt idx="218">
                  <c:v>7</c:v>
                </c:pt>
                <c:pt idx="219">
                  <c:v>7</c:v>
                </c:pt>
                <c:pt idx="220">
                  <c:v>7</c:v>
                </c:pt>
                <c:pt idx="221">
                  <c:v>7</c:v>
                </c:pt>
                <c:pt idx="222">
                  <c:v>7</c:v>
                </c:pt>
                <c:pt idx="223">
                  <c:v>7</c:v>
                </c:pt>
                <c:pt idx="224">
                  <c:v>7</c:v>
                </c:pt>
                <c:pt idx="225">
                  <c:v>7</c:v>
                </c:pt>
                <c:pt idx="226">
                  <c:v>7</c:v>
                </c:pt>
                <c:pt idx="227">
                  <c:v>7</c:v>
                </c:pt>
                <c:pt idx="228">
                  <c:v>7</c:v>
                </c:pt>
                <c:pt idx="229">
                  <c:v>7</c:v>
                </c:pt>
                <c:pt idx="230">
                  <c:v>7</c:v>
                </c:pt>
                <c:pt idx="231">
                  <c:v>7</c:v>
                </c:pt>
                <c:pt idx="232">
                  <c:v>7</c:v>
                </c:pt>
                <c:pt idx="233">
                  <c:v>7</c:v>
                </c:pt>
                <c:pt idx="234">
                  <c:v>7</c:v>
                </c:pt>
                <c:pt idx="235">
                  <c:v>7</c:v>
                </c:pt>
                <c:pt idx="236">
                  <c:v>7</c:v>
                </c:pt>
                <c:pt idx="237">
                  <c:v>7</c:v>
                </c:pt>
                <c:pt idx="238">
                  <c:v>7</c:v>
                </c:pt>
                <c:pt idx="239">
                  <c:v>7</c:v>
                </c:pt>
                <c:pt idx="240">
                  <c:v>7</c:v>
                </c:pt>
                <c:pt idx="241">
                  <c:v>7</c:v>
                </c:pt>
                <c:pt idx="242">
                  <c:v>7</c:v>
                </c:pt>
                <c:pt idx="243">
                  <c:v>7</c:v>
                </c:pt>
                <c:pt idx="244">
                  <c:v>7</c:v>
                </c:pt>
                <c:pt idx="245">
                  <c:v>7</c:v>
                </c:pt>
                <c:pt idx="246">
                  <c:v>7</c:v>
                </c:pt>
                <c:pt idx="247">
                  <c:v>7</c:v>
                </c:pt>
                <c:pt idx="248">
                  <c:v>7</c:v>
                </c:pt>
                <c:pt idx="249">
                  <c:v>7</c:v>
                </c:pt>
                <c:pt idx="250">
                  <c:v>7</c:v>
                </c:pt>
                <c:pt idx="251">
                  <c:v>7</c:v>
                </c:pt>
                <c:pt idx="252">
                  <c:v>7</c:v>
                </c:pt>
                <c:pt idx="253">
                  <c:v>7</c:v>
                </c:pt>
                <c:pt idx="254">
                  <c:v>7</c:v>
                </c:pt>
                <c:pt idx="255">
                  <c:v>7</c:v>
                </c:pt>
                <c:pt idx="256">
                  <c:v>7</c:v>
                </c:pt>
                <c:pt idx="257">
                  <c:v>7</c:v>
                </c:pt>
                <c:pt idx="258">
                  <c:v>7</c:v>
                </c:pt>
                <c:pt idx="259">
                  <c:v>7</c:v>
                </c:pt>
                <c:pt idx="260">
                  <c:v>7</c:v>
                </c:pt>
                <c:pt idx="261">
                  <c:v>7</c:v>
                </c:pt>
                <c:pt idx="262">
                  <c:v>7</c:v>
                </c:pt>
                <c:pt idx="263">
                  <c:v>7</c:v>
                </c:pt>
                <c:pt idx="264">
                  <c:v>7</c:v>
                </c:pt>
                <c:pt idx="265">
                  <c:v>7</c:v>
                </c:pt>
                <c:pt idx="266">
                  <c:v>7</c:v>
                </c:pt>
                <c:pt idx="267">
                  <c:v>7</c:v>
                </c:pt>
                <c:pt idx="268">
                  <c:v>7</c:v>
                </c:pt>
                <c:pt idx="269">
                  <c:v>7</c:v>
                </c:pt>
                <c:pt idx="270">
                  <c:v>7</c:v>
                </c:pt>
                <c:pt idx="271">
                  <c:v>7</c:v>
                </c:pt>
                <c:pt idx="272">
                  <c:v>7</c:v>
                </c:pt>
                <c:pt idx="273">
                  <c:v>7</c:v>
                </c:pt>
                <c:pt idx="274">
                  <c:v>7</c:v>
                </c:pt>
                <c:pt idx="275">
                  <c:v>7</c:v>
                </c:pt>
                <c:pt idx="276">
                  <c:v>7</c:v>
                </c:pt>
                <c:pt idx="277">
                  <c:v>7</c:v>
                </c:pt>
                <c:pt idx="278">
                  <c:v>7</c:v>
                </c:pt>
                <c:pt idx="279">
                  <c:v>7</c:v>
                </c:pt>
                <c:pt idx="280">
                  <c:v>7</c:v>
                </c:pt>
                <c:pt idx="281">
                  <c:v>7</c:v>
                </c:pt>
                <c:pt idx="282">
                  <c:v>7</c:v>
                </c:pt>
                <c:pt idx="283">
                  <c:v>7</c:v>
                </c:pt>
                <c:pt idx="284">
                  <c:v>7</c:v>
                </c:pt>
                <c:pt idx="285">
                  <c:v>7</c:v>
                </c:pt>
                <c:pt idx="286">
                  <c:v>7</c:v>
                </c:pt>
                <c:pt idx="287">
                  <c:v>7</c:v>
                </c:pt>
                <c:pt idx="288">
                  <c:v>7</c:v>
                </c:pt>
                <c:pt idx="289">
                  <c:v>7</c:v>
                </c:pt>
                <c:pt idx="290">
                  <c:v>7</c:v>
                </c:pt>
                <c:pt idx="291">
                  <c:v>7</c:v>
                </c:pt>
                <c:pt idx="292">
                  <c:v>7</c:v>
                </c:pt>
                <c:pt idx="293">
                  <c:v>7</c:v>
                </c:pt>
                <c:pt idx="294">
                  <c:v>7</c:v>
                </c:pt>
                <c:pt idx="295">
                  <c:v>7</c:v>
                </c:pt>
                <c:pt idx="296">
                  <c:v>7</c:v>
                </c:pt>
                <c:pt idx="297">
                  <c:v>7</c:v>
                </c:pt>
                <c:pt idx="298">
                  <c:v>7</c:v>
                </c:pt>
                <c:pt idx="299">
                  <c:v>7</c:v>
                </c:pt>
                <c:pt idx="300">
                  <c:v>7</c:v>
                </c:pt>
                <c:pt idx="301">
                  <c:v>7</c:v>
                </c:pt>
                <c:pt idx="302">
                  <c:v>7</c:v>
                </c:pt>
                <c:pt idx="303">
                  <c:v>7</c:v>
                </c:pt>
                <c:pt idx="304">
                  <c:v>7</c:v>
                </c:pt>
                <c:pt idx="305">
                  <c:v>7</c:v>
                </c:pt>
                <c:pt idx="306">
                  <c:v>7</c:v>
                </c:pt>
                <c:pt idx="307">
                  <c:v>7</c:v>
                </c:pt>
                <c:pt idx="308">
                  <c:v>7</c:v>
                </c:pt>
                <c:pt idx="309">
                  <c:v>7</c:v>
                </c:pt>
                <c:pt idx="310">
                  <c:v>7</c:v>
                </c:pt>
                <c:pt idx="311">
                  <c:v>7</c:v>
                </c:pt>
                <c:pt idx="312">
                  <c:v>7</c:v>
                </c:pt>
                <c:pt idx="313">
                  <c:v>7</c:v>
                </c:pt>
                <c:pt idx="314">
                  <c:v>7</c:v>
                </c:pt>
                <c:pt idx="315">
                  <c:v>7</c:v>
                </c:pt>
                <c:pt idx="316">
                  <c:v>7</c:v>
                </c:pt>
                <c:pt idx="317">
                  <c:v>7</c:v>
                </c:pt>
                <c:pt idx="318">
                  <c:v>7</c:v>
                </c:pt>
                <c:pt idx="319">
                  <c:v>7</c:v>
                </c:pt>
                <c:pt idx="320">
                  <c:v>7</c:v>
                </c:pt>
                <c:pt idx="321">
                  <c:v>7</c:v>
                </c:pt>
                <c:pt idx="322">
                  <c:v>7</c:v>
                </c:pt>
                <c:pt idx="323">
                  <c:v>7</c:v>
                </c:pt>
                <c:pt idx="324">
                  <c:v>7</c:v>
                </c:pt>
                <c:pt idx="325">
                  <c:v>7</c:v>
                </c:pt>
                <c:pt idx="326">
                  <c:v>7</c:v>
                </c:pt>
                <c:pt idx="327">
                  <c:v>7</c:v>
                </c:pt>
                <c:pt idx="328">
                  <c:v>7</c:v>
                </c:pt>
                <c:pt idx="329">
                  <c:v>7</c:v>
                </c:pt>
                <c:pt idx="330">
                  <c:v>7</c:v>
                </c:pt>
                <c:pt idx="331">
                  <c:v>7</c:v>
                </c:pt>
                <c:pt idx="332">
                  <c:v>7</c:v>
                </c:pt>
                <c:pt idx="333">
                  <c:v>7</c:v>
                </c:pt>
                <c:pt idx="334">
                  <c:v>7</c:v>
                </c:pt>
                <c:pt idx="335">
                  <c:v>7</c:v>
                </c:pt>
                <c:pt idx="336">
                  <c:v>7</c:v>
                </c:pt>
                <c:pt idx="337">
                  <c:v>7</c:v>
                </c:pt>
                <c:pt idx="338">
                  <c:v>7</c:v>
                </c:pt>
                <c:pt idx="339">
                  <c:v>7</c:v>
                </c:pt>
                <c:pt idx="340">
                  <c:v>7</c:v>
                </c:pt>
                <c:pt idx="341">
                  <c:v>7</c:v>
                </c:pt>
                <c:pt idx="342">
                  <c:v>7</c:v>
                </c:pt>
                <c:pt idx="343">
                  <c:v>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100" b="0" i="0" u="none" strike="noStrike">
                <a:solidFill>
                  <a:srgbClr val="53656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6DFE2"/>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3656D"/>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8313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1" i="0" u="none" strike="noStrike">
                <a:solidFill>
                  <a:srgbClr val="18313B"/>
                </a:solidFill>
                <a:latin typeface="+mn-lt"/>
              </a:defRPr>
            </a:pPr>
            <a:r>
              <a:rPr sz="1300" b="1" i="0" u="none" strike="noStrike">
                <a:solidFill>
                  <a:srgbClr val="18313B"/>
                </a:solidFill>
                <a:latin typeface="+mn-lt"/>
              </a:rPr>
              <a:t>EURC/EUR daily low on Kraken, last 12 months</a:t>
            </a:r>
          </a:p>
        </c:rich>
      </c:tx>
      <c:layout/>
      <c:overlay val="0"/>
    </c:title>
    <c:autoTitleDeleted val="0"/>
    <c:plotArea>
      <c:layout/>
      <c:lineChart>
        <c:varyColors val="0"/>
        <c:ser>
          <c:idx val="0"/>
          <c:order val="0"/>
          <c:tx>
            <c:strRef>
              <c:f>Sheet1!$B$1</c:f>
              <c:strCache>
                <c:ptCount val="1"/>
                <c:pt idx="0">
                  <c:v>Kraken daily low</c:v>
                </c:pt>
              </c:strCache>
            </c:strRef>
          </c:tx>
          <c:spPr>
            <a:solidFill>
              <a:srgbClr val="2F7D6D"/>
            </a:solidFill>
            <a:ln w="19050" cap="flat">
              <a:solidFill>
                <a:srgbClr val="2F7D6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7D6D"/>
              </a:solidFill>
              <a:ln w="9525" cap="flat">
                <a:solidFill>
                  <a:srgbClr val="2F7D6D"/>
                </a:solidFill>
                <a:prstDash val="solid"/>
                <a:round/>
              </a:ln>
              <a:effectLst/>
            </c:spPr>
          </c:marker>
          <c:cat>
            <c:multiLvlStrRef>
              <c:f>Sheet1!$A$2:$A$367</c:f>
              <c:multiLvlStrCache>
                <c:ptCount val="366"/>
                <c:lvl>
                  <c:pt idx="0">
                    <c:v/>
                  </c:pt>
                  <c:pt idx="1">
                    <c:v/>
                  </c:pt>
                  <c:pt idx="2">
                    <c:v/>
                  </c:pt>
                  <c:pt idx="3">
                    <c:v/>
                  </c:pt>
                  <c:pt idx="4">
                    <c:v/>
                  </c:pt>
                  <c:pt idx="5">
                    <c:v/>
                  </c:pt>
                  <c:pt idx="6">
                    <c:v/>
                  </c:pt>
                  <c:pt idx="7">
                    <c:v/>
                  </c:pt>
                  <c:pt idx="8">
                    <c:v/>
                  </c:pt>
                  <c:pt idx="9">
                    <c:v/>
                  </c:pt>
                  <c:pt idx="10">
                    <c:v>Nov 25</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Jan 26</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Mar 26</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May 26</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Jul 26</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Sep 26</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lvl>
              </c:multiLvlStrCache>
            </c:multiLvlStrRef>
          </c:cat>
          <c:val>
            <c:numRef>
              <c:f>Sheet1!$B$2:$B$367</c:f>
              <c:numCache>
                <c:formatCode>General</c:formatCode>
                <c:ptCount val="366"/>
                <c:pt idx="0">
                  <c:v>0.9929</c:v>
                </c:pt>
                <c:pt idx="1">
                  <c:v>0.9997</c:v>
                </c:pt>
                <c:pt idx="2">
                  <c:v>0.953</c:v>
                </c:pt>
                <c:pt idx="3">
                  <c:v>0.974</c:v>
                </c:pt>
                <c:pt idx="4">
                  <c:v>0.9964</c:v>
                </c:pt>
                <c:pt idx="5">
                  <c:v>0.974</c:v>
                </c:pt>
                <c:pt idx="6">
                  <c:v>0.9646</c:v>
                </c:pt>
                <c:pt idx="7">
                  <c:v>0.9995</c:v>
                </c:pt>
                <c:pt idx="8">
                  <c:v>0.9991</c:v>
                </c:pt>
                <c:pt idx="9">
                  <c:v>0.995</c:v>
                </c:pt>
                <c:pt idx="10">
                  <c:v>0.995</c:v>
                </c:pt>
                <c:pt idx="11">
                  <c:v>0.9955</c:v>
                </c:pt>
                <c:pt idx="12">
                  <c:v>0.9951</c:v>
                </c:pt>
                <c:pt idx="13">
                  <c:v>0.9951</c:v>
                </c:pt>
                <c:pt idx="14">
                  <c:v>0.9999</c:v>
                </c:pt>
                <c:pt idx="15">
                  <c:v>0.9999</c:v>
                </c:pt>
                <c:pt idx="16">
                  <c:v>0.9999</c:v>
                </c:pt>
                <c:pt idx="17">
                  <c:v>0.9951</c:v>
                </c:pt>
                <c:pt idx="18">
                  <c:v>0.9978</c:v>
                </c:pt>
                <c:pt idx="19">
                  <c:v>0.9982</c:v>
                </c:pt>
                <c:pt idx="20">
                  <c:v>0.9982</c:v>
                </c:pt>
                <c:pt idx="21">
                  <c:v>0.9999</c:v>
                </c:pt>
                <c:pt idx="22">
                  <c:v>0.9999</c:v>
                </c:pt>
                <c:pt idx="23">
                  <c:v>0.9999</c:v>
                </c:pt>
                <c:pt idx="24">
                  <c:v>0.9984</c:v>
                </c:pt>
                <c:pt idx="25">
                  <c:v>0.9951</c:v>
                </c:pt>
                <c:pt idx="26">
                  <c:v>0.996</c:v>
                </c:pt>
                <c:pt idx="27">
                  <c:v>0.9961</c:v>
                </c:pt>
                <c:pt idx="28">
                  <c:v>0.9889</c:v>
                </c:pt>
                <c:pt idx="29">
                  <c:v>0.9961</c:v>
                </c:pt>
                <c:pt idx="30">
                  <c:v>0.9961</c:v>
                </c:pt>
                <c:pt idx="31">
                  <c:v>0.9997</c:v>
                </c:pt>
                <c:pt idx="32">
                  <c:v>0.9997</c:v>
                </c:pt>
                <c:pt idx="33">
                  <c:v>0.9997</c:v>
                </c:pt>
                <c:pt idx="34">
                  <c:v>0.9997</c:v>
                </c:pt>
                <c:pt idx="35">
                  <c:v>0.9996</c:v>
                </c:pt>
                <c:pt idx="36">
                  <c:v>0.9996</c:v>
                </c:pt>
                <c:pt idx="37">
                  <c:v>0.9961</c:v>
                </c:pt>
                <c:pt idx="38">
                  <c:v>0.9961</c:v>
                </c:pt>
                <c:pt idx="39">
                  <c:v>0.9994</c:v>
                </c:pt>
                <c:pt idx="40">
                  <c:v>0.9961</c:v>
                </c:pt>
                <c:pt idx="41">
                  <c:v>0.9997</c:v>
                </c:pt>
                <c:pt idx="42">
                  <c:v>0.9996</c:v>
                </c:pt>
                <c:pt idx="43">
                  <c:v>0.9974</c:v>
                </c:pt>
                <c:pt idx="44">
                  <c:v>0.9998</c:v>
                </c:pt>
                <c:pt idx="45">
                  <c:v>1</c:v>
                </c:pt>
                <c:pt idx="46">
                  <c:v>1</c:v>
                </c:pt>
                <c:pt idx="47">
                  <c:v>0.9999</c:v>
                </c:pt>
                <c:pt idx="48">
                  <c:v>0.9996</c:v>
                </c:pt>
                <c:pt idx="49">
                  <c:v>0.9996</c:v>
                </c:pt>
                <c:pt idx="50">
                  <c:v>0.9995</c:v>
                </c:pt>
                <c:pt idx="51">
                  <c:v>0.9995</c:v>
                </c:pt>
                <c:pt idx="52">
                  <c:v>0.9996</c:v>
                </c:pt>
                <c:pt idx="53">
                  <c:v>0.9996</c:v>
                </c:pt>
                <c:pt idx="54">
                  <c:v>0.9995</c:v>
                </c:pt>
                <c:pt idx="55">
                  <c:v>0.9995</c:v>
                </c:pt>
                <c:pt idx="56">
                  <c:v>0.9995</c:v>
                </c:pt>
                <c:pt idx="57">
                  <c:v>0.9976</c:v>
                </c:pt>
                <c:pt idx="58">
                  <c:v>0.9997</c:v>
                </c:pt>
                <c:pt idx="59">
                  <c:v>0.9998</c:v>
                </c:pt>
                <c:pt idx="60">
                  <c:v>0.9997</c:v>
                </c:pt>
                <c:pt idx="61">
                  <c:v>0.9997</c:v>
                </c:pt>
                <c:pt idx="62">
                  <c:v>0.9973</c:v>
                </c:pt>
                <c:pt idx="63">
                  <c:v>0.9996</c:v>
                </c:pt>
                <c:pt idx="64">
                  <c:v>0.9994</c:v>
                </c:pt>
                <c:pt idx="65">
                  <c:v>0.9997</c:v>
                </c:pt>
                <c:pt idx="66">
                  <c:v>0.9995</c:v>
                </c:pt>
                <c:pt idx="67">
                  <c:v>0.9994</c:v>
                </c:pt>
                <c:pt idx="68">
                  <c:v>0.9996</c:v>
                </c:pt>
                <c:pt idx="69">
                  <c:v>0.9997</c:v>
                </c:pt>
                <c:pt idx="70">
                  <c:v>0.9994</c:v>
                </c:pt>
                <c:pt idx="71">
                  <c:v>0.9994</c:v>
                </c:pt>
                <c:pt idx="72">
                  <c:v>0.9973</c:v>
                </c:pt>
                <c:pt idx="73">
                  <c:v>0.9994</c:v>
                </c:pt>
                <c:pt idx="74">
                  <c:v>0.9994</c:v>
                </c:pt>
                <c:pt idx="75">
                  <c:v>0.9997</c:v>
                </c:pt>
                <c:pt idx="76">
                  <c:v>0.9995</c:v>
                </c:pt>
                <c:pt idx="77">
                  <c:v>0.9995</c:v>
                </c:pt>
                <c:pt idx="78">
                  <c:v>0.9973</c:v>
                </c:pt>
                <c:pt idx="79">
                  <c:v>0.9995</c:v>
                </c:pt>
                <c:pt idx="80">
                  <c:v>0.9995</c:v>
                </c:pt>
                <c:pt idx="81">
                  <c:v>0.9994</c:v>
                </c:pt>
                <c:pt idx="82">
                  <c:v>0.9997</c:v>
                </c:pt>
                <c:pt idx="83">
                  <c:v>0.9997</c:v>
                </c:pt>
                <c:pt idx="84">
                  <c:v>0.953</c:v>
                </c:pt>
                <c:pt idx="85">
                  <c:v>0.9995</c:v>
                </c:pt>
                <c:pt idx="86">
                  <c:v>0.9818</c:v>
                </c:pt>
                <c:pt idx="87">
                  <c:v>0.9994</c:v>
                </c:pt>
                <c:pt idx="88">
                  <c:v>0.9995</c:v>
                </c:pt>
                <c:pt idx="89">
                  <c:v>0.9998</c:v>
                </c:pt>
                <c:pt idx="90">
                  <c:v>0.9996</c:v>
                </c:pt>
                <c:pt idx="91">
                  <c:v>0.9997</c:v>
                </c:pt>
                <c:pt idx="92">
                  <c:v>1</c:v>
                </c:pt>
                <c:pt idx="93">
                  <c:v>1</c:v>
                </c:pt>
                <c:pt idx="94">
                  <c:v>1</c:v>
                </c:pt>
                <c:pt idx="95">
                  <c:v>1</c:v>
                </c:pt>
                <c:pt idx="96">
                  <c:v>1</c:v>
                </c:pt>
                <c:pt idx="97">
                  <c:v>1</c:v>
                </c:pt>
                <c:pt idx="98">
                  <c:v>1</c:v>
                </c:pt>
                <c:pt idx="99">
                  <c:v>1</c:v>
                </c:pt>
                <c:pt idx="100">
                  <c:v>1</c:v>
                </c:pt>
                <c:pt idx="101">
                  <c:v>1</c:v>
                </c:pt>
                <c:pt idx="102">
                  <c:v>1</c:v>
                </c:pt>
                <c:pt idx="103">
                  <c:v>1</c:v>
                </c:pt>
                <c:pt idx="104">
                  <c:v>0.9996</c:v>
                </c:pt>
                <c:pt idx="105">
                  <c:v>0.9997</c:v>
                </c:pt>
                <c:pt idx="106">
                  <c:v>0.9995</c:v>
                </c:pt>
                <c:pt idx="107">
                  <c:v>1</c:v>
                </c:pt>
                <c:pt idx="108">
                  <c:v>0.9994</c:v>
                </c:pt>
                <c:pt idx="109">
                  <c:v>0.998</c:v>
                </c:pt>
                <c:pt idx="110">
                  <c:v>0.9994</c:v>
                </c:pt>
                <c:pt idx="111">
                  <c:v>0.998</c:v>
                </c:pt>
                <c:pt idx="112">
                  <c:v>0.9991</c:v>
                </c:pt>
                <c:pt idx="113">
                  <c:v>0.9984</c:v>
                </c:pt>
                <c:pt idx="114">
                  <c:v>0.9991</c:v>
                </c:pt>
                <c:pt idx="115">
                  <c:v>0.9984</c:v>
                </c:pt>
                <c:pt idx="116">
                  <c:v>0.9984</c:v>
                </c:pt>
                <c:pt idx="117">
                  <c:v>0.9991</c:v>
                </c:pt>
                <c:pt idx="118">
                  <c:v>0.9994</c:v>
                </c:pt>
                <c:pt idx="119">
                  <c:v>0.9997</c:v>
                </c:pt>
                <c:pt idx="120">
                  <c:v>0.9994</c:v>
                </c:pt>
                <c:pt idx="121">
                  <c:v>0.9984</c:v>
                </c:pt>
                <c:pt idx="122">
                  <c:v>0.9998</c:v>
                </c:pt>
                <c:pt idx="123">
                  <c:v>0.9988</c:v>
                </c:pt>
                <c:pt idx="124">
                  <c:v>0.9994</c:v>
                </c:pt>
                <c:pt idx="125">
                  <c:v>0.9993</c:v>
                </c:pt>
                <c:pt idx="126">
                  <c:v>0.9991</c:v>
                </c:pt>
                <c:pt idx="127">
                  <c:v>0.9997</c:v>
                </c:pt>
                <c:pt idx="128">
                  <c:v>0.9984</c:v>
                </c:pt>
                <c:pt idx="129">
                  <c:v>0.9998</c:v>
                </c:pt>
                <c:pt idx="130">
                  <c:v>0.9998</c:v>
                </c:pt>
                <c:pt idx="131">
                  <c:v>0.9993</c:v>
                </c:pt>
                <c:pt idx="132">
                  <c:v>0.9984</c:v>
                </c:pt>
                <c:pt idx="133">
                  <c:v>0.9996</c:v>
                </c:pt>
                <c:pt idx="134">
                  <c:v>0.9997</c:v>
                </c:pt>
                <c:pt idx="135">
                  <c:v>0.9976</c:v>
                </c:pt>
                <c:pt idx="136">
                  <c:v>0.9998</c:v>
                </c:pt>
                <c:pt idx="137">
                  <c:v>0.9999</c:v>
                </c:pt>
                <c:pt idx="138">
                  <c:v>0.9998</c:v>
                </c:pt>
                <c:pt idx="139">
                  <c:v>0.9993</c:v>
                </c:pt>
                <c:pt idx="140">
                  <c:v>0.9994</c:v>
                </c:pt>
                <c:pt idx="141">
                  <c:v>0.9995</c:v>
                </c:pt>
                <c:pt idx="142">
                  <c:v>0.9975</c:v>
                </c:pt>
                <c:pt idx="143">
                  <c:v>0.998</c:v>
                </c:pt>
                <c:pt idx="144">
                  <c:v>0.9981</c:v>
                </c:pt>
                <c:pt idx="145">
                  <c:v>0.9994</c:v>
                </c:pt>
                <c:pt idx="146">
                  <c:v>0.9998</c:v>
                </c:pt>
                <c:pt idx="147">
                  <c:v>0.995</c:v>
                </c:pt>
                <c:pt idx="148">
                  <c:v>0.9993</c:v>
                </c:pt>
                <c:pt idx="149">
                  <c:v>0.9989</c:v>
                </c:pt>
                <c:pt idx="150">
                  <c:v>0.9974</c:v>
                </c:pt>
                <c:pt idx="151">
                  <c:v>0.9974</c:v>
                </c:pt>
                <c:pt idx="152">
                  <c:v>0.995</c:v>
                </c:pt>
                <c:pt idx="153">
                  <c:v>0.9994</c:v>
                </c:pt>
                <c:pt idx="154">
                  <c:v>0.985</c:v>
                </c:pt>
                <c:pt idx="155">
                  <c:v>0.9998</c:v>
                </c:pt>
                <c:pt idx="156">
                  <c:v>0.9998</c:v>
                </c:pt>
                <c:pt idx="157">
                  <c:v>0.9968</c:v>
                </c:pt>
                <c:pt idx="158">
                  <c:v>0.9968</c:v>
                </c:pt>
                <c:pt idx="159">
                  <c:v>0.999</c:v>
                </c:pt>
                <c:pt idx="160">
                  <c:v>0.9994</c:v>
                </c:pt>
                <c:pt idx="161">
                  <c:v>0.9993</c:v>
                </c:pt>
                <c:pt idx="162">
                  <c:v>0.9997</c:v>
                </c:pt>
                <c:pt idx="163">
                  <c:v>1</c:v>
                </c:pt>
                <c:pt idx="164">
                  <c:v>1</c:v>
                </c:pt>
                <c:pt idx="165">
                  <c:v>1</c:v>
                </c:pt>
                <c:pt idx="166">
                  <c:v>0.9989</c:v>
                </c:pt>
                <c:pt idx="167">
                  <c:v>0.9993</c:v>
                </c:pt>
                <c:pt idx="168">
                  <c:v>0.9993</c:v>
                </c:pt>
                <c:pt idx="169">
                  <c:v>0.9992</c:v>
                </c:pt>
                <c:pt idx="170">
                  <c:v>0.9993</c:v>
                </c:pt>
                <c:pt idx="171">
                  <c:v>0.9974</c:v>
                </c:pt>
                <c:pt idx="172">
                  <c:v>0.9974</c:v>
                </c:pt>
                <c:pt idx="173">
                  <c:v>0.9993</c:v>
                </c:pt>
                <c:pt idx="174">
                  <c:v>0.9932</c:v>
                </c:pt>
                <c:pt idx="175">
                  <c:v>0.9994</c:v>
                </c:pt>
                <c:pt idx="176">
                  <c:v>0.9999</c:v>
                </c:pt>
                <c:pt idx="177">
                  <c:v>0.9998</c:v>
                </c:pt>
                <c:pt idx="178">
                  <c:v>0.9999</c:v>
                </c:pt>
                <c:pt idx="179">
                  <c:v>0.9999</c:v>
                </c:pt>
                <c:pt idx="180">
                  <c:v>0.9999</c:v>
                </c:pt>
                <c:pt idx="181">
                  <c:v>0.9758</c:v>
                </c:pt>
                <c:pt idx="182">
                  <c:v>0.9993</c:v>
                </c:pt>
                <c:pt idx="183">
                  <c:v>0.9983</c:v>
                </c:pt>
                <c:pt idx="184">
                  <c:v>0.9997</c:v>
                </c:pt>
                <c:pt idx="185">
                  <c:v>0.995</c:v>
                </c:pt>
                <c:pt idx="186">
                  <c:v>0.9985</c:v>
                </c:pt>
                <c:pt idx="187">
                  <c:v>0.9956</c:v>
                </c:pt>
                <c:pt idx="188">
                  <c:v>0.9983</c:v>
                </c:pt>
                <c:pt idx="189">
                  <c:v>0.9994</c:v>
                </c:pt>
                <c:pt idx="190">
                  <c:v>0.9994</c:v>
                </c:pt>
                <c:pt idx="191">
                  <c:v>0.9994</c:v>
                </c:pt>
                <c:pt idx="192">
                  <c:v>0.9996</c:v>
                </c:pt>
                <c:pt idx="193">
                  <c:v>0.9996</c:v>
                </c:pt>
                <c:pt idx="194">
                  <c:v>0.9995</c:v>
                </c:pt>
                <c:pt idx="195">
                  <c:v>0.9859</c:v>
                </c:pt>
                <c:pt idx="196">
                  <c:v>0.9983</c:v>
                </c:pt>
                <c:pt idx="197">
                  <c:v>0.9997</c:v>
                </c:pt>
                <c:pt idx="198">
                  <c:v>0.9997</c:v>
                </c:pt>
                <c:pt idx="199">
                  <c:v>0.9998</c:v>
                </c:pt>
                <c:pt idx="200">
                  <c:v>0.9997</c:v>
                </c:pt>
                <c:pt idx="201">
                  <c:v>0.9709</c:v>
                </c:pt>
                <c:pt idx="202">
                  <c:v>0.9993</c:v>
                </c:pt>
                <c:pt idx="203">
                  <c:v>0.9997</c:v>
                </c:pt>
                <c:pt idx="204">
                  <c:v>0.9998</c:v>
                </c:pt>
                <c:pt idx="205">
                  <c:v>0.9995</c:v>
                </c:pt>
                <c:pt idx="206">
                  <c:v>0.9995</c:v>
                </c:pt>
                <c:pt idx="207">
                  <c:v>0.9991</c:v>
                </c:pt>
                <c:pt idx="208">
                  <c:v>0.9998</c:v>
                </c:pt>
                <c:pt idx="209">
                  <c:v>0.9993</c:v>
                </c:pt>
                <c:pt idx="210">
                  <c:v>0.9997</c:v>
                </c:pt>
                <c:pt idx="211">
                  <c:v>0.9968</c:v>
                </c:pt>
                <c:pt idx="212">
                  <c:v>0.9995</c:v>
                </c:pt>
                <c:pt idx="213">
                  <c:v>0.9998</c:v>
                </c:pt>
                <c:pt idx="214">
                  <c:v>0.9865</c:v>
                </c:pt>
                <c:pt idx="215">
                  <c:v>0.9985</c:v>
                </c:pt>
                <c:pt idx="216">
                  <c:v>0.992</c:v>
                </c:pt>
                <c:pt idx="217">
                  <c:v>0.9932</c:v>
                </c:pt>
                <c:pt idx="218">
                  <c:v>0.9996</c:v>
                </c:pt>
                <c:pt idx="219">
                  <c:v>0.9997</c:v>
                </c:pt>
                <c:pt idx="220">
                  <c:v>0.9997</c:v>
                </c:pt>
                <c:pt idx="221">
                  <c:v>0.9998</c:v>
                </c:pt>
                <c:pt idx="222">
                  <c:v>0.9997</c:v>
                </c:pt>
                <c:pt idx="223">
                  <c:v>0.9997</c:v>
                </c:pt>
                <c:pt idx="224">
                  <c:v>0.9998</c:v>
                </c:pt>
                <c:pt idx="225">
                  <c:v>0.9987</c:v>
                </c:pt>
                <c:pt idx="226">
                  <c:v>0.998</c:v>
                </c:pt>
                <c:pt idx="227">
                  <c:v>0.9995</c:v>
                </c:pt>
                <c:pt idx="228">
                  <c:v>0.9995</c:v>
                </c:pt>
                <c:pt idx="229">
                  <c:v>0.9987</c:v>
                </c:pt>
                <c:pt idx="230">
                  <c:v>0.9987</c:v>
                </c:pt>
                <c:pt idx="231">
                  <c:v>0.9994</c:v>
                </c:pt>
                <c:pt idx="232">
                  <c:v>0.9992</c:v>
                </c:pt>
                <c:pt idx="233">
                  <c:v>0.998</c:v>
                </c:pt>
                <c:pt idx="234">
                  <c:v>0.9997</c:v>
                </c:pt>
                <c:pt idx="235">
                  <c:v>0.9991</c:v>
                </c:pt>
                <c:pt idx="236">
                  <c:v>0.9993</c:v>
                </c:pt>
                <c:pt idx="237">
                  <c:v>0.9993</c:v>
                </c:pt>
                <c:pt idx="238">
                  <c:v>0.9993</c:v>
                </c:pt>
                <c:pt idx="239">
                  <c:v>0.9989</c:v>
                </c:pt>
                <c:pt idx="240">
                  <c:v>0.9987</c:v>
                </c:pt>
                <c:pt idx="241">
                  <c:v>0.9998</c:v>
                </c:pt>
                <c:pt idx="242">
                  <c:v>0.9999</c:v>
                </c:pt>
                <c:pt idx="243">
                  <c:v>0.9998</c:v>
                </c:pt>
                <c:pt idx="244">
                  <c:v>0.9986</c:v>
                </c:pt>
                <c:pt idx="245">
                  <c:v>0.9998</c:v>
                </c:pt>
                <c:pt idx="246">
                  <c:v>0.9986</c:v>
                </c:pt>
                <c:pt idx="247">
                  <c:v>0.9998</c:v>
                </c:pt>
                <c:pt idx="248">
                  <c:v>1.0001</c:v>
                </c:pt>
                <c:pt idx="249">
                  <c:v>0.9999</c:v>
                </c:pt>
                <c:pt idx="250">
                  <c:v>0.9991</c:v>
                </c:pt>
                <c:pt idx="251">
                  <c:v>0.9985</c:v>
                </c:pt>
                <c:pt idx="252">
                  <c:v>0.9998</c:v>
                </c:pt>
                <c:pt idx="253">
                  <c:v>0.998</c:v>
                </c:pt>
                <c:pt idx="254">
                  <c:v>0.9998</c:v>
                </c:pt>
                <c:pt idx="255">
                  <c:v>0.9986</c:v>
                </c:pt>
                <c:pt idx="256">
                  <c:v>0.9986</c:v>
                </c:pt>
                <c:pt idx="257">
                  <c:v>0.9997</c:v>
                </c:pt>
                <c:pt idx="258">
                  <c:v>0.9998</c:v>
                </c:pt>
                <c:pt idx="259">
                  <c:v>0.9995</c:v>
                </c:pt>
                <c:pt idx="260">
                  <c:v>0.9993</c:v>
                </c:pt>
                <c:pt idx="261">
                  <c:v>0.9996</c:v>
                </c:pt>
                <c:pt idx="262">
                  <c:v>0.998</c:v>
                </c:pt>
                <c:pt idx="263">
                  <c:v>0.9986</c:v>
                </c:pt>
                <c:pt idx="264">
                  <c:v>0.9996</c:v>
                </c:pt>
                <c:pt idx="265">
                  <c:v>0.9995</c:v>
                </c:pt>
                <c:pt idx="266">
                  <c:v>0.9996</c:v>
                </c:pt>
                <c:pt idx="267">
                  <c:v>0.9997</c:v>
                </c:pt>
                <c:pt idx="268">
                  <c:v>0.9984</c:v>
                </c:pt>
                <c:pt idx="269">
                  <c:v>0.9995</c:v>
                </c:pt>
                <c:pt idx="270">
                  <c:v>0.9995</c:v>
                </c:pt>
                <c:pt idx="271">
                  <c:v>0.9997</c:v>
                </c:pt>
                <c:pt idx="272">
                  <c:v>0.9996</c:v>
                </c:pt>
                <c:pt idx="273">
                  <c:v>0.9985</c:v>
                </c:pt>
                <c:pt idx="274">
                  <c:v>0.9992</c:v>
                </c:pt>
                <c:pt idx="275">
                  <c:v>0.9995</c:v>
                </c:pt>
                <c:pt idx="276">
                  <c:v>0.9995</c:v>
                </c:pt>
                <c:pt idx="277">
                  <c:v>0.9991</c:v>
                </c:pt>
                <c:pt idx="278">
                  <c:v>0.9993</c:v>
                </c:pt>
                <c:pt idx="279">
                  <c:v>0.9935</c:v>
                </c:pt>
                <c:pt idx="280">
                  <c:v>0.9999</c:v>
                </c:pt>
                <c:pt idx="281">
                  <c:v>0.9991</c:v>
                </c:pt>
                <c:pt idx="282">
                  <c:v>0.9996</c:v>
                </c:pt>
                <c:pt idx="283">
                  <c:v>0.9997</c:v>
                </c:pt>
                <c:pt idx="284">
                  <c:v>0.9995</c:v>
                </c:pt>
                <c:pt idx="285">
                  <c:v>0.9994</c:v>
                </c:pt>
                <c:pt idx="286">
                  <c:v>0.9998</c:v>
                </c:pt>
                <c:pt idx="287">
                  <c:v>0.9995</c:v>
                </c:pt>
                <c:pt idx="288">
                  <c:v>0.9996</c:v>
                </c:pt>
                <c:pt idx="289">
                  <c:v>0.9998</c:v>
                </c:pt>
                <c:pt idx="290">
                  <c:v>1.0002</c:v>
                </c:pt>
                <c:pt idx="291">
                  <c:v>1</c:v>
                </c:pt>
                <c:pt idx="292">
                  <c:v>0.9995</c:v>
                </c:pt>
                <c:pt idx="293">
                  <c:v>0.9996</c:v>
                </c:pt>
                <c:pt idx="294">
                  <c:v>0.9996</c:v>
                </c:pt>
                <c:pt idx="295">
                  <c:v>0.9996</c:v>
                </c:pt>
                <c:pt idx="296">
                  <c:v>0.9995</c:v>
                </c:pt>
                <c:pt idx="297">
                  <c:v>0.9998</c:v>
                </c:pt>
                <c:pt idx="298">
                  <c:v>0.9996</c:v>
                </c:pt>
                <c:pt idx="299">
                  <c:v>0.9997</c:v>
                </c:pt>
                <c:pt idx="300">
                  <c:v>0.9995</c:v>
                </c:pt>
                <c:pt idx="301">
                  <c:v>0.999</c:v>
                </c:pt>
                <c:pt idx="302">
                  <c:v>0.9997</c:v>
                </c:pt>
                <c:pt idx="303">
                  <c:v>0.9998</c:v>
                </c:pt>
                <c:pt idx="304">
                  <c:v>0.9942</c:v>
                </c:pt>
                <c:pt idx="305">
                  <c:v>0.9937</c:v>
                </c:pt>
                <c:pt idx="306">
                  <c:v>0.9981</c:v>
                </c:pt>
                <c:pt idx="307">
                  <c:v>0.9998</c:v>
                </c:pt>
                <c:pt idx="308">
                  <c:v>0.9998</c:v>
                </c:pt>
                <c:pt idx="309">
                  <c:v>0.999</c:v>
                </c:pt>
                <c:pt idx="310">
                  <c:v>0.9998</c:v>
                </c:pt>
                <c:pt idx="311">
                  <c:v>0.9999</c:v>
                </c:pt>
                <c:pt idx="312">
                  <c:v>0.9975</c:v>
                </c:pt>
                <c:pt idx="313">
                  <c:v>0.9998</c:v>
                </c:pt>
                <c:pt idx="314">
                  <c:v>0.9998</c:v>
                </c:pt>
                <c:pt idx="315">
                  <c:v>1</c:v>
                </c:pt>
                <c:pt idx="316">
                  <c:v>1</c:v>
                </c:pt>
                <c:pt idx="317">
                  <c:v>0.99</c:v>
                </c:pt>
                <c:pt idx="318">
                  <c:v>0.9895</c:v>
                </c:pt>
                <c:pt idx="319">
                  <c:v>0.9921</c:v>
                </c:pt>
                <c:pt idx="320">
                  <c:v>0.9901</c:v>
                </c:pt>
                <c:pt idx="321">
                  <c:v>0.9996</c:v>
                </c:pt>
                <c:pt idx="322">
                  <c:v>0.9998</c:v>
                </c:pt>
                <c:pt idx="323">
                  <c:v>0.9974</c:v>
                </c:pt>
                <c:pt idx="324">
                  <c:v>0.9994</c:v>
                </c:pt>
                <c:pt idx="325">
                  <c:v>0.9995</c:v>
                </c:pt>
                <c:pt idx="326">
                  <c:v>0.9994</c:v>
                </c:pt>
                <c:pt idx="327">
                  <c:v>0.9998</c:v>
                </c:pt>
                <c:pt idx="328">
                  <c:v>0.9995</c:v>
                </c:pt>
                <c:pt idx="329">
                  <c:v>0.9997</c:v>
                </c:pt>
                <c:pt idx="330">
                  <c:v>0.9997</c:v>
                </c:pt>
                <c:pt idx="331">
                  <c:v>0.9985</c:v>
                </c:pt>
                <c:pt idx="332">
                  <c:v>0.9994</c:v>
                </c:pt>
                <c:pt idx="333">
                  <c:v>0.983</c:v>
                </c:pt>
                <c:pt idx="334">
                  <c:v>0.9968</c:v>
                </c:pt>
                <c:pt idx="335">
                  <c:v>0.9994</c:v>
                </c:pt>
                <c:pt idx="336">
                  <c:v>0.9987</c:v>
                </c:pt>
                <c:pt idx="337">
                  <c:v>0.9994</c:v>
                </c:pt>
                <c:pt idx="338">
                  <c:v>0.9979</c:v>
                </c:pt>
                <c:pt idx="339">
                  <c:v>0.9992</c:v>
                </c:pt>
                <c:pt idx="340">
                  <c:v>0.9992</c:v>
                </c:pt>
                <c:pt idx="341">
                  <c:v>0.9994</c:v>
                </c:pt>
                <c:pt idx="342">
                  <c:v>0.998</c:v>
                </c:pt>
                <c:pt idx="343">
                  <c:v>0.9977</c:v>
                </c:pt>
                <c:pt idx="344">
                  <c:v>0.9994</c:v>
                </c:pt>
                <c:pt idx="345">
                  <c:v>0.9992</c:v>
                </c:pt>
                <c:pt idx="346">
                  <c:v>0.9992</c:v>
                </c:pt>
                <c:pt idx="347">
                  <c:v>0.9992</c:v>
                </c:pt>
                <c:pt idx="348">
                  <c:v>0.9737</c:v>
                </c:pt>
                <c:pt idx="349">
                  <c:v>0.9994</c:v>
                </c:pt>
                <c:pt idx="350">
                  <c:v>0.9996</c:v>
                </c:pt>
                <c:pt idx="351">
                  <c:v>0.9997</c:v>
                </c:pt>
                <c:pt idx="352">
                  <c:v>0.9998</c:v>
                </c:pt>
                <c:pt idx="353">
                  <c:v>0.9992</c:v>
                </c:pt>
                <c:pt idx="354">
                  <c:v>0.9993</c:v>
                </c:pt>
                <c:pt idx="355">
                  <c:v>0.9998</c:v>
                </c:pt>
                <c:pt idx="356">
                  <c:v>0.9998</c:v>
                </c:pt>
                <c:pt idx="357">
                  <c:v>0.9994</c:v>
                </c:pt>
                <c:pt idx="358">
                  <c:v>0.9996</c:v>
                </c:pt>
                <c:pt idx="359">
                  <c:v>0.9998</c:v>
                </c:pt>
                <c:pt idx="360">
                  <c:v>0.9999</c:v>
                </c:pt>
                <c:pt idx="361">
                  <c:v>1</c:v>
                </c:pt>
                <c:pt idx="362">
                  <c:v>0.9998</c:v>
                </c:pt>
                <c:pt idx="363">
                  <c:v>0.9995</c:v>
                </c:pt>
                <c:pt idx="364">
                  <c:v>0.998</c:v>
                </c:pt>
                <c:pt idx="365">
                  <c:v>0.9775</c:v>
                </c:pt>
              </c:numCache>
            </c:numRef>
          </c:val>
          <c:smooth val="0"/>
        </c:ser>
        <c:ser>
          <c:idx val="1"/>
          <c:order val="1"/>
          <c:tx>
            <c:strRef>
              <c:f>Sheet1!$C$1</c:f>
              <c:strCache>
                <c:ptCount val="1"/>
                <c:pt idx="0">
                  <c:v>Bid at 0.9925</c:v>
                </c:pt>
              </c:strCache>
            </c:strRef>
          </c:tx>
          <c:spPr>
            <a:solidFill>
              <a:srgbClr val="A33639"/>
            </a:solidFill>
            <a:ln w="19050" cap="flat">
              <a:solidFill>
                <a:srgbClr val="A3363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33639"/>
              </a:solidFill>
              <a:ln w="9525" cap="flat">
                <a:solidFill>
                  <a:srgbClr val="A33639"/>
                </a:solidFill>
                <a:prstDash val="solid"/>
                <a:round/>
              </a:ln>
              <a:effectLst/>
            </c:spPr>
          </c:marker>
          <c:cat>
            <c:multiLvlStrRef>
              <c:f>Sheet1!$A$2:$A$367</c:f>
              <c:multiLvlStrCache>
                <c:ptCount val="366"/>
                <c:lvl>
                  <c:pt idx="0">
                    <c:v/>
                  </c:pt>
                  <c:pt idx="1">
                    <c:v/>
                  </c:pt>
                  <c:pt idx="2">
                    <c:v/>
                  </c:pt>
                  <c:pt idx="3">
                    <c:v/>
                  </c:pt>
                  <c:pt idx="4">
                    <c:v/>
                  </c:pt>
                  <c:pt idx="5">
                    <c:v/>
                  </c:pt>
                  <c:pt idx="6">
                    <c:v/>
                  </c:pt>
                  <c:pt idx="7">
                    <c:v/>
                  </c:pt>
                  <c:pt idx="8">
                    <c:v/>
                  </c:pt>
                  <c:pt idx="9">
                    <c:v/>
                  </c:pt>
                  <c:pt idx="10">
                    <c:v>Nov 25</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Jan 26</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Mar 26</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May 26</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Jul 26</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Sep 26</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lvl>
              </c:multiLvlStrCache>
            </c:multiLvlStrRef>
          </c:cat>
          <c:val>
            <c:numRef>
              <c:f>Sheet1!$C$2:$C$367</c:f>
              <c:numCache>
                <c:formatCode>General</c:formatCode>
                <c:ptCount val="366"/>
                <c:pt idx="0">
                  <c:v>0.9925</c:v>
                </c:pt>
                <c:pt idx="1">
                  <c:v>0.9925</c:v>
                </c:pt>
                <c:pt idx="2">
                  <c:v>0.9925</c:v>
                </c:pt>
                <c:pt idx="3">
                  <c:v>0.9925</c:v>
                </c:pt>
                <c:pt idx="4">
                  <c:v>0.9925</c:v>
                </c:pt>
                <c:pt idx="5">
                  <c:v>0.9925</c:v>
                </c:pt>
                <c:pt idx="6">
                  <c:v>0.9925</c:v>
                </c:pt>
                <c:pt idx="7">
                  <c:v>0.9925</c:v>
                </c:pt>
                <c:pt idx="8">
                  <c:v>0.9925</c:v>
                </c:pt>
                <c:pt idx="9">
                  <c:v>0.9925</c:v>
                </c:pt>
                <c:pt idx="10">
                  <c:v>0.9925</c:v>
                </c:pt>
                <c:pt idx="11">
                  <c:v>0.9925</c:v>
                </c:pt>
                <c:pt idx="12">
                  <c:v>0.9925</c:v>
                </c:pt>
                <c:pt idx="13">
                  <c:v>0.9925</c:v>
                </c:pt>
                <c:pt idx="14">
                  <c:v>0.9925</c:v>
                </c:pt>
                <c:pt idx="15">
                  <c:v>0.9925</c:v>
                </c:pt>
                <c:pt idx="16">
                  <c:v>0.9925</c:v>
                </c:pt>
                <c:pt idx="17">
                  <c:v>0.9925</c:v>
                </c:pt>
                <c:pt idx="18">
                  <c:v>0.9925</c:v>
                </c:pt>
                <c:pt idx="19">
                  <c:v>0.9925</c:v>
                </c:pt>
                <c:pt idx="20">
                  <c:v>0.9925</c:v>
                </c:pt>
                <c:pt idx="21">
                  <c:v>0.9925</c:v>
                </c:pt>
                <c:pt idx="22">
                  <c:v>0.9925</c:v>
                </c:pt>
                <c:pt idx="23">
                  <c:v>0.9925</c:v>
                </c:pt>
                <c:pt idx="24">
                  <c:v>0.9925</c:v>
                </c:pt>
                <c:pt idx="25">
                  <c:v>0.9925</c:v>
                </c:pt>
                <c:pt idx="26">
                  <c:v>0.9925</c:v>
                </c:pt>
                <c:pt idx="27">
                  <c:v>0.9925</c:v>
                </c:pt>
                <c:pt idx="28">
                  <c:v>0.9925</c:v>
                </c:pt>
                <c:pt idx="29">
                  <c:v>0.9925</c:v>
                </c:pt>
                <c:pt idx="30">
                  <c:v>0.9925</c:v>
                </c:pt>
                <c:pt idx="31">
                  <c:v>0.9925</c:v>
                </c:pt>
                <c:pt idx="32">
                  <c:v>0.9925</c:v>
                </c:pt>
                <c:pt idx="33">
                  <c:v>0.9925</c:v>
                </c:pt>
                <c:pt idx="34">
                  <c:v>0.9925</c:v>
                </c:pt>
                <c:pt idx="35">
                  <c:v>0.9925</c:v>
                </c:pt>
                <c:pt idx="36">
                  <c:v>0.9925</c:v>
                </c:pt>
                <c:pt idx="37">
                  <c:v>0.9925</c:v>
                </c:pt>
                <c:pt idx="38">
                  <c:v>0.9925</c:v>
                </c:pt>
                <c:pt idx="39">
                  <c:v>0.9925</c:v>
                </c:pt>
                <c:pt idx="40">
                  <c:v>0.9925</c:v>
                </c:pt>
                <c:pt idx="41">
                  <c:v>0.9925</c:v>
                </c:pt>
                <c:pt idx="42">
                  <c:v>0.9925</c:v>
                </c:pt>
                <c:pt idx="43">
                  <c:v>0.9925</c:v>
                </c:pt>
                <c:pt idx="44">
                  <c:v>0.9925</c:v>
                </c:pt>
                <c:pt idx="45">
                  <c:v>0.9925</c:v>
                </c:pt>
                <c:pt idx="46">
                  <c:v>0.9925</c:v>
                </c:pt>
                <c:pt idx="47">
                  <c:v>0.9925</c:v>
                </c:pt>
                <c:pt idx="48">
                  <c:v>0.9925</c:v>
                </c:pt>
                <c:pt idx="49">
                  <c:v>0.9925</c:v>
                </c:pt>
                <c:pt idx="50">
                  <c:v>0.9925</c:v>
                </c:pt>
                <c:pt idx="51">
                  <c:v>0.9925</c:v>
                </c:pt>
                <c:pt idx="52">
                  <c:v>0.9925</c:v>
                </c:pt>
                <c:pt idx="53">
                  <c:v>0.9925</c:v>
                </c:pt>
                <c:pt idx="54">
                  <c:v>0.9925</c:v>
                </c:pt>
                <c:pt idx="55">
                  <c:v>0.9925</c:v>
                </c:pt>
                <c:pt idx="56">
                  <c:v>0.9925</c:v>
                </c:pt>
                <c:pt idx="57">
                  <c:v>0.9925</c:v>
                </c:pt>
                <c:pt idx="58">
                  <c:v>0.9925</c:v>
                </c:pt>
                <c:pt idx="59">
                  <c:v>0.9925</c:v>
                </c:pt>
                <c:pt idx="60">
                  <c:v>0.9925</c:v>
                </c:pt>
                <c:pt idx="61">
                  <c:v>0.9925</c:v>
                </c:pt>
                <c:pt idx="62">
                  <c:v>0.9925</c:v>
                </c:pt>
                <c:pt idx="63">
                  <c:v>0.9925</c:v>
                </c:pt>
                <c:pt idx="64">
                  <c:v>0.9925</c:v>
                </c:pt>
                <c:pt idx="65">
                  <c:v>0.9925</c:v>
                </c:pt>
                <c:pt idx="66">
                  <c:v>0.9925</c:v>
                </c:pt>
                <c:pt idx="67">
                  <c:v>0.9925</c:v>
                </c:pt>
                <c:pt idx="68">
                  <c:v>0.9925</c:v>
                </c:pt>
                <c:pt idx="69">
                  <c:v>0.9925</c:v>
                </c:pt>
                <c:pt idx="70">
                  <c:v>0.9925</c:v>
                </c:pt>
                <c:pt idx="71">
                  <c:v>0.9925</c:v>
                </c:pt>
                <c:pt idx="72">
                  <c:v>0.9925</c:v>
                </c:pt>
                <c:pt idx="73">
                  <c:v>0.9925</c:v>
                </c:pt>
                <c:pt idx="74">
                  <c:v>0.9925</c:v>
                </c:pt>
                <c:pt idx="75">
                  <c:v>0.9925</c:v>
                </c:pt>
                <c:pt idx="76">
                  <c:v>0.9925</c:v>
                </c:pt>
                <c:pt idx="77">
                  <c:v>0.9925</c:v>
                </c:pt>
                <c:pt idx="78">
                  <c:v>0.9925</c:v>
                </c:pt>
                <c:pt idx="79">
                  <c:v>0.9925</c:v>
                </c:pt>
                <c:pt idx="80">
                  <c:v>0.9925</c:v>
                </c:pt>
                <c:pt idx="81">
                  <c:v>0.9925</c:v>
                </c:pt>
                <c:pt idx="82">
                  <c:v>0.9925</c:v>
                </c:pt>
                <c:pt idx="83">
                  <c:v>0.9925</c:v>
                </c:pt>
                <c:pt idx="84">
                  <c:v>0.9925</c:v>
                </c:pt>
                <c:pt idx="85">
                  <c:v>0.9925</c:v>
                </c:pt>
                <c:pt idx="86">
                  <c:v>0.9925</c:v>
                </c:pt>
                <c:pt idx="87">
                  <c:v>0.9925</c:v>
                </c:pt>
                <c:pt idx="88">
                  <c:v>0.9925</c:v>
                </c:pt>
                <c:pt idx="89">
                  <c:v>0.9925</c:v>
                </c:pt>
                <c:pt idx="90">
                  <c:v>0.9925</c:v>
                </c:pt>
                <c:pt idx="91">
                  <c:v>0.9925</c:v>
                </c:pt>
                <c:pt idx="92">
                  <c:v>0.9925</c:v>
                </c:pt>
                <c:pt idx="93">
                  <c:v>0.9925</c:v>
                </c:pt>
                <c:pt idx="94">
                  <c:v>0.9925</c:v>
                </c:pt>
                <c:pt idx="95">
                  <c:v>0.9925</c:v>
                </c:pt>
                <c:pt idx="96">
                  <c:v>0.9925</c:v>
                </c:pt>
                <c:pt idx="97">
                  <c:v>0.9925</c:v>
                </c:pt>
                <c:pt idx="98">
                  <c:v>0.9925</c:v>
                </c:pt>
                <c:pt idx="99">
                  <c:v>0.9925</c:v>
                </c:pt>
                <c:pt idx="100">
                  <c:v>0.9925</c:v>
                </c:pt>
                <c:pt idx="101">
                  <c:v>0.9925</c:v>
                </c:pt>
                <c:pt idx="102">
                  <c:v>0.9925</c:v>
                </c:pt>
                <c:pt idx="103">
                  <c:v>0.9925</c:v>
                </c:pt>
                <c:pt idx="104">
                  <c:v>0.9925</c:v>
                </c:pt>
                <c:pt idx="105">
                  <c:v>0.9925</c:v>
                </c:pt>
                <c:pt idx="106">
                  <c:v>0.9925</c:v>
                </c:pt>
                <c:pt idx="107">
                  <c:v>0.9925</c:v>
                </c:pt>
                <c:pt idx="108">
                  <c:v>0.9925</c:v>
                </c:pt>
                <c:pt idx="109">
                  <c:v>0.9925</c:v>
                </c:pt>
                <c:pt idx="110">
                  <c:v>0.9925</c:v>
                </c:pt>
                <c:pt idx="111">
                  <c:v>0.9925</c:v>
                </c:pt>
                <c:pt idx="112">
                  <c:v>0.9925</c:v>
                </c:pt>
                <c:pt idx="113">
                  <c:v>0.9925</c:v>
                </c:pt>
                <c:pt idx="114">
                  <c:v>0.9925</c:v>
                </c:pt>
                <c:pt idx="115">
                  <c:v>0.9925</c:v>
                </c:pt>
                <c:pt idx="116">
                  <c:v>0.9925</c:v>
                </c:pt>
                <c:pt idx="117">
                  <c:v>0.9925</c:v>
                </c:pt>
                <c:pt idx="118">
                  <c:v>0.9925</c:v>
                </c:pt>
                <c:pt idx="119">
                  <c:v>0.9925</c:v>
                </c:pt>
                <c:pt idx="120">
                  <c:v>0.9925</c:v>
                </c:pt>
                <c:pt idx="121">
                  <c:v>0.9925</c:v>
                </c:pt>
                <c:pt idx="122">
                  <c:v>0.9925</c:v>
                </c:pt>
                <c:pt idx="123">
                  <c:v>0.9925</c:v>
                </c:pt>
                <c:pt idx="124">
                  <c:v>0.9925</c:v>
                </c:pt>
                <c:pt idx="125">
                  <c:v>0.9925</c:v>
                </c:pt>
                <c:pt idx="126">
                  <c:v>0.9925</c:v>
                </c:pt>
                <c:pt idx="127">
                  <c:v>0.9925</c:v>
                </c:pt>
                <c:pt idx="128">
                  <c:v>0.9925</c:v>
                </c:pt>
                <c:pt idx="129">
                  <c:v>0.9925</c:v>
                </c:pt>
                <c:pt idx="130">
                  <c:v>0.9925</c:v>
                </c:pt>
                <c:pt idx="131">
                  <c:v>0.9925</c:v>
                </c:pt>
                <c:pt idx="132">
                  <c:v>0.9925</c:v>
                </c:pt>
                <c:pt idx="133">
                  <c:v>0.9925</c:v>
                </c:pt>
                <c:pt idx="134">
                  <c:v>0.9925</c:v>
                </c:pt>
                <c:pt idx="135">
                  <c:v>0.9925</c:v>
                </c:pt>
                <c:pt idx="136">
                  <c:v>0.9925</c:v>
                </c:pt>
                <c:pt idx="137">
                  <c:v>0.9925</c:v>
                </c:pt>
                <c:pt idx="138">
                  <c:v>0.9925</c:v>
                </c:pt>
                <c:pt idx="139">
                  <c:v>0.9925</c:v>
                </c:pt>
                <c:pt idx="140">
                  <c:v>0.9925</c:v>
                </c:pt>
                <c:pt idx="141">
                  <c:v>0.9925</c:v>
                </c:pt>
                <c:pt idx="142">
                  <c:v>0.9925</c:v>
                </c:pt>
                <c:pt idx="143">
                  <c:v>0.9925</c:v>
                </c:pt>
                <c:pt idx="144">
                  <c:v>0.9925</c:v>
                </c:pt>
                <c:pt idx="145">
                  <c:v>0.9925</c:v>
                </c:pt>
                <c:pt idx="146">
                  <c:v>0.9925</c:v>
                </c:pt>
                <c:pt idx="147">
                  <c:v>0.9925</c:v>
                </c:pt>
                <c:pt idx="148">
                  <c:v>0.9925</c:v>
                </c:pt>
                <c:pt idx="149">
                  <c:v>0.9925</c:v>
                </c:pt>
                <c:pt idx="150">
                  <c:v>0.9925</c:v>
                </c:pt>
                <c:pt idx="151">
                  <c:v>0.9925</c:v>
                </c:pt>
                <c:pt idx="152">
                  <c:v>0.9925</c:v>
                </c:pt>
                <c:pt idx="153">
                  <c:v>0.9925</c:v>
                </c:pt>
                <c:pt idx="154">
                  <c:v>0.9925</c:v>
                </c:pt>
                <c:pt idx="155">
                  <c:v>0.9925</c:v>
                </c:pt>
                <c:pt idx="156">
                  <c:v>0.9925</c:v>
                </c:pt>
                <c:pt idx="157">
                  <c:v>0.9925</c:v>
                </c:pt>
                <c:pt idx="158">
                  <c:v>0.9925</c:v>
                </c:pt>
                <c:pt idx="159">
                  <c:v>0.9925</c:v>
                </c:pt>
                <c:pt idx="160">
                  <c:v>0.9925</c:v>
                </c:pt>
                <c:pt idx="161">
                  <c:v>0.9925</c:v>
                </c:pt>
                <c:pt idx="162">
                  <c:v>0.9925</c:v>
                </c:pt>
                <c:pt idx="163">
                  <c:v>0.9925</c:v>
                </c:pt>
                <c:pt idx="164">
                  <c:v>0.9925</c:v>
                </c:pt>
                <c:pt idx="165">
                  <c:v>0.9925</c:v>
                </c:pt>
                <c:pt idx="166">
                  <c:v>0.9925</c:v>
                </c:pt>
                <c:pt idx="167">
                  <c:v>0.9925</c:v>
                </c:pt>
                <c:pt idx="168">
                  <c:v>0.9925</c:v>
                </c:pt>
                <c:pt idx="169">
                  <c:v>0.9925</c:v>
                </c:pt>
                <c:pt idx="170">
                  <c:v>0.9925</c:v>
                </c:pt>
                <c:pt idx="171">
                  <c:v>0.9925</c:v>
                </c:pt>
                <c:pt idx="172">
                  <c:v>0.9925</c:v>
                </c:pt>
                <c:pt idx="173">
                  <c:v>0.9925</c:v>
                </c:pt>
                <c:pt idx="174">
                  <c:v>0.9925</c:v>
                </c:pt>
                <c:pt idx="175">
                  <c:v>0.9925</c:v>
                </c:pt>
                <c:pt idx="176">
                  <c:v>0.9925</c:v>
                </c:pt>
                <c:pt idx="177">
                  <c:v>0.9925</c:v>
                </c:pt>
                <c:pt idx="178">
                  <c:v>0.9925</c:v>
                </c:pt>
                <c:pt idx="179">
                  <c:v>0.9925</c:v>
                </c:pt>
                <c:pt idx="180">
                  <c:v>0.9925</c:v>
                </c:pt>
                <c:pt idx="181">
                  <c:v>0.9925</c:v>
                </c:pt>
                <c:pt idx="182">
                  <c:v>0.9925</c:v>
                </c:pt>
                <c:pt idx="183">
                  <c:v>0.9925</c:v>
                </c:pt>
                <c:pt idx="184">
                  <c:v>0.9925</c:v>
                </c:pt>
                <c:pt idx="185">
                  <c:v>0.9925</c:v>
                </c:pt>
                <c:pt idx="186">
                  <c:v>0.9925</c:v>
                </c:pt>
                <c:pt idx="187">
                  <c:v>0.9925</c:v>
                </c:pt>
                <c:pt idx="188">
                  <c:v>0.9925</c:v>
                </c:pt>
                <c:pt idx="189">
                  <c:v>0.9925</c:v>
                </c:pt>
                <c:pt idx="190">
                  <c:v>0.9925</c:v>
                </c:pt>
                <c:pt idx="191">
                  <c:v>0.9925</c:v>
                </c:pt>
                <c:pt idx="192">
                  <c:v>0.9925</c:v>
                </c:pt>
                <c:pt idx="193">
                  <c:v>0.9925</c:v>
                </c:pt>
                <c:pt idx="194">
                  <c:v>0.9925</c:v>
                </c:pt>
                <c:pt idx="195">
                  <c:v>0.9925</c:v>
                </c:pt>
                <c:pt idx="196">
                  <c:v>0.9925</c:v>
                </c:pt>
                <c:pt idx="197">
                  <c:v>0.9925</c:v>
                </c:pt>
                <c:pt idx="198">
                  <c:v>0.9925</c:v>
                </c:pt>
                <c:pt idx="199">
                  <c:v>0.9925</c:v>
                </c:pt>
                <c:pt idx="200">
                  <c:v>0.9925</c:v>
                </c:pt>
                <c:pt idx="201">
                  <c:v>0.9925</c:v>
                </c:pt>
                <c:pt idx="202">
                  <c:v>0.9925</c:v>
                </c:pt>
                <c:pt idx="203">
                  <c:v>0.9925</c:v>
                </c:pt>
                <c:pt idx="204">
                  <c:v>0.9925</c:v>
                </c:pt>
                <c:pt idx="205">
                  <c:v>0.9925</c:v>
                </c:pt>
                <c:pt idx="206">
                  <c:v>0.9925</c:v>
                </c:pt>
                <c:pt idx="207">
                  <c:v>0.9925</c:v>
                </c:pt>
                <c:pt idx="208">
                  <c:v>0.9925</c:v>
                </c:pt>
                <c:pt idx="209">
                  <c:v>0.9925</c:v>
                </c:pt>
                <c:pt idx="210">
                  <c:v>0.9925</c:v>
                </c:pt>
                <c:pt idx="211">
                  <c:v>0.9925</c:v>
                </c:pt>
                <c:pt idx="212">
                  <c:v>0.9925</c:v>
                </c:pt>
                <c:pt idx="213">
                  <c:v>0.9925</c:v>
                </c:pt>
                <c:pt idx="214">
                  <c:v>0.9925</c:v>
                </c:pt>
                <c:pt idx="215">
                  <c:v>0.9925</c:v>
                </c:pt>
                <c:pt idx="216">
                  <c:v>0.9925</c:v>
                </c:pt>
                <c:pt idx="217">
                  <c:v>0.9925</c:v>
                </c:pt>
                <c:pt idx="218">
                  <c:v>0.9925</c:v>
                </c:pt>
                <c:pt idx="219">
                  <c:v>0.9925</c:v>
                </c:pt>
                <c:pt idx="220">
                  <c:v>0.9925</c:v>
                </c:pt>
                <c:pt idx="221">
                  <c:v>0.9925</c:v>
                </c:pt>
                <c:pt idx="222">
                  <c:v>0.9925</c:v>
                </c:pt>
                <c:pt idx="223">
                  <c:v>0.9925</c:v>
                </c:pt>
                <c:pt idx="224">
                  <c:v>0.9925</c:v>
                </c:pt>
                <c:pt idx="225">
                  <c:v>0.9925</c:v>
                </c:pt>
                <c:pt idx="226">
                  <c:v>0.9925</c:v>
                </c:pt>
                <c:pt idx="227">
                  <c:v>0.9925</c:v>
                </c:pt>
                <c:pt idx="228">
                  <c:v>0.9925</c:v>
                </c:pt>
                <c:pt idx="229">
                  <c:v>0.9925</c:v>
                </c:pt>
                <c:pt idx="230">
                  <c:v>0.9925</c:v>
                </c:pt>
                <c:pt idx="231">
                  <c:v>0.9925</c:v>
                </c:pt>
                <c:pt idx="232">
                  <c:v>0.9925</c:v>
                </c:pt>
                <c:pt idx="233">
                  <c:v>0.9925</c:v>
                </c:pt>
                <c:pt idx="234">
                  <c:v>0.9925</c:v>
                </c:pt>
                <c:pt idx="235">
                  <c:v>0.9925</c:v>
                </c:pt>
                <c:pt idx="236">
                  <c:v>0.9925</c:v>
                </c:pt>
                <c:pt idx="237">
                  <c:v>0.9925</c:v>
                </c:pt>
                <c:pt idx="238">
                  <c:v>0.9925</c:v>
                </c:pt>
                <c:pt idx="239">
                  <c:v>0.9925</c:v>
                </c:pt>
                <c:pt idx="240">
                  <c:v>0.9925</c:v>
                </c:pt>
                <c:pt idx="241">
                  <c:v>0.9925</c:v>
                </c:pt>
                <c:pt idx="242">
                  <c:v>0.9925</c:v>
                </c:pt>
                <c:pt idx="243">
                  <c:v>0.9925</c:v>
                </c:pt>
                <c:pt idx="244">
                  <c:v>0.9925</c:v>
                </c:pt>
                <c:pt idx="245">
                  <c:v>0.9925</c:v>
                </c:pt>
                <c:pt idx="246">
                  <c:v>0.9925</c:v>
                </c:pt>
                <c:pt idx="247">
                  <c:v>0.9925</c:v>
                </c:pt>
                <c:pt idx="248">
                  <c:v>0.9925</c:v>
                </c:pt>
                <c:pt idx="249">
                  <c:v>0.9925</c:v>
                </c:pt>
                <c:pt idx="250">
                  <c:v>0.9925</c:v>
                </c:pt>
                <c:pt idx="251">
                  <c:v>0.9925</c:v>
                </c:pt>
                <c:pt idx="252">
                  <c:v>0.9925</c:v>
                </c:pt>
                <c:pt idx="253">
                  <c:v>0.9925</c:v>
                </c:pt>
                <c:pt idx="254">
                  <c:v>0.9925</c:v>
                </c:pt>
                <c:pt idx="255">
                  <c:v>0.9925</c:v>
                </c:pt>
                <c:pt idx="256">
                  <c:v>0.9925</c:v>
                </c:pt>
                <c:pt idx="257">
                  <c:v>0.9925</c:v>
                </c:pt>
                <c:pt idx="258">
                  <c:v>0.9925</c:v>
                </c:pt>
                <c:pt idx="259">
                  <c:v>0.9925</c:v>
                </c:pt>
                <c:pt idx="260">
                  <c:v>0.9925</c:v>
                </c:pt>
                <c:pt idx="261">
                  <c:v>0.9925</c:v>
                </c:pt>
                <c:pt idx="262">
                  <c:v>0.9925</c:v>
                </c:pt>
                <c:pt idx="263">
                  <c:v>0.9925</c:v>
                </c:pt>
                <c:pt idx="264">
                  <c:v>0.9925</c:v>
                </c:pt>
                <c:pt idx="265">
                  <c:v>0.9925</c:v>
                </c:pt>
                <c:pt idx="266">
                  <c:v>0.9925</c:v>
                </c:pt>
                <c:pt idx="267">
                  <c:v>0.9925</c:v>
                </c:pt>
                <c:pt idx="268">
                  <c:v>0.9925</c:v>
                </c:pt>
                <c:pt idx="269">
                  <c:v>0.9925</c:v>
                </c:pt>
                <c:pt idx="270">
                  <c:v>0.9925</c:v>
                </c:pt>
                <c:pt idx="271">
                  <c:v>0.9925</c:v>
                </c:pt>
                <c:pt idx="272">
                  <c:v>0.9925</c:v>
                </c:pt>
                <c:pt idx="273">
                  <c:v>0.9925</c:v>
                </c:pt>
                <c:pt idx="274">
                  <c:v>0.9925</c:v>
                </c:pt>
                <c:pt idx="275">
                  <c:v>0.9925</c:v>
                </c:pt>
                <c:pt idx="276">
                  <c:v>0.9925</c:v>
                </c:pt>
                <c:pt idx="277">
                  <c:v>0.9925</c:v>
                </c:pt>
                <c:pt idx="278">
                  <c:v>0.9925</c:v>
                </c:pt>
                <c:pt idx="279">
                  <c:v>0.9925</c:v>
                </c:pt>
                <c:pt idx="280">
                  <c:v>0.9925</c:v>
                </c:pt>
                <c:pt idx="281">
                  <c:v>0.9925</c:v>
                </c:pt>
                <c:pt idx="282">
                  <c:v>0.9925</c:v>
                </c:pt>
                <c:pt idx="283">
                  <c:v>0.9925</c:v>
                </c:pt>
                <c:pt idx="284">
                  <c:v>0.9925</c:v>
                </c:pt>
                <c:pt idx="285">
                  <c:v>0.9925</c:v>
                </c:pt>
                <c:pt idx="286">
                  <c:v>0.9925</c:v>
                </c:pt>
                <c:pt idx="287">
                  <c:v>0.9925</c:v>
                </c:pt>
                <c:pt idx="288">
                  <c:v>0.9925</c:v>
                </c:pt>
                <c:pt idx="289">
                  <c:v>0.9925</c:v>
                </c:pt>
                <c:pt idx="290">
                  <c:v>0.9925</c:v>
                </c:pt>
                <c:pt idx="291">
                  <c:v>0.9925</c:v>
                </c:pt>
                <c:pt idx="292">
                  <c:v>0.9925</c:v>
                </c:pt>
                <c:pt idx="293">
                  <c:v>0.9925</c:v>
                </c:pt>
                <c:pt idx="294">
                  <c:v>0.9925</c:v>
                </c:pt>
                <c:pt idx="295">
                  <c:v>0.9925</c:v>
                </c:pt>
                <c:pt idx="296">
                  <c:v>0.9925</c:v>
                </c:pt>
                <c:pt idx="297">
                  <c:v>0.9925</c:v>
                </c:pt>
                <c:pt idx="298">
                  <c:v>0.9925</c:v>
                </c:pt>
                <c:pt idx="299">
                  <c:v>0.9925</c:v>
                </c:pt>
                <c:pt idx="300">
                  <c:v>0.9925</c:v>
                </c:pt>
                <c:pt idx="301">
                  <c:v>0.9925</c:v>
                </c:pt>
                <c:pt idx="302">
                  <c:v>0.9925</c:v>
                </c:pt>
                <c:pt idx="303">
                  <c:v>0.9925</c:v>
                </c:pt>
                <c:pt idx="304">
                  <c:v>0.9925</c:v>
                </c:pt>
                <c:pt idx="305">
                  <c:v>0.9925</c:v>
                </c:pt>
                <c:pt idx="306">
                  <c:v>0.9925</c:v>
                </c:pt>
                <c:pt idx="307">
                  <c:v>0.9925</c:v>
                </c:pt>
                <c:pt idx="308">
                  <c:v>0.9925</c:v>
                </c:pt>
                <c:pt idx="309">
                  <c:v>0.9925</c:v>
                </c:pt>
                <c:pt idx="310">
                  <c:v>0.9925</c:v>
                </c:pt>
                <c:pt idx="311">
                  <c:v>0.9925</c:v>
                </c:pt>
                <c:pt idx="312">
                  <c:v>0.9925</c:v>
                </c:pt>
                <c:pt idx="313">
                  <c:v>0.9925</c:v>
                </c:pt>
                <c:pt idx="314">
                  <c:v>0.9925</c:v>
                </c:pt>
                <c:pt idx="315">
                  <c:v>0.9925</c:v>
                </c:pt>
                <c:pt idx="316">
                  <c:v>0.9925</c:v>
                </c:pt>
                <c:pt idx="317">
                  <c:v>0.9925</c:v>
                </c:pt>
                <c:pt idx="318">
                  <c:v>0.9925</c:v>
                </c:pt>
                <c:pt idx="319">
                  <c:v>0.9925</c:v>
                </c:pt>
                <c:pt idx="320">
                  <c:v>0.9925</c:v>
                </c:pt>
                <c:pt idx="321">
                  <c:v>0.9925</c:v>
                </c:pt>
                <c:pt idx="322">
                  <c:v>0.9925</c:v>
                </c:pt>
                <c:pt idx="323">
                  <c:v>0.9925</c:v>
                </c:pt>
                <c:pt idx="324">
                  <c:v>0.9925</c:v>
                </c:pt>
                <c:pt idx="325">
                  <c:v>0.9925</c:v>
                </c:pt>
                <c:pt idx="326">
                  <c:v>0.9925</c:v>
                </c:pt>
                <c:pt idx="327">
                  <c:v>0.9925</c:v>
                </c:pt>
                <c:pt idx="328">
                  <c:v>0.9925</c:v>
                </c:pt>
                <c:pt idx="329">
                  <c:v>0.9925</c:v>
                </c:pt>
                <c:pt idx="330">
                  <c:v>0.9925</c:v>
                </c:pt>
                <c:pt idx="331">
                  <c:v>0.9925</c:v>
                </c:pt>
                <c:pt idx="332">
                  <c:v>0.9925</c:v>
                </c:pt>
                <c:pt idx="333">
                  <c:v>0.9925</c:v>
                </c:pt>
                <c:pt idx="334">
                  <c:v>0.9925</c:v>
                </c:pt>
                <c:pt idx="335">
                  <c:v>0.9925</c:v>
                </c:pt>
                <c:pt idx="336">
                  <c:v>0.9925</c:v>
                </c:pt>
                <c:pt idx="337">
                  <c:v>0.9925</c:v>
                </c:pt>
                <c:pt idx="338">
                  <c:v>0.9925</c:v>
                </c:pt>
                <c:pt idx="339">
                  <c:v>0.9925</c:v>
                </c:pt>
                <c:pt idx="340">
                  <c:v>0.9925</c:v>
                </c:pt>
                <c:pt idx="341">
                  <c:v>0.9925</c:v>
                </c:pt>
                <c:pt idx="342">
                  <c:v>0.9925</c:v>
                </c:pt>
                <c:pt idx="343">
                  <c:v>0.9925</c:v>
                </c:pt>
                <c:pt idx="344">
                  <c:v>0.9925</c:v>
                </c:pt>
                <c:pt idx="345">
                  <c:v>0.9925</c:v>
                </c:pt>
                <c:pt idx="346">
                  <c:v>0.9925</c:v>
                </c:pt>
                <c:pt idx="347">
                  <c:v>0.9925</c:v>
                </c:pt>
                <c:pt idx="348">
                  <c:v>0.9925</c:v>
                </c:pt>
                <c:pt idx="349">
                  <c:v>0.9925</c:v>
                </c:pt>
                <c:pt idx="350">
                  <c:v>0.9925</c:v>
                </c:pt>
                <c:pt idx="351">
                  <c:v>0.9925</c:v>
                </c:pt>
                <c:pt idx="352">
                  <c:v>0.9925</c:v>
                </c:pt>
                <c:pt idx="353">
                  <c:v>0.9925</c:v>
                </c:pt>
                <c:pt idx="354">
                  <c:v>0.9925</c:v>
                </c:pt>
                <c:pt idx="355">
                  <c:v>0.9925</c:v>
                </c:pt>
                <c:pt idx="356">
                  <c:v>0.9925</c:v>
                </c:pt>
                <c:pt idx="357">
                  <c:v>0.9925</c:v>
                </c:pt>
                <c:pt idx="358">
                  <c:v>0.9925</c:v>
                </c:pt>
                <c:pt idx="359">
                  <c:v>0.9925</c:v>
                </c:pt>
                <c:pt idx="360">
                  <c:v>0.9925</c:v>
                </c:pt>
                <c:pt idx="361">
                  <c:v>0.9925</c:v>
                </c:pt>
                <c:pt idx="362">
                  <c:v>0.9925</c:v>
                </c:pt>
                <c:pt idx="363">
                  <c:v>0.9925</c:v>
                </c:pt>
                <c:pt idx="364">
                  <c:v>0.9925</c:v>
                </c:pt>
                <c:pt idx="365">
                  <c:v>0.9925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100" b="0" i="0" u="none" strike="noStrike">
                <a:solidFill>
                  <a:srgbClr val="53656D"/>
                </a:solidFill>
                <a:latin typeface="+mn-lt"/>
              </a:defRPr>
            </a:pPr>
            <a:endParaRPr lang="en-US"/>
          </a:p>
        </c:txPr>
        <c:crossAx val="2094734552"/>
        <c:crosses val="autoZero"/>
        <c:auto val="1"/>
        <c:lblAlgn val="ctr"/>
        <c:noMultiLvlLbl val="1"/>
      </c:catAx>
      <c:valAx>
        <c:axId val="2094734552"/>
        <c:scaling>
          <c:orientation val="minMax"/>
          <c:max val="1.005"/>
          <c:min val="0.95"/>
        </c:scaling>
        <c:delete val="0"/>
        <c:axPos val="l"/>
        <c:majorGridlines>
          <c:spPr>
            <a:ln w="9525" cap="flat">
              <a:solidFill>
                <a:srgbClr val="D6DFE2"/>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3656D"/>
                </a:solidFill>
                <a:latin typeface="+mn-lt"/>
              </a:defRPr>
            </a:pPr>
            <a:endParaRPr lang="en-US"/>
          </a:p>
        </c:txPr>
        <c:crossAx val="2094734554"/>
        <c:crosses val="autoZero"/>
        <c:crossBetween val="between"/>
        <c:majorUnit val="0.01"/>
      </c:valAx>
      <c:spPr>
        <a:noFill/>
        <a:ln>
          <a:noFill/>
        </a:ln>
        <a:effectLst/>
      </c:spPr>
    </c:plotArea>
    <c:legend>
      <c:legendPos val="b"/>
      <c:overlay val="0"/>
      <c:txPr>
        <a:bodyPr/>
        <a:lstStyle/>
        <a:p>
          <a:pPr>
            <a:defRPr sz="1100">
              <a:solidFill>
                <a:srgbClr val="18313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1" i="0" u="none" strike="noStrike">
                <a:solidFill>
                  <a:srgbClr val="18313B"/>
                </a:solidFill>
                <a:latin typeface="+mn-lt"/>
              </a:defRPr>
            </a:pPr>
            <a:r>
              <a:rPr sz="1300" b="1" i="0" u="none" strike="noStrike">
                <a:solidFill>
                  <a:srgbClr val="18313B"/>
                </a:solidFill>
                <a:latin typeface="+mn-lt"/>
              </a:rPr>
              <a:t>Resting-bid backtest after fees (% a year)</a:t>
            </a:r>
          </a:p>
        </c:rich>
      </c:tx>
      <c:layout/>
      <c:overlay val="0"/>
    </c:title>
    <c:autoTitleDeleted val="0"/>
    <c:plotArea>
      <c:layout/>
      <c:barChart>
        <c:barDir val="col"/>
        <c:grouping val="clustered"/>
        <c:varyColors val="0"/>
        <c:ser>
          <c:idx val="0"/>
          <c:order val="0"/>
          <c:tx>
            <c:strRef>
              <c:f>Sheet1!$B$1</c:f>
              <c:strCache>
                <c:ptCount val="1"/>
                <c:pt idx="0">
                  <c:v>% a year</c:v>
                </c:pt>
              </c:strCache>
            </c:strRef>
          </c:tx>
          <c:spPr>
            <a:solidFill>
              <a:srgbClr val="A33639"/>
            </a:solidFill>
            <a:effectLst/>
          </c:spPr>
          <c:invertIfNegative val="0"/>
          <c:dLbls>
            <c:numFmt formatCode="+0.0;-0.0;0" sourceLinked="0"/>
            <c:txPr>
              <a:bodyPr/>
              <a:lstStyle/>
              <a:p>
                <a:pPr>
                  <a:defRPr b="0" i="0" strike="noStrike" sz="1100" u="none">
                    <a:solidFill>
                      <a:srgbClr val="18313B"/>
                    </a:solidFill>
                    <a:latin typeface="+mn-lt"/>
                  </a:defRPr>
                </a:pPr>
              </a:p>
            </c:txPr>
            <c:showLegendKey val="0"/>
            <c:showVal val="1"/>
            <c:showCatName val="0"/>
            <c:showSerName val="0"/>
            <c:showPercent val="0"/>
            <c:showBubbleSize val="0"/>
            <c:showLeaderLines val="0"/>
          </c:dLbls>
          <c:dPt>
            <c:idx val="0"/>
            <c:invertIfNegative val="0"/>
            <c:bubble3D val="0"/>
            <c:spPr>
              <a:solidFill>
                <a:srgbClr val="A33639"/>
              </a:solidFill>
              <a:effectLst/>
            </c:spPr>
          </c:dPt>
          <c:dPt>
            <c:idx val="1"/>
            <c:invertIfNegative val="0"/>
            <c:bubble3D val="0"/>
            <c:spPr>
              <a:solidFill>
                <a:srgbClr val="2F7D6D"/>
              </a:solidFill>
              <a:effectLst/>
            </c:spPr>
          </c:dPt>
          <c:dPt>
            <c:idx val="2"/>
            <c:invertIfNegative val="0"/>
            <c:bubble3D val="0"/>
            <c:spPr>
              <a:solidFill>
                <a:srgbClr val="2F7D6D"/>
              </a:solidFill>
              <a:effectLst/>
            </c:spPr>
          </c:dPt>
          <c:dPt>
            <c:idx val="3"/>
            <c:invertIfNegative val="0"/>
            <c:bubble3D val="0"/>
            <c:spPr>
              <a:solidFill>
                <a:srgbClr val="2F7D6D"/>
              </a:solidFill>
              <a:effectLst/>
            </c:spPr>
          </c:dPt>
          <c:dPt>
            <c:idx val="4"/>
            <c:invertIfNegative val="0"/>
            <c:bubble3D val="0"/>
            <c:spPr>
              <a:solidFill>
                <a:srgbClr val="2F7D6D"/>
              </a:solidFill>
              <a:effectLst/>
            </c:spPr>
          </c:dPt>
          <c:cat>
            <c:multiLvlStrRef>
              <c:f>Sheet1!$A$2:$A$6</c:f>
              <c:multiLvlStrCache>
                <c:ptCount val="5"/>
                <c:lvl>
                  <c:pt idx="0">
                    <c:v>Bid 0.9975</c:v>
                  </c:pt>
                  <c:pt idx="1">
                    <c:v>Bid 0.995</c:v>
                  </c:pt>
                  <c:pt idx="2">
                    <c:v>Bid 0.9925</c:v>
                  </c:pt>
                  <c:pt idx="3">
                    <c:v>Bid 0.99</c:v>
                  </c:pt>
                  <c:pt idx="4">
                    <c:v>Bid 0.98</c:v>
                  </c:pt>
                </c:lvl>
              </c:multiLvlStrCache>
            </c:multiLvlStrRef>
          </c:cat>
          <c:val>
            <c:numRef>
              <c:f>Sheet1!$B$2:$B$6</c:f>
              <c:numCache>
                <c:formatCode>General</c:formatCode>
                <c:ptCount val="5"/>
                <c:pt idx="0">
                  <c:v>-7.93</c:v>
                </c:pt>
                <c:pt idx="1">
                  <c:v>1.46</c:v>
                </c:pt>
                <c:pt idx="2">
                  <c:v>5.29</c:v>
                </c:pt>
                <c:pt idx="3">
                  <c:v>8.23</c:v>
                </c:pt>
                <c:pt idx="4">
                  <c:v>11.51</c:v>
                </c:pt>
              </c:numCache>
            </c:numRef>
          </c:val>
        </c:ser>
        <c:dLbls>
          <c:numFmt formatCode="+0.0;-0.0;0" sourceLinked="0"/>
          <c:txPr>
            <a:bodyPr/>
            <a:lstStyle/>
            <a:p>
              <a:pPr>
                <a:defRPr b="0" i="0" strike="noStrike" sz="1100" u="none">
                  <a:solidFill>
                    <a:srgbClr val="18313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FE2"/>
            </a:solidFill>
            <a:prstDash val="solid"/>
            <a:round/>
          </a:ln>
        </c:spPr>
        <c:txPr>
          <a:bodyPr/>
          <a:lstStyle/>
          <a:p>
            <a:pPr>
              <a:defRPr sz="1000" b="0" i="0" u="none" strike="noStrike">
                <a:solidFill>
                  <a:srgbClr val="53656D"/>
                </a:solidFill>
                <a:latin typeface="+mn-lt"/>
              </a:defRPr>
            </a:pPr>
            <a:endParaRPr lang="en-US"/>
          </a:p>
        </c:txPr>
        <c:crossAx val="2094734552"/>
        <c:crosses val="autoZero"/>
        <c:auto val="1"/>
        <c:lblAlgn val="ctr"/>
        <c:noMultiLvlLbl val="1"/>
      </c:catAx>
      <c:valAx>
        <c:axId val="2094734552"/>
        <c:scaling>
          <c:orientation val="minMax"/>
          <c:max val="15"/>
          <c:min val="-12"/>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3656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that drove the whole project: can any crypto arbitrage beat a plain 2.5% EUR deposit once every cost is paid? I tested three different ways of making money. Each card gives the mechanism in one line and the single number that decides it. Cross-exchange: the price gap is smaller than the cost. Perpetual carry: the yield exists but is roughly the deposit rate, with more risk. EURC depeg capture: a real edge, but only a few thousand euros of capacity per event. So none was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started in May 2025 as a Binance-versus-Kraken z-score engine with live paper trading. In May and June 2026 it became an institutional model: a EUR venue (Bitstamp as a stand-in for BSDEX) against global USDT liquidity, with bank fee tiers, live EUR/USDT conversion, full-depth pricing and slippage. In October the backtest was audited, three bugs were fixed, and a 4-hour live campaign showed the gap never covers costs. I then tested the two strongest alternatives: perpetual funding carry with 12 months of funding data, and EURC with a live session plus a year of daily history. Every strategy was judged the same way: net of every cost, against a 2.5% EUR deposit.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Mechanism: buy on Bitstamp in EUR and sell on Binance in USDT converted at the live EUR/USDT rate, or the reverse, at the same moment. The chart shows the median tradeable gap for four order sizes. It is negative at every size, meaning crossing both books loses money before any fee, and it gets worse with size. The red lines are the cost a trade must clear: 9 bps at an assumed &gt;$250M tier and 17 bps at the default &gt;$20M tier (47 bps at retail). Even the best 1% of moments for a EUR 1k order were only +1.6 bps. The 14 moments that beat break-even lasted 2.8 s at most and happened while one venue's prices froze. The backtest that once showed +EUR 275.81 with 100% winners was caused by look-ahead, a stale daily ECB FX rate 44 bps away from EUR/USDT, and zero-delay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Mechanism: hold the coin and short the perpetual future of the same size, so price moves cancel. When leveraged buyers dominate, longs pay shorts a funding rate every hour or eight hours; the carry trade collects it. Over the last 12 months the average funding was 3.34% a year on Kraken BTC and 2.25% on Deribit BTC; OKX BTC averaged 5.35% over its last 95 days. On Kraken 31.3% of hours had negative funding, so the short pays. The strategy-selection note puts a realistic EU set-up (OKX EEA, maker on both legs, two round trips a year) at about 2.4-4.3% in USD, i.e. EUR 960-1,720 on EUR 40k, before hedging the dollar exposure, which eats most of the excess over 2.5%. The cheapest venues, Binance and Bybit, do not offer perpetuals to EU residents, and ESMA said in February 2026 that perpetuals are likely CFDs. A 4-hour live test cannot validate carry, so it was assessed 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Mechanism: EURC is designed to be worth one euro and Circle redeems at par. When a holder dumps EURC into a thin book, the price briefly drops; a resting bid below par buys it and sells back near par. On Kraken the daily low fell below 0.9925 on 20 days in the last year, with a low of 0.953. The right-hand chart replays the script's resting-bid ladder on those candles after Kraken's 0.20% maker fee on both legs: bids just under par lose to fees; a bid at 0.99 filled 13 times and earned about 8.23% a year on the capital reserved for it. But a candle low proves a price printed, not that size was available. On the live tape on 22 Oct, one seller sweep offered roughly 2.5k EURC; the deep bid made +EUR 12.2 on it. Market making failed all four pre-set criteria (about -EUR 29 after liquidation; 60-second markout -54 and -13 bps) and cross-venue taker arbitrage netted -39 bps at EUR 10k. Realistic value: EUR 100-300 a year on a EUR 5k sleeve.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puts the three on one scale: what each would have earned on the EUR 40k test capital in a year, against EUR 1,000 from a 2.5% deposit. Cross-exchange spot earns nothing because no trade clears costs, and forced trades lose. Perpetual carry lands around the deposit, EUR 960-1,720 before the dollar hedge, with exchange, regulatory and negative-funding risk on all the capital. EURC depeg capture is the only genuine edge but is capacity-capped at roughly EUR 100-300 a year. The table says what each needs before it is worth revisiting. Close with the decision and the offer to walk through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rtlCol="0"/>
          <a:lstStyle>
            <a:lvl1pPr indent="0" marL="0">
              <a:buNone/>
              <a:defRPr lang="en-US" sz="1400" b="1"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rtlCol="0"/>
          <a:lstStyle>
            <a:lvl1pPr indent="0" marL="0">
              <a:buNone/>
              <a:defRPr lang="en-US" sz="1000" dirty="0">
                <a:solidFill>
                  <a:schemeClr val="accent5"/>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rtlCol="0"/>
          <a:lstStyle>
            <a:lvl1pPr indent="0" marL="0">
              <a:buNone/>
              <a:defRPr lang="en-US" sz="1400" b="1" dirty="0">
                <a:solidFill>
                  <a:schemeClr val="bg2"/>
                </a:solidFill>
              </a:defRPr>
            </a:lvl1pPr>
          </a:lstStyle>
          <a:p>
            <a:pPr indent="0" marL="0">
              <a:buNone/>
            </a:pP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rtlCol="0"/>
          <a:lstStyle>
            <a:lvl1pPr indent="0" marL="0">
              <a:buNone/>
              <a:defRPr lang="en-US" sz="1000" dirty="0">
                <a:solidFill>
                  <a:schemeClr val="bg2"/>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1">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rtlCol="0"/>
          <a:lstStyle>
            <a:lvl1pPr indent="0" marL="0">
              <a:buNone/>
              <a:defRPr lang="en-US" sz="1000" dirty="0">
                <a:solidFill>
                  <a:schemeClr val="accent5"/>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2">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rtlCol="0"/>
          <a:lstStyle>
            <a:lvl1pPr indent="0" marL="0">
              <a:buNone/>
              <a:defRPr lang="en-US" sz="1000" dirty="0">
                <a:solidFill>
                  <a:schemeClr val="accent5"/>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3">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rtlCol="0"/>
          <a:lstStyle>
            <a:lvl1pPr indent="0" marL="0">
              <a:buNone/>
              <a:defRPr lang="en-US" sz="1400" b="1" dirty="0">
                <a:solidFill>
                  <a:schemeClr val="accent3"/>
                </a:solidFill>
              </a:defRPr>
            </a:lvl1pPr>
          </a:lstStyle>
          <a:p>
            <a:pPr indent="0" marL="0">
              <a:buNone/>
            </a:pP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rtlCol="0"/>
          <a:lstStyle>
            <a:lvl1pPr indent="0" marL="0">
              <a:buNone/>
              <a:defRPr lang="en-US" sz="1000" dirty="0">
                <a:solidFill>
                  <a:schemeClr val="accent5"/>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lIns="0" tIns="0" rIns="0" bIns="0" rtlCol="0" anchor="t"/>
          <a:lstStyle/>
          <a:p>
            <a:pPr indent="0" marL="0">
              <a:buNone/>
            </a:pPr>
            <a:r>
              <a:rPr lang="en-US" sz="1400" b="1" dirty="0">
                <a:solidFill>
                  <a:schemeClr val="bg2"/>
                </a:solidFill>
              </a:rPr>
              <a:t>RESEARCH BRIEFING  ·  OCTOBER 2026</a:t>
            </a: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lIns="0" tIns="0" rIns="0" bIns="0" rtlCol="0" anchor="t"/>
          <a:lstStyle/>
          <a:p>
            <a:pPr algn="l" indent="0" marL="0">
              <a:buNone/>
            </a:pPr>
            <a:r>
              <a:rPr lang="en-US" sz="3200" b="1" dirty="0">
                <a:solidFill>
                  <a:schemeClr val="bg1"/>
                </a:solidFill>
              </a:rPr>
              <a:t>Three crypto arbitrage strategies against a 2.5% deposit</a:t>
            </a: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lIns="0" tIns="0" rIns="0" bIns="0" rtlCol="0" anchor="t"/>
          <a:lstStyle/>
          <a:p>
            <a:pPr indent="0" marL="0">
              <a:buNone/>
            </a:pPr>
            <a:r>
              <a:rPr lang="en-US" sz="1000" dirty="0">
                <a:solidFill>
                  <a:schemeClr val="bg2"/>
                </a:solidFill>
              </a:rPr>
              <a:t>Syed Zee Waqar Hussain  ·  May 2025 – Oct 2026  ·  Paper trading on live public market data  ·  No orders sent</a:t>
            </a:r>
            <a:endParaRPr lang="en-US" sz="1000" dirty="0"/>
          </a:p>
        </p:txBody>
      </p:sp>
      <p:sp>
        <p:nvSpPr>
          <p:cNvPr id="6" name="Text 3"/>
          <p:cNvSpPr txBox="1"/>
          <p:nvPr/>
        </p:nvSpPr>
        <p:spPr>
          <a:xfrm>
            <a:off x="612648" y="1371600"/>
            <a:ext cx="10972800" cy="411480"/>
          </a:xfrm>
          <a:prstGeom prst="rect">
            <a:avLst/>
          </a:prstGeom>
          <a:noFill/>
          <a:ln/>
        </p:spPr>
        <p:txBody>
          <a:bodyPr wrap="square" lIns="0" tIns="0" rIns="0" bIns="0" rtlCol="0" anchor="t"/>
          <a:lstStyle/>
          <a:p>
            <a:pPr indent="0" marL="0">
              <a:buNone/>
            </a:pPr>
            <a:r>
              <a:rPr lang="en-US" sz="1900" dirty="0">
                <a:solidFill>
                  <a:schemeClr val="bg2"/>
                </a:solidFill>
              </a:rPr>
              <a:t>The question: can any of them beat a 2.5% EUR bank deposit after every cost?</a:t>
            </a:r>
            <a:endParaRPr lang="en-US" sz="1900" dirty="0"/>
          </a:p>
        </p:txBody>
      </p:sp>
      <p:sp>
        <p:nvSpPr>
          <p:cNvPr id="7" name="card-1"/>
          <p:cNvSpPr/>
          <p:nvPr/>
        </p:nvSpPr>
        <p:spPr>
          <a:xfrm>
            <a:off x="612648" y="2011680"/>
            <a:ext cx="3474720" cy="3520440"/>
          </a:xfrm>
          <a:prstGeom prst="rect">
            <a:avLst/>
          </a:prstGeom>
          <a:solidFill>
            <a:schemeClr val="accent6"/>
          </a:solidFill>
          <a:ln w="12700">
            <a:solidFill>
              <a:schemeClr val="accent6"/>
            </a:solidFill>
            <a:prstDash val="solid"/>
          </a:ln>
        </p:spPr>
      </p:sp>
      <p:sp>
        <p:nvSpPr>
          <p:cNvPr id="8" name="badge-1"/>
          <p:cNvSpPr/>
          <p:nvPr/>
        </p:nvSpPr>
        <p:spPr>
          <a:xfrm>
            <a:off x="886968" y="228600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886968"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0" name="Text 7"/>
          <p:cNvSpPr txBox="1"/>
          <p:nvPr/>
        </p:nvSpPr>
        <p:spPr>
          <a:xfrm>
            <a:off x="1481328" y="2286000"/>
            <a:ext cx="2377440" cy="502920"/>
          </a:xfrm>
          <a:prstGeom prst="rect">
            <a:avLst/>
          </a:prstGeom>
          <a:noFill/>
          <a:ln/>
        </p:spPr>
        <p:txBody>
          <a:bodyPr wrap="square" lIns="0" tIns="0" rIns="0" bIns="0" rtlCol="0" anchor="ctr"/>
          <a:lstStyle/>
          <a:p>
            <a:pPr indent="0" marL="0">
              <a:buNone/>
            </a:pPr>
            <a:r>
              <a:rPr lang="en-US" sz="1600" b="1" dirty="0">
                <a:solidFill>
                  <a:schemeClr val="bg1"/>
                </a:solidFill>
              </a:rPr>
              <a:t>Cross-exchange spot arbitrage</a:t>
            </a:r>
            <a:endParaRPr lang="en-US" sz="1600" dirty="0"/>
          </a:p>
        </p:txBody>
      </p:sp>
      <p:sp>
        <p:nvSpPr>
          <p:cNvPr id="11" name="Text 8"/>
          <p:cNvSpPr txBox="1"/>
          <p:nvPr/>
        </p:nvSpPr>
        <p:spPr>
          <a:xfrm>
            <a:off x="886968" y="2926080"/>
            <a:ext cx="2926080" cy="868680"/>
          </a:xfrm>
          <a:prstGeom prst="rect">
            <a:avLst/>
          </a:prstGeom>
          <a:noFill/>
          <a:ln/>
        </p:spPr>
        <p:txBody>
          <a:bodyPr wrap="square" lIns="0" tIns="0" rIns="0" bIns="0" rtlCol="0" anchor="t"/>
          <a:lstStyle/>
          <a:p>
            <a:pPr indent="0" marL="0">
              <a:buNone/>
            </a:pPr>
            <a:r>
              <a:rPr lang="en-US" sz="1300" dirty="0">
                <a:solidFill>
                  <a:schemeClr val="bg2"/>
                </a:solidFill>
              </a:rPr>
              <a:t>Buy BTC or ETH on the cheaper exchange and sell on the dearer one at the same moment.</a:t>
            </a:r>
            <a:endParaRPr lang="en-US" sz="1300" dirty="0"/>
          </a:p>
        </p:txBody>
      </p:sp>
      <p:sp>
        <p:nvSpPr>
          <p:cNvPr id="12" name="Text 9"/>
          <p:cNvSpPr txBox="1"/>
          <p:nvPr/>
        </p:nvSpPr>
        <p:spPr>
          <a:xfrm>
            <a:off x="886968" y="3840480"/>
            <a:ext cx="2926080" cy="594360"/>
          </a:xfrm>
          <a:prstGeom prst="rect">
            <a:avLst/>
          </a:prstGeom>
          <a:noFill/>
          <a:ln/>
        </p:spPr>
        <p:txBody>
          <a:bodyPr wrap="square" lIns="0" tIns="0" rIns="0" bIns="0" rtlCol="0" anchor="t"/>
          <a:lstStyle/>
          <a:p>
            <a:pPr indent="0" marL="0">
              <a:buNone/>
            </a:pPr>
            <a:r>
              <a:rPr lang="en-US" sz="3200" b="1" dirty="0">
                <a:solidFill>
                  <a:schemeClr val="bg1"/>
                </a:solidFill>
              </a:rPr>
              <a:t>−2.3 bps</a:t>
            </a:r>
            <a:endParaRPr lang="en-US" sz="3200" dirty="0"/>
          </a:p>
        </p:txBody>
      </p:sp>
      <p:sp>
        <p:nvSpPr>
          <p:cNvPr id="13" name="Text 10"/>
          <p:cNvSpPr txBox="1"/>
          <p:nvPr/>
        </p:nvSpPr>
        <p:spPr>
          <a:xfrm>
            <a:off x="886968" y="4434840"/>
            <a:ext cx="2926080" cy="457200"/>
          </a:xfrm>
          <a:prstGeom prst="rect">
            <a:avLst/>
          </a:prstGeom>
          <a:noFill/>
          <a:ln/>
        </p:spPr>
        <p:txBody>
          <a:bodyPr wrap="square" lIns="0" tIns="0" rIns="0" bIns="0" rtlCol="0" anchor="t"/>
          <a:lstStyle/>
          <a:p>
            <a:pPr indent="0" marL="0">
              <a:buNone/>
            </a:pPr>
            <a:r>
              <a:rPr lang="en-US" sz="1200" dirty="0">
                <a:solidFill>
                  <a:schemeClr val="bg2"/>
                </a:solidFill>
              </a:rPr>
              <a:t>median price gap at €100k, against a 17 bps cost</a:t>
            </a:r>
            <a:endParaRPr lang="en-US" sz="1200" dirty="0"/>
          </a:p>
        </p:txBody>
      </p:sp>
      <p:sp>
        <p:nvSpPr>
          <p:cNvPr id="14" name="verdict-1"/>
          <p:cNvSpPr/>
          <p:nvPr/>
        </p:nvSpPr>
        <p:spPr>
          <a:xfrm>
            <a:off x="886968" y="4937760"/>
            <a:ext cx="2926080" cy="384048"/>
          </a:xfrm>
          <a:prstGeom prst="roundRect">
            <a:avLst>
              <a:gd name="adj" fmla="val 19048"/>
            </a:avLst>
          </a:prstGeom>
          <a:solidFill>
            <a:schemeClr val="accent1"/>
          </a:solidFill>
          <a:ln w="12700">
            <a:solidFill>
              <a:schemeClr val="accent1"/>
            </a:solidFill>
            <a:prstDash val="solid"/>
          </a:ln>
        </p:spPr>
      </p:sp>
      <p:sp>
        <p:nvSpPr>
          <p:cNvPr id="15" name="Text 12"/>
          <p:cNvSpPr txBox="1"/>
          <p:nvPr/>
        </p:nvSpPr>
        <p:spPr>
          <a:xfrm>
            <a:off x="886968" y="4937760"/>
            <a:ext cx="2926080" cy="384048"/>
          </a:xfrm>
          <a:prstGeom prst="rect">
            <a:avLst/>
          </a:prstGeom>
          <a:noFill/>
          <a:ln/>
        </p:spPr>
        <p:txBody>
          <a:bodyPr wrap="square" lIns="0" tIns="0" rIns="0" bIns="0" rtlCol="0" anchor="ctr"/>
          <a:lstStyle/>
          <a:p>
            <a:pPr algn="ctr" indent="0" marL="0">
              <a:buNone/>
            </a:pPr>
            <a:r>
              <a:rPr lang="en-US" sz="1400" b="1" dirty="0">
                <a:solidFill>
                  <a:schemeClr val="bg1"/>
                </a:solidFill>
              </a:rPr>
              <a:t>No edge</a:t>
            </a:r>
            <a:endParaRPr lang="en-US" sz="1400" dirty="0"/>
          </a:p>
        </p:txBody>
      </p:sp>
      <p:sp>
        <p:nvSpPr>
          <p:cNvPr id="16" name="card-2"/>
          <p:cNvSpPr/>
          <p:nvPr/>
        </p:nvSpPr>
        <p:spPr>
          <a:xfrm>
            <a:off x="4361688" y="2011680"/>
            <a:ext cx="3474720" cy="3520440"/>
          </a:xfrm>
          <a:prstGeom prst="rect">
            <a:avLst/>
          </a:prstGeom>
          <a:solidFill>
            <a:schemeClr val="accent6"/>
          </a:solidFill>
          <a:ln w="12700">
            <a:solidFill>
              <a:schemeClr val="accent6"/>
            </a:solidFill>
            <a:prstDash val="solid"/>
          </a:ln>
        </p:spPr>
      </p:sp>
      <p:sp>
        <p:nvSpPr>
          <p:cNvPr id="17" name="badge-2"/>
          <p:cNvSpPr/>
          <p:nvPr/>
        </p:nvSpPr>
        <p:spPr>
          <a:xfrm>
            <a:off x="4636008" y="2286000"/>
            <a:ext cx="457200" cy="457200"/>
          </a:xfrm>
          <a:prstGeom prst="ellipse">
            <a:avLst/>
          </a:prstGeom>
          <a:solidFill>
            <a:schemeClr val="accent2"/>
          </a:solidFill>
          <a:ln w="12700">
            <a:solidFill>
              <a:schemeClr val="accent2"/>
            </a:solidFill>
            <a:prstDash val="solid"/>
          </a:ln>
        </p:spPr>
      </p:sp>
      <p:sp>
        <p:nvSpPr>
          <p:cNvPr id="18" name="Text 15"/>
          <p:cNvSpPr txBox="1"/>
          <p:nvPr/>
        </p:nvSpPr>
        <p:spPr>
          <a:xfrm>
            <a:off x="4636008"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9" name="Text 16"/>
          <p:cNvSpPr txBox="1"/>
          <p:nvPr/>
        </p:nvSpPr>
        <p:spPr>
          <a:xfrm>
            <a:off x="5230368" y="2286000"/>
            <a:ext cx="2377440" cy="502920"/>
          </a:xfrm>
          <a:prstGeom prst="rect">
            <a:avLst/>
          </a:prstGeom>
          <a:noFill/>
          <a:ln/>
        </p:spPr>
        <p:txBody>
          <a:bodyPr wrap="square" lIns="0" tIns="0" rIns="0" bIns="0" rtlCol="0" anchor="ctr"/>
          <a:lstStyle/>
          <a:p>
            <a:pPr indent="0" marL="0">
              <a:buNone/>
            </a:pPr>
            <a:r>
              <a:rPr lang="en-US" sz="1600" b="1" dirty="0">
                <a:solidFill>
                  <a:schemeClr val="bg1"/>
                </a:solidFill>
              </a:rPr>
              <a:t>Perpetual funding carry</a:t>
            </a:r>
            <a:endParaRPr lang="en-US" sz="1600" dirty="0"/>
          </a:p>
        </p:txBody>
      </p:sp>
      <p:sp>
        <p:nvSpPr>
          <p:cNvPr id="20" name="Text 17"/>
          <p:cNvSpPr txBox="1"/>
          <p:nvPr/>
        </p:nvSpPr>
        <p:spPr>
          <a:xfrm>
            <a:off x="4636008" y="2926080"/>
            <a:ext cx="2926080" cy="868680"/>
          </a:xfrm>
          <a:prstGeom prst="rect">
            <a:avLst/>
          </a:prstGeom>
          <a:noFill/>
          <a:ln/>
        </p:spPr>
        <p:txBody>
          <a:bodyPr wrap="square" lIns="0" tIns="0" rIns="0" bIns="0" rtlCol="0" anchor="t"/>
          <a:lstStyle/>
          <a:p>
            <a:pPr indent="0" marL="0">
              <a:buNone/>
            </a:pPr>
            <a:r>
              <a:rPr lang="en-US" sz="1300" dirty="0">
                <a:solidFill>
                  <a:schemeClr val="bg2"/>
                </a:solidFill>
              </a:rPr>
              <a:t>Buy spot and short the perpetual future; collect the funding that leveraged longs pay.</a:t>
            </a:r>
            <a:endParaRPr lang="en-US" sz="1300" dirty="0"/>
          </a:p>
        </p:txBody>
      </p:sp>
      <p:sp>
        <p:nvSpPr>
          <p:cNvPr id="21" name="Text 18"/>
          <p:cNvSpPr txBox="1"/>
          <p:nvPr/>
        </p:nvSpPr>
        <p:spPr>
          <a:xfrm>
            <a:off x="4636008" y="3840480"/>
            <a:ext cx="2926080" cy="594360"/>
          </a:xfrm>
          <a:prstGeom prst="rect">
            <a:avLst/>
          </a:prstGeom>
          <a:noFill/>
          <a:ln/>
        </p:spPr>
        <p:txBody>
          <a:bodyPr wrap="square" lIns="0" tIns="0" rIns="0" bIns="0" rtlCol="0" anchor="t"/>
          <a:lstStyle/>
          <a:p>
            <a:pPr indent="0" marL="0">
              <a:buNone/>
            </a:pPr>
            <a:r>
              <a:rPr lang="en-US" sz="3200" b="1" dirty="0">
                <a:solidFill>
                  <a:schemeClr val="bg1"/>
                </a:solidFill>
              </a:rPr>
              <a:t>3.3%</a:t>
            </a:r>
            <a:endParaRPr lang="en-US" sz="3200" dirty="0"/>
          </a:p>
        </p:txBody>
      </p:sp>
      <p:sp>
        <p:nvSpPr>
          <p:cNvPr id="22" name="Text 19"/>
          <p:cNvSpPr txBox="1"/>
          <p:nvPr/>
        </p:nvSpPr>
        <p:spPr>
          <a:xfrm>
            <a:off x="4636008" y="4434840"/>
            <a:ext cx="2926080" cy="457200"/>
          </a:xfrm>
          <a:prstGeom prst="rect">
            <a:avLst/>
          </a:prstGeom>
          <a:noFill/>
          <a:ln/>
        </p:spPr>
        <p:txBody>
          <a:bodyPr wrap="square" lIns="0" tIns="0" rIns="0" bIns="0" rtlCol="0" anchor="t"/>
          <a:lstStyle/>
          <a:p>
            <a:pPr indent="0" marL="0">
              <a:buNone/>
            </a:pPr>
            <a:r>
              <a:rPr lang="en-US" sz="1200" dirty="0">
                <a:solidFill>
                  <a:schemeClr val="bg2"/>
                </a:solidFill>
              </a:rPr>
              <a:t>a year of funding (Kraken BTC, 12 months), before hedge and risk</a:t>
            </a:r>
            <a:endParaRPr lang="en-US" sz="1200" dirty="0"/>
          </a:p>
        </p:txBody>
      </p:sp>
      <p:sp>
        <p:nvSpPr>
          <p:cNvPr id="23" name="verdict-2"/>
          <p:cNvSpPr/>
          <p:nvPr/>
        </p:nvSpPr>
        <p:spPr>
          <a:xfrm>
            <a:off x="4636008" y="4937760"/>
            <a:ext cx="2926080" cy="384048"/>
          </a:xfrm>
          <a:prstGeom prst="roundRect">
            <a:avLst>
              <a:gd name="adj" fmla="val 19048"/>
            </a:avLst>
          </a:prstGeom>
          <a:solidFill>
            <a:schemeClr val="accent2"/>
          </a:solidFill>
          <a:ln w="12700">
            <a:solidFill>
              <a:schemeClr val="accent2"/>
            </a:solidFill>
            <a:prstDash val="solid"/>
          </a:ln>
        </p:spPr>
      </p:sp>
      <p:sp>
        <p:nvSpPr>
          <p:cNvPr id="24" name="Text 21"/>
          <p:cNvSpPr txBox="1"/>
          <p:nvPr/>
        </p:nvSpPr>
        <p:spPr>
          <a:xfrm>
            <a:off x="4636008" y="4937760"/>
            <a:ext cx="2926080" cy="384048"/>
          </a:xfrm>
          <a:prstGeom prst="rect">
            <a:avLst/>
          </a:prstGeom>
          <a:noFill/>
          <a:ln/>
        </p:spPr>
        <p:txBody>
          <a:bodyPr wrap="square" lIns="0" tIns="0" rIns="0" bIns="0" rtlCol="0" anchor="ctr"/>
          <a:lstStyle/>
          <a:p>
            <a:pPr algn="ctr" indent="0" marL="0">
              <a:buNone/>
            </a:pPr>
            <a:r>
              <a:rPr lang="en-US" sz="1400" b="1" dirty="0">
                <a:solidFill>
                  <a:schemeClr val="bg1"/>
                </a:solidFill>
              </a:rPr>
              <a:t>Edge ≈ deposit rate</a:t>
            </a:r>
            <a:endParaRPr lang="en-US" sz="1400" dirty="0"/>
          </a:p>
        </p:txBody>
      </p:sp>
      <p:sp>
        <p:nvSpPr>
          <p:cNvPr id="25" name="card-3"/>
          <p:cNvSpPr/>
          <p:nvPr/>
        </p:nvSpPr>
        <p:spPr>
          <a:xfrm>
            <a:off x="8110728" y="2011680"/>
            <a:ext cx="3474720" cy="3520440"/>
          </a:xfrm>
          <a:prstGeom prst="rect">
            <a:avLst/>
          </a:prstGeom>
          <a:solidFill>
            <a:schemeClr val="accent6"/>
          </a:solidFill>
          <a:ln w="12700">
            <a:solidFill>
              <a:schemeClr val="accent6"/>
            </a:solidFill>
            <a:prstDash val="solid"/>
          </a:ln>
        </p:spPr>
      </p:sp>
      <p:sp>
        <p:nvSpPr>
          <p:cNvPr id="26" name="badge-3"/>
          <p:cNvSpPr/>
          <p:nvPr/>
        </p:nvSpPr>
        <p:spPr>
          <a:xfrm>
            <a:off x="8385048" y="2286000"/>
            <a:ext cx="457200" cy="457200"/>
          </a:xfrm>
          <a:prstGeom prst="ellipse">
            <a:avLst/>
          </a:prstGeom>
          <a:solidFill>
            <a:schemeClr val="accent3"/>
          </a:solidFill>
          <a:ln w="12700">
            <a:solidFill>
              <a:schemeClr val="accent3"/>
            </a:solidFill>
            <a:prstDash val="solid"/>
          </a:ln>
        </p:spPr>
      </p:sp>
      <p:sp>
        <p:nvSpPr>
          <p:cNvPr id="27" name="Text 24"/>
          <p:cNvSpPr txBox="1"/>
          <p:nvPr/>
        </p:nvSpPr>
        <p:spPr>
          <a:xfrm>
            <a:off x="8385048"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8" name="Text 25"/>
          <p:cNvSpPr txBox="1"/>
          <p:nvPr/>
        </p:nvSpPr>
        <p:spPr>
          <a:xfrm>
            <a:off x="8979408" y="2286000"/>
            <a:ext cx="2377440" cy="502920"/>
          </a:xfrm>
          <a:prstGeom prst="rect">
            <a:avLst/>
          </a:prstGeom>
          <a:noFill/>
          <a:ln/>
        </p:spPr>
        <p:txBody>
          <a:bodyPr wrap="square" lIns="0" tIns="0" rIns="0" bIns="0" rtlCol="0" anchor="ctr"/>
          <a:lstStyle/>
          <a:p>
            <a:pPr indent="0" marL="0">
              <a:buNone/>
            </a:pPr>
            <a:r>
              <a:rPr lang="en-US" sz="1600" b="1" dirty="0">
                <a:solidFill>
                  <a:schemeClr val="bg1"/>
                </a:solidFill>
              </a:rPr>
              <a:t>EURC depeg capture</a:t>
            </a:r>
            <a:endParaRPr lang="en-US" sz="1600" dirty="0"/>
          </a:p>
        </p:txBody>
      </p:sp>
      <p:sp>
        <p:nvSpPr>
          <p:cNvPr id="29" name="Text 26"/>
          <p:cNvSpPr txBox="1"/>
          <p:nvPr/>
        </p:nvSpPr>
        <p:spPr>
          <a:xfrm>
            <a:off x="8385048" y="2926080"/>
            <a:ext cx="2926080" cy="868680"/>
          </a:xfrm>
          <a:prstGeom prst="rect">
            <a:avLst/>
          </a:prstGeom>
          <a:noFill/>
          <a:ln/>
        </p:spPr>
        <p:txBody>
          <a:bodyPr wrap="square" lIns="0" tIns="0" rIns="0" bIns="0" rtlCol="0" anchor="t"/>
          <a:lstStyle/>
          <a:p>
            <a:pPr indent="0" marL="0">
              <a:buNone/>
            </a:pPr>
            <a:r>
              <a:rPr lang="en-US" sz="1300" dirty="0">
                <a:solidFill>
                  <a:schemeClr val="bg2"/>
                </a:solidFill>
              </a:rPr>
              <a:t>Rest bids below €1 for the euro stablecoin; buy when a seller dumps, sell back near par.</a:t>
            </a:r>
            <a:endParaRPr lang="en-US" sz="1300" dirty="0"/>
          </a:p>
        </p:txBody>
      </p:sp>
      <p:sp>
        <p:nvSpPr>
          <p:cNvPr id="30" name="Text 27"/>
          <p:cNvSpPr txBox="1"/>
          <p:nvPr/>
        </p:nvSpPr>
        <p:spPr>
          <a:xfrm>
            <a:off x="8385048" y="3840480"/>
            <a:ext cx="2926080" cy="594360"/>
          </a:xfrm>
          <a:prstGeom prst="rect">
            <a:avLst/>
          </a:prstGeom>
          <a:noFill/>
          <a:ln/>
        </p:spPr>
        <p:txBody>
          <a:bodyPr wrap="square" lIns="0" tIns="0" rIns="0" bIns="0" rtlCol="0" anchor="t"/>
          <a:lstStyle/>
          <a:p>
            <a:pPr indent="0" marL="0">
              <a:buNone/>
            </a:pPr>
            <a:r>
              <a:rPr lang="en-US" sz="3200" b="1" dirty="0">
                <a:solidFill>
                  <a:schemeClr val="bg1"/>
                </a:solidFill>
              </a:rPr>
              <a:t>€100–300</a:t>
            </a:r>
            <a:endParaRPr lang="en-US" sz="3200" dirty="0"/>
          </a:p>
        </p:txBody>
      </p:sp>
      <p:sp>
        <p:nvSpPr>
          <p:cNvPr id="31" name="Text 28"/>
          <p:cNvSpPr txBox="1"/>
          <p:nvPr/>
        </p:nvSpPr>
        <p:spPr>
          <a:xfrm>
            <a:off x="8385048" y="4434840"/>
            <a:ext cx="2926080" cy="457200"/>
          </a:xfrm>
          <a:prstGeom prst="rect">
            <a:avLst/>
          </a:prstGeom>
          <a:noFill/>
          <a:ln/>
        </p:spPr>
        <p:txBody>
          <a:bodyPr wrap="square" lIns="0" tIns="0" rIns="0" bIns="0" rtlCol="0" anchor="t"/>
          <a:lstStyle/>
          <a:p>
            <a:pPr indent="0" marL="0">
              <a:buNone/>
            </a:pPr>
            <a:r>
              <a:rPr lang="en-US" sz="1200" dirty="0">
                <a:solidFill>
                  <a:schemeClr val="bg2"/>
                </a:solidFill>
              </a:rPr>
              <a:t>a year, realistic, on a €5k sleeve</a:t>
            </a:r>
            <a:endParaRPr lang="en-US" sz="1200" dirty="0"/>
          </a:p>
        </p:txBody>
      </p:sp>
      <p:sp>
        <p:nvSpPr>
          <p:cNvPr id="32" name="verdict-3"/>
          <p:cNvSpPr/>
          <p:nvPr/>
        </p:nvSpPr>
        <p:spPr>
          <a:xfrm>
            <a:off x="8385048" y="4937760"/>
            <a:ext cx="2926080" cy="384048"/>
          </a:xfrm>
          <a:prstGeom prst="roundRect">
            <a:avLst>
              <a:gd name="adj" fmla="val 19048"/>
            </a:avLst>
          </a:prstGeom>
          <a:solidFill>
            <a:schemeClr val="accent3"/>
          </a:solidFill>
          <a:ln w="12700">
            <a:solidFill>
              <a:schemeClr val="accent3"/>
            </a:solidFill>
            <a:prstDash val="solid"/>
          </a:ln>
        </p:spPr>
      </p:sp>
      <p:sp>
        <p:nvSpPr>
          <p:cNvPr id="33" name="Text 30"/>
          <p:cNvSpPr txBox="1"/>
          <p:nvPr/>
        </p:nvSpPr>
        <p:spPr>
          <a:xfrm>
            <a:off x="8385048" y="4937760"/>
            <a:ext cx="2926080" cy="384048"/>
          </a:xfrm>
          <a:prstGeom prst="rect">
            <a:avLst/>
          </a:prstGeom>
          <a:noFill/>
          <a:ln/>
        </p:spPr>
        <p:txBody>
          <a:bodyPr wrap="square" lIns="0" tIns="0" rIns="0" bIns="0" rtlCol="0" anchor="ctr"/>
          <a:lstStyle/>
          <a:p>
            <a:pPr algn="ctr" indent="0" marL="0">
              <a:buNone/>
            </a:pPr>
            <a:r>
              <a:rPr lang="en-US" sz="1400" b="1" dirty="0">
                <a:solidFill>
                  <a:schemeClr val="bg1"/>
                </a:solidFill>
              </a:rPr>
              <a:t>Real edge, tiny capacity</a:t>
            </a:r>
            <a:endParaRPr lang="en-US" sz="1400" dirty="0"/>
          </a:p>
        </p:txBody>
      </p:sp>
      <p:sp>
        <p:nvSpPr>
          <p:cNvPr id="34" name="Text 31"/>
          <p:cNvSpPr txBox="1"/>
          <p:nvPr/>
        </p:nvSpPr>
        <p:spPr>
          <a:xfrm>
            <a:off x="612648" y="5760720"/>
            <a:ext cx="10972800" cy="411480"/>
          </a:xfrm>
          <a:prstGeom prst="rect">
            <a:avLst/>
          </a:prstGeom>
          <a:noFill/>
          <a:ln/>
        </p:spPr>
        <p:txBody>
          <a:bodyPr wrap="square" lIns="0" tIns="0" rIns="0" bIns="0" rtlCol="0" anchor="t"/>
          <a:lstStyle/>
          <a:p>
            <a:pPr indent="0" marL="0">
              <a:buNone/>
            </a:pPr>
            <a:r>
              <a:rPr lang="en-US" sz="1700" b="1" dirty="0">
                <a:solidFill>
                  <a:schemeClr val="bg1"/>
                </a:solidFill>
              </a:rPr>
              <a:t>Decision: deploy none. The €40k test capital stays in the 2.5% deposit.</a:t>
            </a:r>
            <a:endParaRPr lang="en-US" sz="17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lIns="0" tIns="0" rIns="0" bIns="0" rtlCol="0" anchor="t"/>
          <a:lstStyle/>
          <a:p>
            <a:pPr indent="0" marL="0">
              <a:buNone/>
            </a:pPr>
            <a:r>
              <a:rPr lang="en-US" sz="1400" b="1" dirty="0">
                <a:solidFill>
                  <a:schemeClr val="accent5"/>
                </a:solidFill>
              </a:rPr>
              <a:t>01  ·  HOW THE PROJECT GOT HERE</a:t>
            </a: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lIns="0" tIns="0" rIns="0" bIns="0" rtlCol="0" anchor="t"/>
          <a:lstStyle/>
          <a:p>
            <a:pPr algn="l" indent="0" marL="0">
              <a:buNone/>
            </a:pPr>
            <a:r>
              <a:rPr lang="en-US" sz="3200" b="1" dirty="0">
                <a:solidFill>
                  <a:schemeClr val="tx2"/>
                </a:solidFill>
              </a:rPr>
              <a:t>Eighteen months, three strategies, one yardstick</a:t>
            </a: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lIns="0" tIns="0" rIns="0" bIns="0" rtlCol="0" anchor="t"/>
          <a:lstStyle/>
          <a:p>
            <a:pPr indent="0" marL="0">
              <a:buNone/>
            </a:pPr>
            <a:r>
              <a:rPr lang="en-US" sz="1000" dirty="0">
                <a:solidFill>
                  <a:schemeClr val="accent5"/>
                </a:solidFill>
              </a:rPr>
              <a:t>Sources: git history; docs/BSDEX_Explainer_Guide.html; docs/eurc_live_test.md; data/meta.json. Bitstamp stands in for BSDEX (its API needs keys).</a:t>
            </a:r>
            <a:endParaRPr lang="en-US" sz="1000" dirty="0"/>
          </a:p>
        </p:txBody>
      </p:sp>
      <p:sp>
        <p:nvSpPr>
          <p:cNvPr id="6" name="timeline"/>
          <p:cNvSpPr/>
          <p:nvPr/>
        </p:nvSpPr>
        <p:spPr>
          <a:xfrm>
            <a:off x="749808" y="1737360"/>
            <a:ext cx="10698480" cy="0"/>
          </a:xfrm>
          <a:prstGeom prst="line">
            <a:avLst/>
          </a:prstGeom>
          <a:noFill/>
          <a:ln w="25400">
            <a:solidFill>
              <a:srgbClr val="D6DFE2"/>
            </a:solidFill>
            <a:prstDash val="solid"/>
          </a:ln>
        </p:spPr>
      </p:sp>
      <p:sp>
        <p:nvSpPr>
          <p:cNvPr id="7" name="milestone-1"/>
          <p:cNvSpPr/>
          <p:nvPr/>
        </p:nvSpPr>
        <p:spPr>
          <a:xfrm>
            <a:off x="658368" y="1627632"/>
            <a:ext cx="219456" cy="219456"/>
          </a:xfrm>
          <a:prstGeom prst="ellipse">
            <a:avLst/>
          </a:prstGeom>
          <a:solidFill>
            <a:schemeClr val="tx2"/>
          </a:solidFill>
          <a:ln w="19050">
            <a:solidFill>
              <a:schemeClr val="bg1"/>
            </a:solidFill>
            <a:prstDash val="solid"/>
          </a:ln>
        </p:spPr>
      </p:sp>
      <p:sp>
        <p:nvSpPr>
          <p:cNvPr id="8" name="Text 5"/>
          <p:cNvSpPr txBox="1"/>
          <p:nvPr/>
        </p:nvSpPr>
        <p:spPr>
          <a:xfrm>
            <a:off x="612648" y="1984248"/>
            <a:ext cx="2011680" cy="274320"/>
          </a:xfrm>
          <a:prstGeom prst="rect">
            <a:avLst/>
          </a:prstGeom>
          <a:noFill/>
          <a:ln/>
        </p:spPr>
        <p:txBody>
          <a:bodyPr wrap="square" lIns="0" tIns="0" rIns="0" bIns="0" rtlCol="0" anchor="t"/>
          <a:lstStyle/>
          <a:p>
            <a:pPr indent="0" marL="0">
              <a:buNone/>
            </a:pPr>
            <a:r>
              <a:rPr lang="en-US" sz="1200" b="1" dirty="0">
                <a:solidFill>
                  <a:schemeClr val="accent5"/>
                </a:solidFill>
              </a:rPr>
              <a:t>May 2025</a:t>
            </a:r>
            <a:endParaRPr lang="en-US" sz="1200" dirty="0"/>
          </a:p>
        </p:txBody>
      </p:sp>
      <p:sp>
        <p:nvSpPr>
          <p:cNvPr id="9" name="Text 6"/>
          <p:cNvSpPr txBox="1"/>
          <p:nvPr/>
        </p:nvSpPr>
        <p:spPr>
          <a:xfrm>
            <a:off x="612648" y="2258568"/>
            <a:ext cx="2011680" cy="292608"/>
          </a:xfrm>
          <a:prstGeom prst="rect">
            <a:avLst/>
          </a:prstGeom>
          <a:noFill/>
          <a:ln/>
        </p:spPr>
        <p:txBody>
          <a:bodyPr wrap="square" lIns="0" tIns="0" rIns="0" bIns="0" rtlCol="0" anchor="t"/>
          <a:lstStyle/>
          <a:p>
            <a:pPr indent="0" marL="0">
              <a:buNone/>
            </a:pPr>
            <a:r>
              <a:rPr lang="en-US" sz="1500" b="1" dirty="0">
                <a:solidFill>
                  <a:schemeClr val="tx2"/>
                </a:solidFill>
              </a:rPr>
              <a:t>Prototype</a:t>
            </a:r>
            <a:endParaRPr lang="en-US" sz="1500" dirty="0"/>
          </a:p>
        </p:txBody>
      </p:sp>
      <p:sp>
        <p:nvSpPr>
          <p:cNvPr id="10" name="Text 7"/>
          <p:cNvSpPr txBox="1"/>
          <p:nvPr/>
        </p:nvSpPr>
        <p:spPr>
          <a:xfrm>
            <a:off x="612648" y="2569464"/>
            <a:ext cx="1965960" cy="777240"/>
          </a:xfrm>
          <a:prstGeom prst="rect">
            <a:avLst/>
          </a:prstGeom>
          <a:noFill/>
          <a:ln/>
        </p:spPr>
        <p:txBody>
          <a:bodyPr wrap="square" lIns="0" tIns="0" rIns="0" bIns="0" rtlCol="0" anchor="t"/>
          <a:lstStyle/>
          <a:p>
            <a:pPr indent="0" marL="0">
              <a:buNone/>
            </a:pPr>
            <a:r>
              <a:rPr lang="en-US" sz="1150" dirty="0">
                <a:solidFill>
                  <a:schemeClr val="tx1"/>
                </a:solidFill>
              </a:rPr>
              <a:t>Binance vs Kraken z-score engine, live paper trading, web dashboard</a:t>
            </a:r>
            <a:endParaRPr lang="en-US" sz="1150" dirty="0"/>
          </a:p>
        </p:txBody>
      </p:sp>
      <p:sp>
        <p:nvSpPr>
          <p:cNvPr id="11" name="milestone-2"/>
          <p:cNvSpPr/>
          <p:nvPr/>
        </p:nvSpPr>
        <p:spPr>
          <a:xfrm>
            <a:off x="2852928" y="1627632"/>
            <a:ext cx="219456" cy="219456"/>
          </a:xfrm>
          <a:prstGeom prst="ellipse">
            <a:avLst/>
          </a:prstGeom>
          <a:solidFill>
            <a:schemeClr val="tx2"/>
          </a:solidFill>
          <a:ln w="19050">
            <a:solidFill>
              <a:schemeClr val="bg1"/>
            </a:solidFill>
            <a:prstDash val="solid"/>
          </a:ln>
        </p:spPr>
      </p:sp>
      <p:sp>
        <p:nvSpPr>
          <p:cNvPr id="12" name="Text 9"/>
          <p:cNvSpPr txBox="1"/>
          <p:nvPr/>
        </p:nvSpPr>
        <p:spPr>
          <a:xfrm>
            <a:off x="2807208" y="1984248"/>
            <a:ext cx="2011680" cy="274320"/>
          </a:xfrm>
          <a:prstGeom prst="rect">
            <a:avLst/>
          </a:prstGeom>
          <a:noFill/>
          <a:ln/>
        </p:spPr>
        <p:txBody>
          <a:bodyPr wrap="square" lIns="0" tIns="0" rIns="0" bIns="0" rtlCol="0" anchor="t"/>
          <a:lstStyle/>
          <a:p>
            <a:pPr indent="0" marL="0">
              <a:buNone/>
            </a:pPr>
            <a:r>
              <a:rPr lang="en-US" sz="1200" b="1" dirty="0">
                <a:solidFill>
                  <a:schemeClr val="accent5"/>
                </a:solidFill>
              </a:rPr>
              <a:t>May–Jun 2026</a:t>
            </a:r>
            <a:endParaRPr lang="en-US" sz="1200" dirty="0"/>
          </a:p>
        </p:txBody>
      </p:sp>
      <p:sp>
        <p:nvSpPr>
          <p:cNvPr id="13" name="Text 10"/>
          <p:cNvSpPr txBox="1"/>
          <p:nvPr/>
        </p:nvSpPr>
        <p:spPr>
          <a:xfrm>
            <a:off x="2807208" y="2258568"/>
            <a:ext cx="2011680" cy="292608"/>
          </a:xfrm>
          <a:prstGeom prst="rect">
            <a:avLst/>
          </a:prstGeom>
          <a:noFill/>
          <a:ln/>
        </p:spPr>
        <p:txBody>
          <a:bodyPr wrap="square" lIns="0" tIns="0" rIns="0" bIns="0" rtlCol="0" anchor="t"/>
          <a:lstStyle/>
          <a:p>
            <a:pPr indent="0" marL="0">
              <a:buNone/>
            </a:pPr>
            <a:r>
              <a:rPr lang="en-US" sz="1500" b="1" dirty="0">
                <a:solidFill>
                  <a:schemeClr val="tx2"/>
                </a:solidFill>
              </a:rPr>
              <a:t>Institutional model</a:t>
            </a:r>
            <a:endParaRPr lang="en-US" sz="1500" dirty="0"/>
          </a:p>
        </p:txBody>
      </p:sp>
      <p:sp>
        <p:nvSpPr>
          <p:cNvPr id="14" name="Text 11"/>
          <p:cNvSpPr txBox="1"/>
          <p:nvPr/>
        </p:nvSpPr>
        <p:spPr>
          <a:xfrm>
            <a:off x="2807208" y="2569464"/>
            <a:ext cx="1965960" cy="777240"/>
          </a:xfrm>
          <a:prstGeom prst="rect">
            <a:avLst/>
          </a:prstGeom>
          <a:noFill/>
          <a:ln/>
        </p:spPr>
        <p:txBody>
          <a:bodyPr wrap="square" lIns="0" tIns="0" rIns="0" bIns="0" rtlCol="0" anchor="t"/>
          <a:lstStyle/>
          <a:p>
            <a:pPr indent="0" marL="0">
              <a:buNone/>
            </a:pPr>
            <a:r>
              <a:rPr lang="en-US" sz="1150" dirty="0">
                <a:solidFill>
                  <a:schemeClr val="tx1"/>
                </a:solidFill>
              </a:rPr>
              <a:t>"BSDEX vs World": bank fee tiers, live EUR/USDT, full-depth prices, slippage</a:t>
            </a:r>
            <a:endParaRPr lang="en-US" sz="1150" dirty="0"/>
          </a:p>
        </p:txBody>
      </p:sp>
      <p:sp>
        <p:nvSpPr>
          <p:cNvPr id="15" name="milestone-3"/>
          <p:cNvSpPr/>
          <p:nvPr/>
        </p:nvSpPr>
        <p:spPr>
          <a:xfrm>
            <a:off x="5047488" y="1627632"/>
            <a:ext cx="219456" cy="219456"/>
          </a:xfrm>
          <a:prstGeom prst="ellipse">
            <a:avLst/>
          </a:prstGeom>
          <a:solidFill>
            <a:schemeClr val="tx2"/>
          </a:solidFill>
          <a:ln w="19050">
            <a:solidFill>
              <a:schemeClr val="bg1"/>
            </a:solidFill>
            <a:prstDash val="solid"/>
          </a:ln>
        </p:spPr>
      </p:sp>
      <p:sp>
        <p:nvSpPr>
          <p:cNvPr id="16" name="Text 13"/>
          <p:cNvSpPr txBox="1"/>
          <p:nvPr/>
        </p:nvSpPr>
        <p:spPr>
          <a:xfrm>
            <a:off x="5001768" y="1984248"/>
            <a:ext cx="2011680" cy="274320"/>
          </a:xfrm>
          <a:prstGeom prst="rect">
            <a:avLst/>
          </a:prstGeom>
          <a:noFill/>
          <a:ln/>
        </p:spPr>
        <p:txBody>
          <a:bodyPr wrap="square" lIns="0" tIns="0" rIns="0" bIns="0" rtlCol="0" anchor="t"/>
          <a:lstStyle/>
          <a:p>
            <a:pPr indent="0" marL="0">
              <a:buNone/>
            </a:pPr>
            <a:r>
              <a:rPr lang="en-US" sz="1200" b="1" dirty="0">
                <a:solidFill>
                  <a:schemeClr val="accent5"/>
                </a:solidFill>
              </a:rPr>
              <a:t>11–15 Oct 2026</a:t>
            </a:r>
            <a:endParaRPr lang="en-US" sz="1200" dirty="0"/>
          </a:p>
        </p:txBody>
      </p:sp>
      <p:sp>
        <p:nvSpPr>
          <p:cNvPr id="17" name="Text 14"/>
          <p:cNvSpPr txBox="1"/>
          <p:nvPr/>
        </p:nvSpPr>
        <p:spPr>
          <a:xfrm>
            <a:off x="5001768" y="2258568"/>
            <a:ext cx="2011680" cy="292608"/>
          </a:xfrm>
          <a:prstGeom prst="rect">
            <a:avLst/>
          </a:prstGeom>
          <a:noFill/>
          <a:ln/>
        </p:spPr>
        <p:txBody>
          <a:bodyPr wrap="square" lIns="0" tIns="0" rIns="0" bIns="0" rtlCol="0" anchor="t"/>
          <a:lstStyle/>
          <a:p>
            <a:pPr indent="0" marL="0">
              <a:buNone/>
            </a:pPr>
            <a:r>
              <a:rPr lang="en-US" sz="1500" b="1" dirty="0">
                <a:solidFill>
                  <a:schemeClr val="tx2"/>
                </a:solidFill>
              </a:rPr>
              <a:t>Audit + live run</a:t>
            </a:r>
            <a:endParaRPr lang="en-US" sz="1500" dirty="0"/>
          </a:p>
        </p:txBody>
      </p:sp>
      <p:sp>
        <p:nvSpPr>
          <p:cNvPr id="18" name="Text 15"/>
          <p:cNvSpPr txBox="1"/>
          <p:nvPr/>
        </p:nvSpPr>
        <p:spPr>
          <a:xfrm>
            <a:off x="5001768" y="2569464"/>
            <a:ext cx="1965960" cy="777240"/>
          </a:xfrm>
          <a:prstGeom prst="rect">
            <a:avLst/>
          </a:prstGeom>
          <a:noFill/>
          <a:ln/>
        </p:spPr>
        <p:txBody>
          <a:bodyPr wrap="square" lIns="0" tIns="0" rIns="0" bIns="0" rtlCol="0" anchor="t"/>
          <a:lstStyle/>
          <a:p>
            <a:pPr indent="0" marL="0">
              <a:buNone/>
            </a:pPr>
            <a:r>
              <a:rPr lang="en-US" sz="1150" dirty="0">
                <a:solidFill>
                  <a:schemeClr val="tx1"/>
                </a:solidFill>
              </a:rPr>
              <a:t>Three backtest bugs fixed; 4-hour live campaign at €100k per leg</a:t>
            </a:r>
            <a:endParaRPr lang="en-US" sz="1150" dirty="0"/>
          </a:p>
        </p:txBody>
      </p:sp>
      <p:sp>
        <p:nvSpPr>
          <p:cNvPr id="19" name="milestone-4"/>
          <p:cNvSpPr/>
          <p:nvPr/>
        </p:nvSpPr>
        <p:spPr>
          <a:xfrm>
            <a:off x="7242048" y="1627632"/>
            <a:ext cx="219456" cy="219456"/>
          </a:xfrm>
          <a:prstGeom prst="ellipse">
            <a:avLst/>
          </a:prstGeom>
          <a:solidFill>
            <a:schemeClr val="tx2"/>
          </a:solidFill>
          <a:ln w="19050">
            <a:solidFill>
              <a:schemeClr val="bg1"/>
            </a:solidFill>
            <a:prstDash val="solid"/>
          </a:ln>
        </p:spPr>
      </p:sp>
      <p:sp>
        <p:nvSpPr>
          <p:cNvPr id="20" name="Text 17"/>
          <p:cNvSpPr txBox="1"/>
          <p:nvPr/>
        </p:nvSpPr>
        <p:spPr>
          <a:xfrm>
            <a:off x="7196328" y="1984248"/>
            <a:ext cx="2011680" cy="274320"/>
          </a:xfrm>
          <a:prstGeom prst="rect">
            <a:avLst/>
          </a:prstGeom>
          <a:noFill/>
          <a:ln/>
        </p:spPr>
        <p:txBody>
          <a:bodyPr wrap="square" lIns="0" tIns="0" rIns="0" bIns="0" rtlCol="0" anchor="t"/>
          <a:lstStyle/>
          <a:p>
            <a:pPr indent="0" marL="0">
              <a:buNone/>
            </a:pPr>
            <a:r>
              <a:rPr lang="en-US" sz="1200" b="1" dirty="0">
                <a:solidFill>
                  <a:schemeClr val="accent5"/>
                </a:solidFill>
              </a:rPr>
              <a:t>13–22 Oct 2026</a:t>
            </a:r>
            <a:endParaRPr lang="en-US" sz="1200" dirty="0"/>
          </a:p>
        </p:txBody>
      </p:sp>
      <p:sp>
        <p:nvSpPr>
          <p:cNvPr id="21" name="Text 18"/>
          <p:cNvSpPr txBox="1"/>
          <p:nvPr/>
        </p:nvSpPr>
        <p:spPr>
          <a:xfrm>
            <a:off x="7196328" y="2258568"/>
            <a:ext cx="2011680" cy="292608"/>
          </a:xfrm>
          <a:prstGeom prst="rect">
            <a:avLst/>
          </a:prstGeom>
          <a:noFill/>
          <a:ln/>
        </p:spPr>
        <p:txBody>
          <a:bodyPr wrap="square" lIns="0" tIns="0" rIns="0" bIns="0" rtlCol="0" anchor="t"/>
          <a:lstStyle/>
          <a:p>
            <a:pPr indent="0" marL="0">
              <a:buNone/>
            </a:pPr>
            <a:r>
              <a:rPr lang="en-US" sz="1500" b="1" dirty="0">
                <a:solidFill>
                  <a:schemeClr val="tx2"/>
                </a:solidFill>
              </a:rPr>
              <a:t>Alternatives</a:t>
            </a:r>
            <a:endParaRPr lang="en-US" sz="1500" dirty="0"/>
          </a:p>
        </p:txBody>
      </p:sp>
      <p:sp>
        <p:nvSpPr>
          <p:cNvPr id="22" name="Text 19"/>
          <p:cNvSpPr txBox="1"/>
          <p:nvPr/>
        </p:nvSpPr>
        <p:spPr>
          <a:xfrm>
            <a:off x="7196328" y="2569464"/>
            <a:ext cx="1965960" cy="777240"/>
          </a:xfrm>
          <a:prstGeom prst="rect">
            <a:avLst/>
          </a:prstGeom>
          <a:noFill/>
          <a:ln/>
        </p:spPr>
        <p:txBody>
          <a:bodyPr wrap="square" lIns="0" tIns="0" rIns="0" bIns="0" rtlCol="0" anchor="t"/>
          <a:lstStyle/>
          <a:p>
            <a:pPr indent="0" marL="0">
              <a:buNone/>
            </a:pPr>
            <a:r>
              <a:rPr lang="en-US" sz="1150" dirty="0">
                <a:solidFill>
                  <a:schemeClr val="tx1"/>
                </a:solidFill>
              </a:rPr>
              <a:t>Perpetual carry (12 months of funding) and EURC (live test + daily history)</a:t>
            </a:r>
            <a:endParaRPr lang="en-US" sz="1150" dirty="0"/>
          </a:p>
        </p:txBody>
      </p:sp>
      <p:sp>
        <p:nvSpPr>
          <p:cNvPr id="23" name="milestone-5"/>
          <p:cNvSpPr/>
          <p:nvPr/>
        </p:nvSpPr>
        <p:spPr>
          <a:xfrm>
            <a:off x="9436608" y="1627632"/>
            <a:ext cx="219456" cy="219456"/>
          </a:xfrm>
          <a:prstGeom prst="ellipse">
            <a:avLst/>
          </a:prstGeom>
          <a:solidFill>
            <a:schemeClr val="accent4"/>
          </a:solidFill>
          <a:ln w="19050">
            <a:solidFill>
              <a:schemeClr val="bg1"/>
            </a:solidFill>
            <a:prstDash val="solid"/>
          </a:ln>
        </p:spPr>
      </p:sp>
      <p:sp>
        <p:nvSpPr>
          <p:cNvPr id="24" name="Text 21"/>
          <p:cNvSpPr txBox="1"/>
          <p:nvPr/>
        </p:nvSpPr>
        <p:spPr>
          <a:xfrm>
            <a:off x="9390888" y="1984248"/>
            <a:ext cx="2011680" cy="274320"/>
          </a:xfrm>
          <a:prstGeom prst="rect">
            <a:avLst/>
          </a:prstGeom>
          <a:noFill/>
          <a:ln/>
        </p:spPr>
        <p:txBody>
          <a:bodyPr wrap="square" lIns="0" tIns="0" rIns="0" bIns="0" rtlCol="0" anchor="t"/>
          <a:lstStyle/>
          <a:p>
            <a:pPr indent="0" marL="0">
              <a:buNone/>
            </a:pPr>
            <a:r>
              <a:rPr lang="en-US" sz="1200" b="1" dirty="0">
                <a:solidFill>
                  <a:schemeClr val="accent5"/>
                </a:solidFill>
              </a:rPr>
              <a:t>22 Oct 2026</a:t>
            </a:r>
            <a:endParaRPr lang="en-US" sz="1200" dirty="0"/>
          </a:p>
        </p:txBody>
      </p:sp>
      <p:sp>
        <p:nvSpPr>
          <p:cNvPr id="25" name="Text 22"/>
          <p:cNvSpPr txBox="1"/>
          <p:nvPr/>
        </p:nvSpPr>
        <p:spPr>
          <a:xfrm>
            <a:off x="9390888" y="2258568"/>
            <a:ext cx="2011680" cy="292608"/>
          </a:xfrm>
          <a:prstGeom prst="rect">
            <a:avLst/>
          </a:prstGeom>
          <a:noFill/>
          <a:ln/>
        </p:spPr>
        <p:txBody>
          <a:bodyPr wrap="square" lIns="0" tIns="0" rIns="0" bIns="0" rtlCol="0" anchor="t"/>
          <a:lstStyle/>
          <a:p>
            <a:pPr indent="0" marL="0">
              <a:buNone/>
            </a:pPr>
            <a:r>
              <a:rPr lang="en-US" sz="1500" b="1" dirty="0">
                <a:solidFill>
                  <a:schemeClr val="tx2"/>
                </a:solidFill>
              </a:rPr>
              <a:t>Decision</a:t>
            </a:r>
            <a:endParaRPr lang="en-US" sz="1500" dirty="0"/>
          </a:p>
        </p:txBody>
      </p:sp>
      <p:sp>
        <p:nvSpPr>
          <p:cNvPr id="26" name="Text 23"/>
          <p:cNvSpPr txBox="1"/>
          <p:nvPr/>
        </p:nvSpPr>
        <p:spPr>
          <a:xfrm>
            <a:off x="9390888" y="2569464"/>
            <a:ext cx="1965960" cy="777240"/>
          </a:xfrm>
          <a:prstGeom prst="rect">
            <a:avLst/>
          </a:prstGeom>
          <a:noFill/>
          <a:ln/>
        </p:spPr>
        <p:txBody>
          <a:bodyPr wrap="square" lIns="0" tIns="0" rIns="0" bIns="0" rtlCol="0" anchor="t"/>
          <a:lstStyle/>
          <a:p>
            <a:pPr indent="0" marL="0">
              <a:buNone/>
            </a:pPr>
            <a:r>
              <a:rPr lang="en-US" sz="1150" dirty="0">
                <a:solidFill>
                  <a:schemeClr val="tx1"/>
                </a:solidFill>
              </a:rPr>
              <a:t>Deploy none; keep the €40k in the deposit</a:t>
            </a:r>
            <a:endParaRPr lang="en-US" sz="1150" dirty="0"/>
          </a:p>
        </p:txBody>
      </p:sp>
      <p:graphicFrame>
        <p:nvGraphicFramePr>
          <p:cNvPr id="3" name="evidence-table"/>
          <p:cNvGraphicFramePr>
            <a:graphicFrameLocks noGrp="1"/>
          </p:cNvGraphicFramePr>
          <p:nvPr>
            <p:extLst>
              <p:ext uri="{D42A27DB-BD31-4B8C-83A1-F6EECF244321}">
                <p14:modId xmlns:p14="http://schemas.microsoft.com/office/powerpoint/2010/main" val="1579011935"/>
              </p:ext>
            </p:extLst>
          </p:nvPr>
        </p:nvGraphicFramePr>
        <p:xfrm>
          <a:off x="612648" y="3520440"/>
          <a:ext cx="10972800" cy="914400"/>
        </p:xfrm>
        <a:graphic>
          <a:graphicData uri="http://schemas.openxmlformats.org/drawingml/2006/table">
            <a:tbl>
              <a:tblPr/>
              <a:tblGrid>
                <a:gridCol w="2514600"/>
                <a:gridCol w="2606040"/>
                <a:gridCol w="3429000"/>
                <a:gridCol w="2423160"/>
              </a:tblGrid>
              <a:tr h="365760">
                <a:tc>
                  <a:txBody>
                    <a:bodyPr/>
                    <a:lstStyle/>
                    <a:p>
                      <a:pPr indent="0" marL="0">
                        <a:buNone/>
                      </a:pPr>
                      <a:r>
                        <a:rPr lang="en-US" sz="1250" b="1" dirty="0">
                          <a:solidFill>
                            <a:srgbClr val="FFFFFF"/>
                          </a:solidFill>
                        </a:rPr>
                        <a:t>Strategy</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c>
                  <a:txBody>
                    <a:bodyPr/>
                    <a:lstStyle/>
                    <a:p>
                      <a:pPr indent="0" marL="0">
                        <a:buNone/>
                      </a:pPr>
                      <a:r>
                        <a:rPr lang="en-US" sz="1250" b="1" dirty="0">
                          <a:solidFill>
                            <a:srgbClr val="FFFFFF"/>
                          </a:solidFill>
                        </a:rPr>
                        <a:t>Venues</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c>
                  <a:txBody>
                    <a:bodyPr/>
                    <a:lstStyle/>
                    <a:p>
                      <a:pPr indent="0" marL="0">
                        <a:buNone/>
                      </a:pPr>
                      <a:r>
                        <a:rPr lang="en-US" sz="1250" b="1" dirty="0">
                          <a:solidFill>
                            <a:srgbClr val="FFFFFF"/>
                          </a:solidFill>
                        </a:rPr>
                        <a:t>Evidence</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c>
                  <a:txBody>
                    <a:bodyPr/>
                    <a:lstStyle/>
                    <a:p>
                      <a:pPr indent="0" marL="0">
                        <a:buNone/>
                      </a:pPr>
                      <a:r>
                        <a:rPr lang="en-US" sz="1250" b="1" dirty="0">
                          <a:solidFill>
                            <a:srgbClr val="FFFFFF"/>
                          </a:solidFill>
                        </a:rPr>
                        <a:t>Live test</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r>
              <a:tr h="502920">
                <a:tc>
                  <a:txBody>
                    <a:bodyPr/>
                    <a:lstStyle/>
                    <a:p>
                      <a:pPr indent="0" marL="0">
                        <a:buNone/>
                      </a:pPr>
                      <a:r>
                        <a:rPr lang="en-US" sz="1250" b="1" dirty="0">
                          <a:solidFill>
                            <a:srgbClr val="2F5D8A"/>
                          </a:solidFill>
                        </a:rPr>
                        <a:t>1  Cross-exchange spot</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250" dirty="0">
                          <a:solidFill>
                            <a:srgbClr val="18313B"/>
                          </a:solidFill>
                        </a:rPr>
                        <a:t>Bitstamp EUR, Binance USDT→EUR, Kraken</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250" dirty="0">
                          <a:solidFill>
                            <a:srgbClr val="18313B"/>
                          </a:solidFill>
                        </a:rPr>
                        <a:t>136-setting backtest sweep, order-book replays, verified 1-week backtest</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250" dirty="0">
                          <a:solidFill>
                            <a:srgbClr val="18313B"/>
                          </a:solidFill>
                        </a:rPr>
                        <a:t>4 h on 14 Oct, 49,825 snapshots per coin</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r>
              <a:tr h="502920">
                <a:tc>
                  <a:txBody>
                    <a:bodyPr/>
                    <a:lstStyle/>
                    <a:p>
                      <a:pPr indent="0" marL="0">
                        <a:buNone/>
                      </a:pPr>
                      <a:r>
                        <a:rPr lang="en-US" sz="1250" b="1" dirty="0">
                          <a:solidFill>
                            <a:srgbClr val="B7791F"/>
                          </a:solidFill>
                        </a:rPr>
                        <a:t>2  Perpetual funding carry</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250" dirty="0">
                          <a:solidFill>
                            <a:srgbClr val="18313B"/>
                          </a:solidFill>
                        </a:rPr>
                        <a:t>Kraken, Deribit, OKX perpetuals</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250" dirty="0">
                          <a:solidFill>
                            <a:srgbClr val="18313B"/>
                          </a:solidFill>
                        </a:rPr>
                        <a:t>12 months of hourly funding; EU fee schedules and access</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250" dirty="0">
                          <a:solidFill>
                            <a:srgbClr val="18313B"/>
                          </a:solidFill>
                        </a:rPr>
                        <a:t>None: profit accrues over months, not hours</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r>
              <a:tr h="502920">
                <a:tc>
                  <a:txBody>
                    <a:bodyPr/>
                    <a:lstStyle/>
                    <a:p>
                      <a:pPr indent="0" marL="0">
                        <a:buNone/>
                      </a:pPr>
                      <a:r>
                        <a:rPr lang="en-US" sz="1250" b="1" dirty="0">
                          <a:solidFill>
                            <a:srgbClr val="2F7D6D"/>
                          </a:solidFill>
                        </a:rPr>
                        <a:t>3  EURC depeg capture</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250" dirty="0">
                          <a:solidFill>
                            <a:srgbClr val="18313B"/>
                          </a:solidFill>
                        </a:rPr>
                        <a:t>Bitvavo, Kraken, Bitstamp (EURC/EUR)</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250" dirty="0">
                          <a:solidFill>
                            <a:srgbClr val="18313B"/>
                          </a:solidFill>
                        </a:rPr>
                        <a:t>12 months of daily candles; resting-bid ladder backtest</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250" dirty="0">
                          <a:solidFill>
                            <a:srgbClr val="18313B"/>
                          </a:solidFill>
                        </a:rPr>
                        <a:t>2.6 h on 22 Oct, three venues, rules set in advance</a:t>
                      </a:r>
                      <a:endParaRPr lang="en-US" sz="1250" dirty="0"/>
                    </a:p>
                  </a:txBody>
                  <a:tcPr marL="91440" marR="91440"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r>
            </a:tbl>
          </a:graphicData>
        </a:graphic>
      </p:graphicFrame>
      <p:sp>
        <p:nvSpPr>
          <p:cNvPr id="28" name="yardstick"/>
          <p:cNvSpPr/>
          <p:nvPr/>
        </p:nvSpPr>
        <p:spPr>
          <a:xfrm>
            <a:off x="612648" y="5623560"/>
            <a:ext cx="10972800" cy="566928"/>
          </a:xfrm>
          <a:prstGeom prst="rect">
            <a:avLst/>
          </a:prstGeom>
          <a:solidFill>
            <a:schemeClr val="bg2"/>
          </a:solidFill>
          <a:ln w="12700">
            <a:solidFill>
              <a:schemeClr val="bg2"/>
            </a:solidFill>
            <a:prstDash val="solid"/>
          </a:ln>
        </p:spPr>
      </p:sp>
      <p:sp>
        <p:nvSpPr>
          <p:cNvPr id="29" name="Text 25"/>
          <p:cNvSpPr txBox="1"/>
          <p:nvPr/>
        </p:nvSpPr>
        <p:spPr>
          <a:xfrm>
            <a:off x="841248" y="5623560"/>
            <a:ext cx="10515600" cy="566928"/>
          </a:xfrm>
          <a:prstGeom prst="rect">
            <a:avLst/>
          </a:prstGeom>
          <a:noFill/>
          <a:ln/>
        </p:spPr>
        <p:txBody>
          <a:bodyPr wrap="square" lIns="0" tIns="0" rIns="0" bIns="0" rtlCol="0" anchor="ctr"/>
          <a:lstStyle/>
          <a:p>
            <a:pPr indent="0" marL="0">
              <a:buNone/>
            </a:pPr>
            <a:r>
              <a:rPr lang="en-US" sz="1400" b="1" dirty="0">
                <a:solidFill>
                  <a:schemeClr val="tx2"/>
                </a:solidFill>
              </a:rPr>
              <a:t>Same yardstick for all three:  </a:t>
            </a:r>
            <a:pPr indent="0" marL="0">
              <a:buNone/>
            </a:pPr>
            <a:r>
              <a:rPr lang="en-US" sz="1400" dirty="0">
                <a:solidFill>
                  <a:schemeClr val="tx1"/>
                </a:solidFill>
              </a:rPr>
              <a:t>net of every fee, spread, currency, funding and idle-capital cost, measured against a 2.5% EUR deposit.</a:t>
            </a:r>
            <a:endParaRPr lang="en-US" sz="14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lIns="0" tIns="0" rIns="0" bIns="0" rtlCol="0" anchor="t"/>
          <a:lstStyle/>
          <a:p>
            <a:pPr indent="0" marL="0">
              <a:buNone/>
            </a:pPr>
            <a:r>
              <a:rPr lang="en-US" sz="1400" b="1" dirty="0">
                <a:solidFill>
                  <a:schemeClr val="accent1"/>
                </a:solidFill>
              </a:rPr>
              <a:t>STRATEGY 1  ·  CROSS-EXCHANGE SPOT ARBITRAGE</a:t>
            </a: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lIns="0" tIns="0" rIns="0" bIns="0" rtlCol="0" anchor="t"/>
          <a:lstStyle/>
          <a:p>
            <a:pPr algn="l" indent="0" marL="0">
              <a:buNone/>
            </a:pPr>
            <a:r>
              <a:rPr lang="en-US" sz="3200" b="1" dirty="0">
                <a:solidFill>
                  <a:schemeClr val="tx2"/>
                </a:solidFill>
              </a:rPr>
              <a:t>The price gap is smaller than the cost of trading it</a:t>
            </a: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lIns="0" tIns="0" rIns="0" bIns="0" rtlCol="0" anchor="t"/>
          <a:lstStyle/>
          <a:p>
            <a:pPr indent="0" marL="0">
              <a:buNone/>
            </a:pPr>
            <a:r>
              <a:rPr lang="en-US" sz="1000" dirty="0">
                <a:solidFill>
                  <a:schemeClr val="accent5"/>
                </a:solidFill>
              </a:rPr>
              <a:t>Live campaign 14 Oct 2026, 4 h (docs/BSDEX_Explainer_Guide.html); gap after crossing both books, before fees. Backtest: BTC/EUR 24 Sep–1 Oct 2026.</a:t>
            </a:r>
            <a:endParaRPr lang="en-US" sz="1000" dirty="0"/>
          </a:p>
        </p:txBody>
      </p:sp>
      <p:sp>
        <p:nvSpPr>
          <p:cNvPr id="6" name="Text 3"/>
          <p:cNvSpPr txBox="1"/>
          <p:nvPr/>
        </p:nvSpPr>
        <p:spPr>
          <a:xfrm>
            <a:off x="612648" y="1298448"/>
            <a:ext cx="10972800" cy="365760"/>
          </a:xfrm>
          <a:prstGeom prst="rect">
            <a:avLst/>
          </a:prstGeom>
          <a:noFill/>
          <a:ln/>
        </p:spPr>
        <p:txBody>
          <a:bodyPr wrap="square" lIns="0" tIns="0" rIns="0" bIns="0" rtlCol="0" anchor="t"/>
          <a:lstStyle/>
          <a:p>
            <a:pPr indent="0" marL="0">
              <a:buNone/>
            </a:pPr>
            <a:r>
              <a:rPr lang="en-US" sz="1400" dirty="0">
                <a:solidFill>
                  <a:schemeClr val="accent5"/>
                </a:solidFill>
              </a:rPr>
              <a:t>Buy on the cheaper exchange, sell on the dearer one, at the same moment. BTC and ETH, Bitstamp (EUR) vs Binance (USDT, in EUR).</a:t>
            </a:r>
            <a:endParaRPr lang="en-US" sz="1400" dirty="0"/>
          </a:p>
        </p:txBody>
      </p:sp>
      <p:graphicFrame>
        <p:nvGraphicFramePr>
          <p:cNvPr id="7" name="s1-chart" descr=""/>
          <p:cNvGraphicFramePr/>
          <p:nvPr/>
        </p:nvGraphicFramePr>
        <p:xfrm>
          <a:off x="612648" y="1783080"/>
          <a:ext cx="6903720" cy="3749040"/>
        </p:xfrm>
        <a:graphic xmlns:a="http://schemas.openxmlformats.org/drawingml/2006/main">
          <a:graphicData uri="http://schemas.openxmlformats.org/drawingml/2006/chart">
            <c:chart xmlns:c="http://schemas.openxmlformats.org/drawingml/2006/chart" r:id="rId1"/>
          </a:graphicData>
        </a:graphic>
      </p:graphicFrame>
      <p:sp>
        <p:nvSpPr>
          <p:cNvPr id="8" name="s1-kpi-1"/>
          <p:cNvSpPr/>
          <p:nvPr/>
        </p:nvSpPr>
        <p:spPr>
          <a:xfrm>
            <a:off x="7772400" y="1783080"/>
            <a:ext cx="3813048" cy="1143000"/>
          </a:xfrm>
          <a:prstGeom prst="rect">
            <a:avLst/>
          </a:prstGeom>
          <a:solidFill>
            <a:schemeClr val="bg2"/>
          </a:solidFill>
          <a:ln w="12700">
            <a:solidFill>
              <a:schemeClr val="bg2"/>
            </a:solidFill>
            <a:prstDash val="solid"/>
          </a:ln>
        </p:spPr>
      </p:sp>
      <p:sp>
        <p:nvSpPr>
          <p:cNvPr id="9" name="Text 5"/>
          <p:cNvSpPr txBox="1"/>
          <p:nvPr/>
        </p:nvSpPr>
        <p:spPr>
          <a:xfrm>
            <a:off x="7973568" y="1911096"/>
            <a:ext cx="3410712" cy="502920"/>
          </a:xfrm>
          <a:prstGeom prst="rect">
            <a:avLst/>
          </a:prstGeom>
          <a:noFill/>
          <a:ln/>
        </p:spPr>
        <p:txBody>
          <a:bodyPr wrap="square" lIns="0" tIns="0" rIns="0" bIns="0" rtlCol="0" anchor="t">
            <a:normAutofit/>
          </a:bodyPr>
          <a:lstStyle/>
          <a:p>
            <a:pPr indent="0" marL="0">
              <a:buNone/>
            </a:pPr>
            <a:r>
              <a:rPr lang="en-US" sz="2600" b="1" dirty="0">
                <a:solidFill>
                  <a:schemeClr val="accent1"/>
                </a:solidFill>
              </a:rPr>
              <a:t>0 trades</a:t>
            </a:r>
            <a:endParaRPr lang="en-US" sz="2600" dirty="0"/>
          </a:p>
        </p:txBody>
      </p:sp>
      <p:sp>
        <p:nvSpPr>
          <p:cNvPr id="10" name="Text 6"/>
          <p:cNvSpPr txBox="1"/>
          <p:nvPr/>
        </p:nvSpPr>
        <p:spPr>
          <a:xfrm>
            <a:off x="7973568" y="2423160"/>
            <a:ext cx="3410712" cy="411480"/>
          </a:xfrm>
          <a:prstGeom prst="rect">
            <a:avLst/>
          </a:prstGeom>
          <a:noFill/>
          <a:ln/>
        </p:spPr>
        <p:txBody>
          <a:bodyPr wrap="square" lIns="0" tIns="0" rIns="0" bIns="0" rtlCol="0" anchor="t"/>
          <a:lstStyle/>
          <a:p>
            <a:pPr indent="0" marL="0">
              <a:buNone/>
            </a:pPr>
            <a:r>
              <a:rPr lang="en-US" sz="1250" dirty="0">
                <a:solidFill>
                  <a:schemeClr val="tx1"/>
                </a:solidFill>
              </a:rPr>
              <a:t>in a 4-hour live paper run at €100k per leg; the gap beat 17 bps 0% of the time</a:t>
            </a:r>
            <a:endParaRPr lang="en-US" sz="1250" dirty="0"/>
          </a:p>
        </p:txBody>
      </p:sp>
      <p:sp>
        <p:nvSpPr>
          <p:cNvPr id="11" name="s1-kpi-2"/>
          <p:cNvSpPr/>
          <p:nvPr/>
        </p:nvSpPr>
        <p:spPr>
          <a:xfrm>
            <a:off x="7772400" y="3044952"/>
            <a:ext cx="3813048" cy="1143000"/>
          </a:xfrm>
          <a:prstGeom prst="rect">
            <a:avLst/>
          </a:prstGeom>
          <a:solidFill>
            <a:schemeClr val="bg2"/>
          </a:solidFill>
          <a:ln w="12700">
            <a:solidFill>
              <a:schemeClr val="bg2"/>
            </a:solidFill>
            <a:prstDash val="solid"/>
          </a:ln>
        </p:spPr>
      </p:sp>
      <p:sp>
        <p:nvSpPr>
          <p:cNvPr id="12" name="Text 8"/>
          <p:cNvSpPr txBox="1"/>
          <p:nvPr/>
        </p:nvSpPr>
        <p:spPr>
          <a:xfrm>
            <a:off x="7973568" y="3172968"/>
            <a:ext cx="3410712" cy="502920"/>
          </a:xfrm>
          <a:prstGeom prst="rect">
            <a:avLst/>
          </a:prstGeom>
          <a:noFill/>
          <a:ln/>
        </p:spPr>
        <p:txBody>
          <a:bodyPr wrap="square" lIns="0" tIns="0" rIns="0" bIns="0" rtlCol="0" anchor="t">
            <a:normAutofit/>
          </a:bodyPr>
          <a:lstStyle/>
          <a:p>
            <a:pPr indent="0" marL="0">
              <a:buNone/>
            </a:pPr>
            <a:r>
              <a:rPr lang="en-US" sz="2600" b="1" dirty="0">
                <a:solidFill>
                  <a:schemeClr val="accent1"/>
                </a:solidFill>
              </a:rPr>
              <a:t>0 of 136</a:t>
            </a:r>
            <a:endParaRPr lang="en-US" sz="2600" dirty="0"/>
          </a:p>
        </p:txBody>
      </p:sp>
      <p:sp>
        <p:nvSpPr>
          <p:cNvPr id="13" name="Text 9"/>
          <p:cNvSpPr txBox="1"/>
          <p:nvPr/>
        </p:nvSpPr>
        <p:spPr>
          <a:xfrm>
            <a:off x="7973568" y="3685032"/>
            <a:ext cx="3410712" cy="411480"/>
          </a:xfrm>
          <a:prstGeom prst="rect">
            <a:avLst/>
          </a:prstGeom>
          <a:noFill/>
          <a:ln/>
        </p:spPr>
        <p:txBody>
          <a:bodyPr wrap="square" lIns="0" tIns="0" rIns="0" bIns="0" rtlCol="0" anchor="t"/>
          <a:lstStyle/>
          <a:p>
            <a:pPr indent="0" marL="0">
              <a:buNone/>
            </a:pPr>
            <a:r>
              <a:rPr lang="en-US" sz="1250" dirty="0">
                <a:solidFill>
                  <a:schemeClr val="tx1"/>
                </a:solidFill>
              </a:rPr>
              <a:t>realistic backtest settings made money (7–14 Oct, every fee tier)</a:t>
            </a:r>
            <a:endParaRPr lang="en-US" sz="1250" dirty="0"/>
          </a:p>
        </p:txBody>
      </p:sp>
      <p:sp>
        <p:nvSpPr>
          <p:cNvPr id="14" name="s1-kpi-3"/>
          <p:cNvSpPr/>
          <p:nvPr/>
        </p:nvSpPr>
        <p:spPr>
          <a:xfrm>
            <a:off x="7772400" y="4306824"/>
            <a:ext cx="3813048" cy="1225296"/>
          </a:xfrm>
          <a:prstGeom prst="rect">
            <a:avLst/>
          </a:prstGeom>
          <a:solidFill>
            <a:schemeClr val="bg2"/>
          </a:solidFill>
          <a:ln w="12700">
            <a:solidFill>
              <a:schemeClr val="bg2"/>
            </a:solidFill>
            <a:prstDash val="solid"/>
          </a:ln>
        </p:spPr>
      </p:sp>
      <p:sp>
        <p:nvSpPr>
          <p:cNvPr id="15" name="Text 11"/>
          <p:cNvSpPr txBox="1"/>
          <p:nvPr/>
        </p:nvSpPr>
        <p:spPr>
          <a:xfrm>
            <a:off x="7973568" y="4434840"/>
            <a:ext cx="3410712" cy="502920"/>
          </a:xfrm>
          <a:prstGeom prst="rect">
            <a:avLst/>
          </a:prstGeom>
          <a:noFill/>
          <a:ln/>
        </p:spPr>
        <p:txBody>
          <a:bodyPr wrap="square" lIns="0" tIns="0" rIns="0" bIns="0" rtlCol="0" anchor="t">
            <a:normAutofit/>
          </a:bodyPr>
          <a:lstStyle/>
          <a:p>
            <a:pPr indent="0" marL="0">
              <a:buNone/>
            </a:pPr>
            <a:r>
              <a:rPr lang="en-US" sz="2600" b="1" dirty="0">
                <a:solidFill>
                  <a:schemeClr val="accent4"/>
                </a:solidFill>
              </a:rPr>
              <a:t>+€276 → −€1,548</a:t>
            </a:r>
            <a:endParaRPr lang="en-US" sz="2600" dirty="0"/>
          </a:p>
        </p:txBody>
      </p:sp>
      <p:sp>
        <p:nvSpPr>
          <p:cNvPr id="16" name="Text 12"/>
          <p:cNvSpPr txBox="1"/>
          <p:nvPr/>
        </p:nvSpPr>
        <p:spPr>
          <a:xfrm>
            <a:off x="7973568" y="4946904"/>
            <a:ext cx="3410712" cy="493776"/>
          </a:xfrm>
          <a:prstGeom prst="rect">
            <a:avLst/>
          </a:prstGeom>
          <a:noFill/>
          <a:ln/>
        </p:spPr>
        <p:txBody>
          <a:bodyPr wrap="square" lIns="0" tIns="0" rIns="0" bIns="0" rtlCol="0" anchor="t"/>
          <a:lstStyle/>
          <a:p>
            <a:pPr indent="0" marL="0">
              <a:buNone/>
            </a:pPr>
            <a:r>
              <a:rPr lang="en-US" sz="1250" dirty="0">
                <a:solidFill>
                  <a:schemeClr val="tx1"/>
                </a:solidFill>
              </a:rPr>
              <a:t>the “profitable” backtest once look-ahead, a stale FX rate and instant fills were fixed</a:t>
            </a:r>
            <a:endParaRPr lang="en-US" sz="1250" dirty="0"/>
          </a:p>
        </p:txBody>
      </p:sp>
      <p:sp>
        <p:nvSpPr>
          <p:cNvPr id="17" name="verdict"/>
          <p:cNvSpPr/>
          <p:nvPr/>
        </p:nvSpPr>
        <p:spPr>
          <a:xfrm>
            <a:off x="612648" y="5669280"/>
            <a:ext cx="10972800" cy="530352"/>
          </a:xfrm>
          <a:prstGeom prst="rect">
            <a:avLst/>
          </a:prstGeom>
          <a:solidFill>
            <a:schemeClr val="bg2"/>
          </a:solidFill>
          <a:ln w="12700">
            <a:solidFill>
              <a:schemeClr val="bg2"/>
            </a:solidFill>
            <a:prstDash val="solid"/>
          </a:ln>
        </p:spPr>
      </p:sp>
      <p:sp>
        <p:nvSpPr>
          <p:cNvPr id="18" name="Text 14"/>
          <p:cNvSpPr txBox="1"/>
          <p:nvPr/>
        </p:nvSpPr>
        <p:spPr>
          <a:xfrm>
            <a:off x="841248" y="5669280"/>
            <a:ext cx="10515600" cy="530352"/>
          </a:xfrm>
          <a:prstGeom prst="rect">
            <a:avLst/>
          </a:prstGeom>
          <a:noFill/>
          <a:ln/>
        </p:spPr>
        <p:txBody>
          <a:bodyPr wrap="square" lIns="0" tIns="0" rIns="0" bIns="0" rtlCol="0" anchor="ctr"/>
          <a:lstStyle/>
          <a:p>
            <a:pPr indent="0" marL="0">
              <a:buNone/>
            </a:pPr>
            <a:r>
              <a:rPr lang="en-US" sz="1400" b="1" dirty="0">
                <a:solidFill>
                  <a:schemeClr val="accent1"/>
                </a:solidFill>
              </a:rPr>
              <a:t>Verdict: no edge.  </a:t>
            </a:r>
            <a:pPr indent="0" marL="0">
              <a:buNone/>
            </a:pPr>
            <a:r>
              <a:rPr lang="en-US" sz="1400" dirty="0">
                <a:solidFill>
                  <a:schemeClr val="tx1"/>
                </a:solidFill>
              </a:rPr>
              <a:t>The market is arbitraged to within a few bps; paying spread and fees on both legs cannot win. The rare big gaps were frozen prices, ≤ 3 s.</a:t>
            </a:r>
            <a:endParaRPr lang="en-US" sz="14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lIns="0" tIns="0" rIns="0" bIns="0" rtlCol="0" anchor="t"/>
          <a:lstStyle/>
          <a:p>
            <a:pPr indent="0" marL="0">
              <a:buNone/>
            </a:pPr>
            <a:r>
              <a:rPr lang="en-US" sz="1400" b="1" dirty="0">
                <a:solidFill>
                  <a:schemeClr val="accent2"/>
                </a:solidFill>
              </a:rPr>
              <a:t>STRATEGY 2  ·  PERPETUAL FUNDING CARRY</a:t>
            </a: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lIns="0" tIns="0" rIns="0" bIns="0" rtlCol="0" anchor="t"/>
          <a:lstStyle/>
          <a:p>
            <a:pPr algn="l" indent="0" marL="0">
              <a:buNone/>
            </a:pPr>
            <a:r>
              <a:rPr lang="en-US" sz="3200" b="1" dirty="0">
                <a:solidFill>
                  <a:schemeClr val="tx2"/>
                </a:solidFill>
              </a:rPr>
              <a:t>The yield is real, but it is roughly the deposit rate</a:t>
            </a: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lIns="0" tIns="0" rIns="0" bIns="0" rtlCol="0" anchor="t"/>
          <a:lstStyle/>
          <a:p>
            <a:pPr indent="0" marL="0">
              <a:buNone/>
            </a:pPr>
            <a:r>
              <a:rPr lang="en-US" sz="1000" dirty="0">
                <a:solidFill>
                  <a:schemeClr val="accent5"/>
                </a:solidFill>
              </a:rPr>
              <a:t>Funding: Kraken Futures and Deribit public history to 22 Oct 2026, 30-day average, annualised. Net range and ≈7% level: docs/eurc_live_test.md.</a:t>
            </a:r>
            <a:endParaRPr lang="en-US" sz="1000" dirty="0"/>
          </a:p>
        </p:txBody>
      </p:sp>
      <p:sp>
        <p:nvSpPr>
          <p:cNvPr id="6" name="Text 3"/>
          <p:cNvSpPr txBox="1"/>
          <p:nvPr/>
        </p:nvSpPr>
        <p:spPr>
          <a:xfrm>
            <a:off x="612648" y="1298448"/>
            <a:ext cx="10972800" cy="365760"/>
          </a:xfrm>
          <a:prstGeom prst="rect">
            <a:avLst/>
          </a:prstGeom>
          <a:noFill/>
          <a:ln/>
        </p:spPr>
        <p:txBody>
          <a:bodyPr wrap="square" lIns="0" tIns="0" rIns="0" bIns="0" rtlCol="0" anchor="t"/>
          <a:lstStyle/>
          <a:p>
            <a:pPr indent="0" marL="0">
              <a:buNone/>
            </a:pPr>
            <a:r>
              <a:rPr lang="en-US" sz="1400" dirty="0">
                <a:solidFill>
                  <a:schemeClr val="accent5"/>
                </a:solidFill>
              </a:rPr>
              <a:t>Hold the coin and short its perpetual future so price moves cancel; earn the funding that leveraged buyers pay.</a:t>
            </a:r>
            <a:endParaRPr lang="en-US" sz="1400" dirty="0"/>
          </a:p>
        </p:txBody>
      </p:sp>
      <p:graphicFrame>
        <p:nvGraphicFramePr>
          <p:cNvPr id="7" name="s2-chart" descr=""/>
          <p:cNvGraphicFramePr/>
          <p:nvPr/>
        </p:nvGraphicFramePr>
        <p:xfrm>
          <a:off x="612648" y="1783080"/>
          <a:ext cx="6903720" cy="3749040"/>
        </p:xfrm>
        <a:graphic xmlns:a="http://schemas.openxmlformats.org/drawingml/2006/main">
          <a:graphicData uri="http://schemas.openxmlformats.org/drawingml/2006/chart">
            <c:chart xmlns:c="http://schemas.openxmlformats.org/drawingml/2006/chart" r:id="rId1"/>
          </a:graphicData>
        </a:graphic>
      </p:graphicFrame>
      <p:sp>
        <p:nvSpPr>
          <p:cNvPr id="8" name="s2-kpi-1"/>
          <p:cNvSpPr/>
          <p:nvPr/>
        </p:nvSpPr>
        <p:spPr>
          <a:xfrm>
            <a:off x="7772400" y="1783080"/>
            <a:ext cx="3813048" cy="1143000"/>
          </a:xfrm>
          <a:prstGeom prst="rect">
            <a:avLst/>
          </a:prstGeom>
          <a:solidFill>
            <a:schemeClr val="bg2"/>
          </a:solidFill>
          <a:ln w="12700">
            <a:solidFill>
              <a:schemeClr val="bg2"/>
            </a:solidFill>
            <a:prstDash val="solid"/>
          </a:ln>
        </p:spPr>
      </p:sp>
      <p:sp>
        <p:nvSpPr>
          <p:cNvPr id="9" name="Text 5"/>
          <p:cNvSpPr txBox="1"/>
          <p:nvPr/>
        </p:nvSpPr>
        <p:spPr>
          <a:xfrm>
            <a:off x="7973568" y="1911096"/>
            <a:ext cx="3410712" cy="502920"/>
          </a:xfrm>
          <a:prstGeom prst="rect">
            <a:avLst/>
          </a:prstGeom>
          <a:noFill/>
          <a:ln/>
        </p:spPr>
        <p:txBody>
          <a:bodyPr wrap="square" lIns="0" tIns="0" rIns="0" bIns="0" rtlCol="0" anchor="t">
            <a:normAutofit/>
          </a:bodyPr>
          <a:lstStyle/>
          <a:p>
            <a:pPr indent="0" marL="0">
              <a:buNone/>
            </a:pPr>
            <a:r>
              <a:rPr lang="en-US" sz="2600" b="1" dirty="0">
                <a:solidFill>
                  <a:schemeClr val="accent2"/>
                </a:solidFill>
              </a:rPr>
              <a:t>3.3% vs 2.5%</a:t>
            </a:r>
            <a:endParaRPr lang="en-US" sz="2600" dirty="0"/>
          </a:p>
        </p:txBody>
      </p:sp>
      <p:sp>
        <p:nvSpPr>
          <p:cNvPr id="10" name="Text 6"/>
          <p:cNvSpPr txBox="1"/>
          <p:nvPr/>
        </p:nvSpPr>
        <p:spPr>
          <a:xfrm>
            <a:off x="7973568" y="2423160"/>
            <a:ext cx="3410712" cy="411480"/>
          </a:xfrm>
          <a:prstGeom prst="rect">
            <a:avLst/>
          </a:prstGeom>
          <a:noFill/>
          <a:ln/>
        </p:spPr>
        <p:txBody>
          <a:bodyPr wrap="square" lIns="0" tIns="0" rIns="0" bIns="0" rtlCol="0" anchor="t"/>
          <a:lstStyle/>
          <a:p>
            <a:pPr indent="0" marL="0">
              <a:buNone/>
            </a:pPr>
            <a:r>
              <a:rPr lang="en-US" sz="1250" dirty="0">
                <a:solidFill>
                  <a:schemeClr val="tx1"/>
                </a:solidFill>
              </a:rPr>
              <a:t>12-month average funding, Kraken BTC (Deribit 2.3%), in USD</a:t>
            </a:r>
            <a:endParaRPr lang="en-US" sz="1250" dirty="0"/>
          </a:p>
        </p:txBody>
      </p:sp>
      <p:sp>
        <p:nvSpPr>
          <p:cNvPr id="11" name="s2-kpi-2"/>
          <p:cNvSpPr/>
          <p:nvPr/>
        </p:nvSpPr>
        <p:spPr>
          <a:xfrm>
            <a:off x="7772400" y="3044952"/>
            <a:ext cx="3813048" cy="1143000"/>
          </a:xfrm>
          <a:prstGeom prst="rect">
            <a:avLst/>
          </a:prstGeom>
          <a:solidFill>
            <a:schemeClr val="bg2"/>
          </a:solidFill>
          <a:ln w="12700">
            <a:solidFill>
              <a:schemeClr val="bg2"/>
            </a:solidFill>
            <a:prstDash val="solid"/>
          </a:ln>
        </p:spPr>
      </p:sp>
      <p:sp>
        <p:nvSpPr>
          <p:cNvPr id="12" name="Text 8"/>
          <p:cNvSpPr txBox="1"/>
          <p:nvPr/>
        </p:nvSpPr>
        <p:spPr>
          <a:xfrm>
            <a:off x="7973568" y="3172968"/>
            <a:ext cx="3410712" cy="502920"/>
          </a:xfrm>
          <a:prstGeom prst="rect">
            <a:avLst/>
          </a:prstGeom>
          <a:noFill/>
          <a:ln/>
        </p:spPr>
        <p:txBody>
          <a:bodyPr wrap="square" lIns="0" tIns="0" rIns="0" bIns="0" rtlCol="0" anchor="t">
            <a:normAutofit/>
          </a:bodyPr>
          <a:lstStyle/>
          <a:p>
            <a:pPr indent="0" marL="0">
              <a:buNone/>
            </a:pPr>
            <a:r>
              <a:rPr lang="en-US" sz="2600" b="1" dirty="0">
                <a:solidFill>
                  <a:schemeClr val="accent4"/>
                </a:solidFill>
              </a:rPr>
              <a:t>31% of hours</a:t>
            </a:r>
            <a:endParaRPr lang="en-US" sz="2600" dirty="0"/>
          </a:p>
        </p:txBody>
      </p:sp>
      <p:sp>
        <p:nvSpPr>
          <p:cNvPr id="13" name="Text 9"/>
          <p:cNvSpPr txBox="1"/>
          <p:nvPr/>
        </p:nvSpPr>
        <p:spPr>
          <a:xfrm>
            <a:off x="7973568" y="3685032"/>
            <a:ext cx="3410712" cy="411480"/>
          </a:xfrm>
          <a:prstGeom prst="rect">
            <a:avLst/>
          </a:prstGeom>
          <a:noFill/>
          <a:ln/>
        </p:spPr>
        <p:txBody>
          <a:bodyPr wrap="square" lIns="0" tIns="0" rIns="0" bIns="0" rtlCol="0" anchor="t"/>
          <a:lstStyle/>
          <a:p>
            <a:pPr indent="0" marL="0">
              <a:buNone/>
            </a:pPr>
            <a:r>
              <a:rPr lang="en-US" sz="1250" dirty="0">
                <a:solidFill>
                  <a:schemeClr val="tx1"/>
                </a:solidFill>
              </a:rPr>
              <a:t>had negative funding on Kraken: the short pays instead of earning</a:t>
            </a:r>
            <a:endParaRPr lang="en-US" sz="1250" dirty="0"/>
          </a:p>
        </p:txBody>
      </p:sp>
      <p:sp>
        <p:nvSpPr>
          <p:cNvPr id="14" name="s2-kpi-3"/>
          <p:cNvSpPr/>
          <p:nvPr/>
        </p:nvSpPr>
        <p:spPr>
          <a:xfrm>
            <a:off x="7772400" y="4306824"/>
            <a:ext cx="3813048" cy="1225296"/>
          </a:xfrm>
          <a:prstGeom prst="rect">
            <a:avLst/>
          </a:prstGeom>
          <a:solidFill>
            <a:schemeClr val="bg2"/>
          </a:solidFill>
          <a:ln w="12700">
            <a:solidFill>
              <a:schemeClr val="bg2"/>
            </a:solidFill>
            <a:prstDash val="solid"/>
          </a:ln>
        </p:spPr>
      </p:sp>
      <p:sp>
        <p:nvSpPr>
          <p:cNvPr id="15" name="Text 11"/>
          <p:cNvSpPr txBox="1"/>
          <p:nvPr/>
        </p:nvSpPr>
        <p:spPr>
          <a:xfrm>
            <a:off x="7973568" y="4434840"/>
            <a:ext cx="3410712" cy="502920"/>
          </a:xfrm>
          <a:prstGeom prst="rect">
            <a:avLst/>
          </a:prstGeom>
          <a:noFill/>
          <a:ln/>
        </p:spPr>
        <p:txBody>
          <a:bodyPr wrap="square" lIns="0" tIns="0" rIns="0" bIns="0" rtlCol="0" anchor="t">
            <a:normAutofit/>
          </a:bodyPr>
          <a:lstStyle/>
          <a:p>
            <a:pPr indent="0" marL="0">
              <a:buNone/>
            </a:pPr>
            <a:r>
              <a:rPr lang="en-US" sz="2600" b="1" dirty="0">
                <a:solidFill>
                  <a:schemeClr val="accent2"/>
                </a:solidFill>
              </a:rPr>
              <a:t>€960–1,720</a:t>
            </a:r>
            <a:endParaRPr lang="en-US" sz="2600" dirty="0"/>
          </a:p>
        </p:txBody>
      </p:sp>
      <p:sp>
        <p:nvSpPr>
          <p:cNvPr id="16" name="Text 12"/>
          <p:cNvSpPr txBox="1"/>
          <p:nvPr/>
        </p:nvSpPr>
        <p:spPr>
          <a:xfrm>
            <a:off x="7973568" y="4946904"/>
            <a:ext cx="3410712" cy="493776"/>
          </a:xfrm>
          <a:prstGeom prst="rect">
            <a:avLst/>
          </a:prstGeom>
          <a:noFill/>
          <a:ln/>
        </p:spPr>
        <p:txBody>
          <a:bodyPr wrap="square" lIns="0" tIns="0" rIns="0" bIns="0" rtlCol="0" anchor="t"/>
          <a:lstStyle/>
          <a:p>
            <a:pPr indent="0" marL="0">
              <a:buNone/>
            </a:pPr>
            <a:r>
              <a:rPr lang="en-US" sz="1250" dirty="0">
                <a:solidFill>
                  <a:schemeClr val="tx1"/>
                </a:solidFill>
              </a:rPr>
              <a:t>a year on €40k before the EUR/USD hedge, against €1,000 from the deposit</a:t>
            </a:r>
            <a:endParaRPr lang="en-US" sz="1250" dirty="0"/>
          </a:p>
        </p:txBody>
      </p:sp>
      <p:sp>
        <p:nvSpPr>
          <p:cNvPr id="17" name="verdict"/>
          <p:cNvSpPr/>
          <p:nvPr/>
        </p:nvSpPr>
        <p:spPr>
          <a:xfrm>
            <a:off x="612648" y="5669280"/>
            <a:ext cx="10972800" cy="530352"/>
          </a:xfrm>
          <a:prstGeom prst="rect">
            <a:avLst/>
          </a:prstGeom>
          <a:solidFill>
            <a:schemeClr val="bg2"/>
          </a:solidFill>
          <a:ln w="12700">
            <a:solidFill>
              <a:schemeClr val="bg2"/>
            </a:solidFill>
            <a:prstDash val="solid"/>
          </a:ln>
        </p:spPr>
      </p:sp>
      <p:sp>
        <p:nvSpPr>
          <p:cNvPr id="18" name="Text 14"/>
          <p:cNvSpPr txBox="1"/>
          <p:nvPr/>
        </p:nvSpPr>
        <p:spPr>
          <a:xfrm>
            <a:off x="841248" y="5669280"/>
            <a:ext cx="10515600" cy="530352"/>
          </a:xfrm>
          <a:prstGeom prst="rect">
            <a:avLst/>
          </a:prstGeom>
          <a:noFill/>
          <a:ln/>
        </p:spPr>
        <p:txBody>
          <a:bodyPr wrap="square" lIns="0" tIns="0" rIns="0" bIns="0" rtlCol="0" anchor="ctr"/>
          <a:lstStyle/>
          <a:p>
            <a:pPr indent="0" marL="0">
              <a:buNone/>
            </a:pPr>
            <a:r>
              <a:rPr lang="en-US" sz="1400" b="1" dirty="0">
                <a:solidFill>
                  <a:schemeClr val="accent2"/>
                </a:solidFill>
              </a:rPr>
              <a:t>Verdict: edge ≈ deposit rate.  </a:t>
            </a:r>
            <a:pPr indent="0" marL="0">
              <a:buNone/>
            </a:pPr>
            <a:r>
              <a:rPr lang="en-US" sz="1400" dirty="0">
                <a:solidFill>
                  <a:schemeClr val="tx1"/>
                </a:solidFill>
              </a:rPr>
              <a:t>Pays only in high-funding regimes, with exchange and ESMA “likely CFD” risk on 100% of capital; cheapest venues are closed to EU residents.</a:t>
            </a:r>
            <a:endParaRPr lang="en-US" sz="14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lIns="0" tIns="0" rIns="0" bIns="0" rtlCol="0" anchor="t"/>
          <a:lstStyle/>
          <a:p>
            <a:pPr indent="0" marL="0">
              <a:buNone/>
            </a:pPr>
            <a:r>
              <a:rPr lang="en-US" sz="1400" b="1" dirty="0">
                <a:solidFill>
                  <a:schemeClr val="accent3"/>
                </a:solidFill>
              </a:rPr>
              <a:t>STRATEGY 3  ·  EURC STABLECOIN DEPEG CAPTURE</a:t>
            </a: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lIns="0" tIns="0" rIns="0" bIns="0" rtlCol="0" anchor="t"/>
          <a:lstStyle/>
          <a:p>
            <a:pPr algn="l" indent="0" marL="0">
              <a:buNone/>
            </a:pPr>
            <a:r>
              <a:rPr lang="en-US" sz="3200" b="1" dirty="0">
                <a:solidFill>
                  <a:schemeClr val="tx2"/>
                </a:solidFill>
              </a:rPr>
              <a:t>A real edge, but each depeg is small and brief</a:t>
            </a: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lIns="0" tIns="0" rIns="0" bIns="0" rtlCol="0" anchor="t"/>
          <a:lstStyle/>
          <a:p>
            <a:pPr indent="0" marL="0">
              <a:buNone/>
            </a:pPr>
            <a:r>
              <a:rPr lang="en-US" sz="1000" dirty="0">
                <a:solidFill>
                  <a:schemeClr val="accent5"/>
                </a:solidFill>
              </a:rPr>
              <a:t>Kraken EURC/EUR daily candles to 22 Oct 2026. Ladder: rule in scripts/eurc_live_test.py, 0.20% fee each side, exit 0.9995. Live test: docs/eurc_live_test_results.md.</a:t>
            </a:r>
            <a:endParaRPr lang="en-US" sz="1000" dirty="0"/>
          </a:p>
        </p:txBody>
      </p:sp>
      <p:sp>
        <p:nvSpPr>
          <p:cNvPr id="6" name="Text 3"/>
          <p:cNvSpPr txBox="1"/>
          <p:nvPr/>
        </p:nvSpPr>
        <p:spPr>
          <a:xfrm>
            <a:off x="612648" y="1298448"/>
            <a:ext cx="10972800" cy="365760"/>
          </a:xfrm>
          <a:prstGeom prst="rect">
            <a:avLst/>
          </a:prstGeom>
          <a:noFill/>
          <a:ln/>
        </p:spPr>
        <p:txBody>
          <a:bodyPr wrap="square" lIns="0" tIns="0" rIns="0" bIns="0" rtlCol="0" anchor="t"/>
          <a:lstStyle/>
          <a:p>
            <a:pPr indent="0" marL="0">
              <a:buNone/>
            </a:pPr>
            <a:r>
              <a:rPr lang="en-US" sz="1400" dirty="0">
                <a:solidFill>
                  <a:schemeClr val="accent5"/>
                </a:solidFill>
              </a:rPr>
              <a:t>Rest bids below €1 for the euro stablecoin; when a holder dumps into a thin book, buy and sell back near par.</a:t>
            </a:r>
            <a:endParaRPr lang="en-US" sz="1400" dirty="0"/>
          </a:p>
        </p:txBody>
      </p:sp>
      <p:graphicFrame>
        <p:nvGraphicFramePr>
          <p:cNvPr id="7" name="s3-price-chart" descr=""/>
          <p:cNvGraphicFramePr/>
          <p:nvPr/>
        </p:nvGraphicFramePr>
        <p:xfrm>
          <a:off x="612648" y="1783080"/>
          <a:ext cx="4572000" cy="269748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s3-ladder-chart" descr=""/>
          <p:cNvGraphicFramePr/>
          <p:nvPr/>
        </p:nvGraphicFramePr>
        <p:xfrm>
          <a:off x="5349240" y="1783080"/>
          <a:ext cx="3429000" cy="2697480"/>
        </p:xfrm>
        <a:graphic xmlns:a="http://schemas.openxmlformats.org/drawingml/2006/main">
          <a:graphicData uri="http://schemas.openxmlformats.org/drawingml/2006/chart">
            <c:chart xmlns:c="http://schemas.openxmlformats.org/drawingml/2006/chart" r:id="rId2"/>
          </a:graphicData>
        </a:graphic>
      </p:graphicFrame>
      <p:sp>
        <p:nvSpPr>
          <p:cNvPr id="9" name="Text 4"/>
          <p:cNvSpPr txBox="1"/>
          <p:nvPr/>
        </p:nvSpPr>
        <p:spPr>
          <a:xfrm>
            <a:off x="5349240" y="4498848"/>
            <a:ext cx="3429000" cy="502920"/>
          </a:xfrm>
          <a:prstGeom prst="rect">
            <a:avLst/>
          </a:prstGeom>
          <a:noFill/>
          <a:ln/>
        </p:spPr>
        <p:txBody>
          <a:bodyPr wrap="square" lIns="0" tIns="0" rIns="0" bIns="0" rtlCol="0" anchor="t"/>
          <a:lstStyle/>
          <a:p>
            <a:pPr indent="0" marL="0">
              <a:buNone/>
            </a:pPr>
            <a:r>
              <a:rPr lang="en-US" sz="1050" dirty="0">
                <a:solidFill>
                  <a:schemeClr val="accent5"/>
                </a:solidFill>
              </a:rPr>
              <a:t>Fills over the year: 41 · 19 · 15 · 13 · 6. Candles prove a price printed, not that size was there.</a:t>
            </a:r>
            <a:endParaRPr lang="en-US" sz="1050" dirty="0"/>
          </a:p>
        </p:txBody>
      </p:sp>
      <p:sp>
        <p:nvSpPr>
          <p:cNvPr id="10" name="s3-kpi-1"/>
          <p:cNvSpPr/>
          <p:nvPr/>
        </p:nvSpPr>
        <p:spPr>
          <a:xfrm>
            <a:off x="9006840" y="1783080"/>
            <a:ext cx="2578608" cy="1143000"/>
          </a:xfrm>
          <a:prstGeom prst="rect">
            <a:avLst/>
          </a:prstGeom>
          <a:solidFill>
            <a:schemeClr val="bg2"/>
          </a:solidFill>
          <a:ln w="12700">
            <a:solidFill>
              <a:schemeClr val="bg2"/>
            </a:solidFill>
            <a:prstDash val="solid"/>
          </a:ln>
        </p:spPr>
      </p:sp>
      <p:sp>
        <p:nvSpPr>
          <p:cNvPr id="11" name="Text 6"/>
          <p:cNvSpPr txBox="1"/>
          <p:nvPr/>
        </p:nvSpPr>
        <p:spPr>
          <a:xfrm>
            <a:off x="9208008" y="1911096"/>
            <a:ext cx="2176272" cy="502920"/>
          </a:xfrm>
          <a:prstGeom prst="rect">
            <a:avLst/>
          </a:prstGeom>
          <a:noFill/>
          <a:ln/>
        </p:spPr>
        <p:txBody>
          <a:bodyPr wrap="square" lIns="0" tIns="0" rIns="0" bIns="0" rtlCol="0" anchor="t">
            <a:normAutofit/>
          </a:bodyPr>
          <a:lstStyle/>
          <a:p>
            <a:pPr indent="0" marL="0">
              <a:buNone/>
            </a:pPr>
            <a:r>
              <a:rPr lang="en-US" sz="2600" b="1" dirty="0">
                <a:solidFill>
                  <a:schemeClr val="accent3"/>
                </a:solidFill>
              </a:rPr>
              <a:t>20 days</a:t>
            </a:r>
            <a:endParaRPr lang="en-US" sz="2600" dirty="0"/>
          </a:p>
        </p:txBody>
      </p:sp>
      <p:sp>
        <p:nvSpPr>
          <p:cNvPr id="12" name="Text 7"/>
          <p:cNvSpPr txBox="1"/>
          <p:nvPr/>
        </p:nvSpPr>
        <p:spPr>
          <a:xfrm>
            <a:off x="9208008" y="2423160"/>
            <a:ext cx="2176272" cy="411480"/>
          </a:xfrm>
          <a:prstGeom prst="rect">
            <a:avLst/>
          </a:prstGeom>
          <a:noFill/>
          <a:ln/>
        </p:spPr>
        <p:txBody>
          <a:bodyPr wrap="square" lIns="0" tIns="0" rIns="0" bIns="0" rtlCol="0" anchor="t"/>
          <a:lstStyle/>
          <a:p>
            <a:pPr indent="0" marL="0">
              <a:buNone/>
            </a:pPr>
            <a:r>
              <a:rPr lang="en-US" sz="1250" dirty="0">
                <a:solidFill>
                  <a:schemeClr val="tx1"/>
                </a:solidFill>
              </a:rPr>
              <a:t>below €0.9925 on Kraken in 12 months (low €0.953)</a:t>
            </a:r>
            <a:endParaRPr lang="en-US" sz="1250" dirty="0"/>
          </a:p>
        </p:txBody>
      </p:sp>
      <p:sp>
        <p:nvSpPr>
          <p:cNvPr id="13" name="s3-kpi-2"/>
          <p:cNvSpPr/>
          <p:nvPr/>
        </p:nvSpPr>
        <p:spPr>
          <a:xfrm>
            <a:off x="9006840" y="3044952"/>
            <a:ext cx="2578608" cy="1143000"/>
          </a:xfrm>
          <a:prstGeom prst="rect">
            <a:avLst/>
          </a:prstGeom>
          <a:solidFill>
            <a:schemeClr val="bg2"/>
          </a:solidFill>
          <a:ln w="12700">
            <a:solidFill>
              <a:schemeClr val="bg2"/>
            </a:solidFill>
            <a:prstDash val="solid"/>
          </a:ln>
        </p:spPr>
      </p:sp>
      <p:sp>
        <p:nvSpPr>
          <p:cNvPr id="14" name="Text 9"/>
          <p:cNvSpPr txBox="1"/>
          <p:nvPr/>
        </p:nvSpPr>
        <p:spPr>
          <a:xfrm>
            <a:off x="9208008" y="3172968"/>
            <a:ext cx="2176272" cy="502920"/>
          </a:xfrm>
          <a:prstGeom prst="rect">
            <a:avLst/>
          </a:prstGeom>
          <a:noFill/>
          <a:ln/>
        </p:spPr>
        <p:txBody>
          <a:bodyPr wrap="square" lIns="0" tIns="0" rIns="0" bIns="0" rtlCol="0" anchor="t">
            <a:normAutofit/>
          </a:bodyPr>
          <a:lstStyle/>
          <a:p>
            <a:pPr indent="0" marL="0">
              <a:buNone/>
            </a:pPr>
            <a:r>
              <a:rPr lang="en-US" sz="2600" b="1" dirty="0">
                <a:solidFill>
                  <a:schemeClr val="accent3"/>
                </a:solidFill>
              </a:rPr>
              <a:t>≈2.5k EURC</a:t>
            </a:r>
            <a:endParaRPr lang="en-US" sz="2600" dirty="0"/>
          </a:p>
        </p:txBody>
      </p:sp>
      <p:sp>
        <p:nvSpPr>
          <p:cNvPr id="15" name="Text 10"/>
          <p:cNvSpPr txBox="1"/>
          <p:nvPr/>
        </p:nvSpPr>
        <p:spPr>
          <a:xfrm>
            <a:off x="9208008" y="3685032"/>
            <a:ext cx="2176272" cy="411480"/>
          </a:xfrm>
          <a:prstGeom prst="rect">
            <a:avLst/>
          </a:prstGeom>
          <a:noFill/>
          <a:ln/>
        </p:spPr>
        <p:txBody>
          <a:bodyPr wrap="square" lIns="0" tIns="0" rIns="0" bIns="0" rtlCol="0" anchor="t"/>
          <a:lstStyle/>
          <a:p>
            <a:pPr indent="0" marL="0">
              <a:buNone/>
            </a:pPr>
            <a:r>
              <a:rPr lang="en-US" sz="1250" dirty="0">
                <a:solidFill>
                  <a:schemeClr val="tx1"/>
                </a:solidFill>
              </a:rPr>
              <a:t>per seller sweep on the live tape: +€12 on one event</a:t>
            </a:r>
            <a:endParaRPr lang="en-US" sz="1250" dirty="0"/>
          </a:p>
        </p:txBody>
      </p:sp>
      <p:sp>
        <p:nvSpPr>
          <p:cNvPr id="16" name="s3-kpi-3"/>
          <p:cNvSpPr/>
          <p:nvPr/>
        </p:nvSpPr>
        <p:spPr>
          <a:xfrm>
            <a:off x="9006840" y="4306824"/>
            <a:ext cx="2578608" cy="1225296"/>
          </a:xfrm>
          <a:prstGeom prst="rect">
            <a:avLst/>
          </a:prstGeom>
          <a:solidFill>
            <a:schemeClr val="bg2"/>
          </a:solidFill>
          <a:ln w="12700">
            <a:solidFill>
              <a:schemeClr val="bg2"/>
            </a:solidFill>
            <a:prstDash val="solid"/>
          </a:ln>
        </p:spPr>
      </p:sp>
      <p:sp>
        <p:nvSpPr>
          <p:cNvPr id="17" name="Text 12"/>
          <p:cNvSpPr txBox="1"/>
          <p:nvPr/>
        </p:nvSpPr>
        <p:spPr>
          <a:xfrm>
            <a:off x="9208008" y="4434840"/>
            <a:ext cx="2176272" cy="502920"/>
          </a:xfrm>
          <a:prstGeom prst="rect">
            <a:avLst/>
          </a:prstGeom>
          <a:noFill/>
          <a:ln/>
        </p:spPr>
        <p:txBody>
          <a:bodyPr wrap="square" lIns="0" tIns="0" rIns="0" bIns="0" rtlCol="0" anchor="t">
            <a:normAutofit/>
          </a:bodyPr>
          <a:lstStyle/>
          <a:p>
            <a:pPr indent="0" marL="0">
              <a:buNone/>
            </a:pPr>
            <a:r>
              <a:rPr lang="en-US" sz="2600" b="1" dirty="0">
                <a:solidFill>
                  <a:schemeClr val="accent3"/>
                </a:solidFill>
              </a:rPr>
              <a:t>€100–300</a:t>
            </a:r>
            <a:endParaRPr lang="en-US" sz="2600" dirty="0"/>
          </a:p>
        </p:txBody>
      </p:sp>
      <p:sp>
        <p:nvSpPr>
          <p:cNvPr id="18" name="Text 13"/>
          <p:cNvSpPr txBox="1"/>
          <p:nvPr/>
        </p:nvSpPr>
        <p:spPr>
          <a:xfrm>
            <a:off x="9208008" y="4946904"/>
            <a:ext cx="2176272" cy="493776"/>
          </a:xfrm>
          <a:prstGeom prst="rect">
            <a:avLst/>
          </a:prstGeom>
          <a:noFill/>
          <a:ln/>
        </p:spPr>
        <p:txBody>
          <a:bodyPr wrap="square" lIns="0" tIns="0" rIns="0" bIns="0" rtlCol="0" anchor="t"/>
          <a:lstStyle/>
          <a:p>
            <a:pPr indent="0" marL="0">
              <a:buNone/>
            </a:pPr>
            <a:r>
              <a:rPr lang="en-US" sz="1250" dirty="0">
                <a:solidFill>
                  <a:schemeClr val="tx1"/>
                </a:solidFill>
              </a:rPr>
              <a:t>a year, realistic, on a €5k sleeve</a:t>
            </a:r>
            <a:endParaRPr lang="en-US" sz="1250" dirty="0"/>
          </a:p>
        </p:txBody>
      </p:sp>
      <p:sp>
        <p:nvSpPr>
          <p:cNvPr id="19" name="s3-live-box"/>
          <p:cNvSpPr/>
          <p:nvPr/>
        </p:nvSpPr>
        <p:spPr>
          <a:xfrm>
            <a:off x="612648" y="4956048"/>
            <a:ext cx="8229600" cy="576072"/>
          </a:xfrm>
          <a:prstGeom prst="rect">
            <a:avLst/>
          </a:prstGeom>
          <a:solidFill>
            <a:schemeClr val="bg2"/>
          </a:solidFill>
          <a:ln w="12700">
            <a:solidFill>
              <a:schemeClr val="bg2"/>
            </a:solidFill>
            <a:prstDash val="solid"/>
          </a:ln>
        </p:spPr>
      </p:sp>
      <p:sp>
        <p:nvSpPr>
          <p:cNvPr id="20" name="Text 15"/>
          <p:cNvSpPr txBox="1"/>
          <p:nvPr/>
        </p:nvSpPr>
        <p:spPr>
          <a:xfrm>
            <a:off x="795528" y="4956048"/>
            <a:ext cx="7863840" cy="576072"/>
          </a:xfrm>
          <a:prstGeom prst="rect">
            <a:avLst/>
          </a:prstGeom>
          <a:noFill/>
          <a:ln/>
        </p:spPr>
        <p:txBody>
          <a:bodyPr wrap="square" lIns="0" tIns="0" rIns="0" bIns="0" rtlCol="0" anchor="ctr"/>
          <a:lstStyle/>
          <a:p>
            <a:pPr indent="0" marL="0">
              <a:buNone/>
            </a:pPr>
            <a:r>
              <a:rPr lang="en-US" sz="1250" b="1" dirty="0">
                <a:solidFill>
                  <a:schemeClr val="tx2"/>
                </a:solidFill>
              </a:rPr>
              <a:t>Live test, 22 Oct (2.6 h):  </a:t>
            </a:r>
            <a:pPr indent="0" marL="0">
              <a:buNone/>
            </a:pPr>
            <a:r>
              <a:rPr lang="en-US" sz="1250" dirty="0">
                <a:solidFill>
                  <a:schemeClr val="tx1"/>
                </a:solidFill>
              </a:rPr>
              <a:t>market making −€29 and failed all 4 pre-set criteria; cross-venue arbitrage −39 bps at €10k. Kraken’s 2 bps spread sits under a 20 bps fee.</a:t>
            </a:r>
            <a:endParaRPr lang="en-US" sz="1250" dirty="0"/>
          </a:p>
        </p:txBody>
      </p:sp>
      <p:sp>
        <p:nvSpPr>
          <p:cNvPr id="21" name="verdict"/>
          <p:cNvSpPr/>
          <p:nvPr/>
        </p:nvSpPr>
        <p:spPr>
          <a:xfrm>
            <a:off x="612648" y="5669280"/>
            <a:ext cx="10972800" cy="530352"/>
          </a:xfrm>
          <a:prstGeom prst="rect">
            <a:avLst/>
          </a:prstGeom>
          <a:solidFill>
            <a:schemeClr val="bg2"/>
          </a:solidFill>
          <a:ln w="12700">
            <a:solidFill>
              <a:schemeClr val="bg2"/>
            </a:solidFill>
            <a:prstDash val="solid"/>
          </a:ln>
        </p:spPr>
      </p:sp>
      <p:sp>
        <p:nvSpPr>
          <p:cNvPr id="22" name="Text 17"/>
          <p:cNvSpPr txBox="1"/>
          <p:nvPr/>
        </p:nvSpPr>
        <p:spPr>
          <a:xfrm>
            <a:off x="841248" y="5669280"/>
            <a:ext cx="10515600" cy="530352"/>
          </a:xfrm>
          <a:prstGeom prst="rect">
            <a:avLst/>
          </a:prstGeom>
          <a:noFill/>
          <a:ln/>
        </p:spPr>
        <p:txBody>
          <a:bodyPr wrap="square" lIns="0" tIns="0" rIns="0" bIns="0" rtlCol="0" anchor="ctr"/>
          <a:lstStyle/>
          <a:p>
            <a:pPr indent="0" marL="0">
              <a:buNone/>
            </a:pPr>
            <a:r>
              <a:rPr lang="en-US" sz="1400" b="1" dirty="0">
                <a:solidFill>
                  <a:schemeClr val="accent3"/>
                </a:solidFill>
              </a:rPr>
              <a:t>Verdict: real edge, tiny capacity.  </a:t>
            </a:r>
            <a:pPr indent="0" marL="0">
              <a:buNone/>
            </a:pPr>
            <a:r>
              <a:rPr lang="en-US" sz="1400" dirty="0">
                <a:solidFill>
                  <a:schemeClr val="tx1"/>
                </a:solidFill>
              </a:rPr>
              <a:t>Deep bids do catch depegs, but each sweep is a few thousand EURC: too small to move €40k, and it needs two venues and on-chain transfers.</a:t>
            </a:r>
            <a:endParaRPr lang="en-US" sz="14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12648" y="310896"/>
            <a:ext cx="10972800" cy="274320"/>
          </a:xfrm>
          <a:prstGeom prst="rect">
            <a:avLst/>
          </a:prstGeom>
          <a:noFill/>
          <a:ln/>
        </p:spPr>
        <p:txBody>
          <a:bodyPr wrap="square" lIns="0" tIns="0" rIns="0" bIns="0" rtlCol="0" anchor="t"/>
          <a:lstStyle/>
          <a:p>
            <a:pPr indent="0" marL="0">
              <a:buNone/>
            </a:pPr>
            <a:r>
              <a:rPr lang="en-US" sz="1400" b="1" dirty="0">
                <a:solidFill>
                  <a:schemeClr val="accent5"/>
                </a:solidFill>
              </a:rPr>
              <a:t>02  ·  SIDE BY SIDE</a:t>
            </a:r>
            <a:endParaRPr lang="en-US" sz="1400" dirty="0"/>
          </a:p>
        </p:txBody>
      </p:sp>
      <p:sp>
        <p:nvSpPr>
          <p:cNvPr id="3" name="Text 0"/>
          <p:cNvSpPr/>
          <p:nvPr>
            <p:ph idx="101" type="title" hasCustomPrompt="1"/>
          </p:nvPr>
        </p:nvSpPr>
        <p:spPr>
          <a:xfrm>
            <a:off x="612648" y="621792"/>
            <a:ext cx="10972800" cy="640080"/>
          </a:xfrm>
          <a:prstGeom prst="rect">
            <a:avLst/>
          </a:prstGeom>
          <a:noFill/>
          <a:ln/>
        </p:spPr>
        <p:txBody>
          <a:bodyPr wrap="square" lIns="0" tIns="0" rIns="0" bIns="0" rtlCol="0" anchor="t"/>
          <a:lstStyle/>
          <a:p>
            <a:pPr algn="l" indent="0" marL="0">
              <a:buNone/>
            </a:pPr>
            <a:r>
              <a:rPr lang="en-US" sz="3200" b="1" dirty="0">
                <a:solidFill>
                  <a:schemeClr val="tx2"/>
                </a:solidFill>
              </a:rPr>
              <a:t>None beats the deposit by enough to justify the risk</a:t>
            </a:r>
            <a:endParaRPr lang="en-US" sz="3200" dirty="0"/>
          </a:p>
        </p:txBody>
      </p:sp>
      <p:sp>
        <p:nvSpPr>
          <p:cNvPr id="4" name="Text 0"/>
          <p:cNvSpPr/>
          <p:nvPr>
            <p:ph idx="102" type="body" hasCustomPrompt="1"/>
          </p:nvPr>
        </p:nvSpPr>
        <p:spPr>
          <a:xfrm>
            <a:off x="612648" y="6355080"/>
            <a:ext cx="10058400" cy="292608"/>
          </a:xfrm>
          <a:prstGeom prst="rect">
            <a:avLst/>
          </a:prstGeom>
          <a:noFill/>
          <a:ln/>
        </p:spPr>
        <p:txBody>
          <a:bodyPr wrap="square" lIns="0" tIns="0" rIns="0" bIns="0" rtlCol="0" anchor="t"/>
          <a:lstStyle/>
          <a:p>
            <a:pPr indent="0" marL="0">
              <a:buNone/>
            </a:pPr>
            <a:r>
              <a:rPr lang="en-US" sz="1000" dirty="0">
                <a:solidFill>
                  <a:schemeClr val="accent5"/>
                </a:solidFill>
              </a:rPr>
              <a:t>Ranges: 1 from the live run; 2 from docs/eurc_live_test.md, before the EUR/USD hedge; 3 from docs/eurc_live_test_results.md, €5k sleeve.</a:t>
            </a:r>
            <a:endParaRPr lang="en-US" sz="1000" dirty="0"/>
          </a:p>
        </p:txBody>
      </p:sp>
      <p:sp>
        <p:nvSpPr>
          <p:cNvPr id="6" name="Text 3"/>
          <p:cNvSpPr txBox="1"/>
          <p:nvPr/>
        </p:nvSpPr>
        <p:spPr>
          <a:xfrm>
            <a:off x="612648" y="1371600"/>
            <a:ext cx="6766560" cy="320040"/>
          </a:xfrm>
          <a:prstGeom prst="rect">
            <a:avLst/>
          </a:prstGeom>
          <a:noFill/>
          <a:ln/>
        </p:spPr>
        <p:txBody>
          <a:bodyPr wrap="square" lIns="0" tIns="0" rIns="0" bIns="0" rtlCol="0" anchor="t"/>
          <a:lstStyle/>
          <a:p>
            <a:pPr indent="0" marL="0">
              <a:buNone/>
            </a:pPr>
            <a:r>
              <a:rPr lang="en-US" sz="1400" b="1" dirty="0">
                <a:solidFill>
                  <a:schemeClr val="tx2"/>
                </a:solidFill>
              </a:rPr>
              <a:t>What €40k would have earned in a year</a:t>
            </a:r>
            <a:endParaRPr lang="en-US" sz="1400" dirty="0"/>
          </a:p>
        </p:txBody>
      </p:sp>
      <p:sp>
        <p:nvSpPr>
          <p:cNvPr id="7" name="Shape 4"/>
          <p:cNvSpPr/>
          <p:nvPr/>
        </p:nvSpPr>
        <p:spPr>
          <a:xfrm>
            <a:off x="3127248" y="1783080"/>
            <a:ext cx="0" cy="2852928"/>
          </a:xfrm>
          <a:prstGeom prst="line">
            <a:avLst/>
          </a:prstGeom>
          <a:noFill/>
          <a:ln w="9525">
            <a:solidFill>
              <a:srgbClr val="D6DFE2"/>
            </a:solidFill>
            <a:prstDash val="solid"/>
          </a:ln>
        </p:spPr>
      </p:sp>
      <p:sp>
        <p:nvSpPr>
          <p:cNvPr id="8" name="Text 5"/>
          <p:cNvSpPr txBox="1"/>
          <p:nvPr/>
        </p:nvSpPr>
        <p:spPr>
          <a:xfrm>
            <a:off x="2761488" y="4681728"/>
            <a:ext cx="731520" cy="228600"/>
          </a:xfrm>
          <a:prstGeom prst="rect">
            <a:avLst/>
          </a:prstGeom>
          <a:noFill/>
          <a:ln/>
        </p:spPr>
        <p:txBody>
          <a:bodyPr wrap="square" lIns="0" tIns="0" rIns="0" bIns="0" rtlCol="0" anchor="t"/>
          <a:lstStyle/>
          <a:p>
            <a:pPr algn="ctr" indent="0" marL="0">
              <a:buNone/>
            </a:pPr>
            <a:r>
              <a:rPr lang="en-US" sz="1000" dirty="0">
                <a:solidFill>
                  <a:schemeClr val="accent5"/>
                </a:solidFill>
              </a:rPr>
              <a:t>€0</a:t>
            </a:r>
            <a:endParaRPr lang="en-US" sz="1000" dirty="0"/>
          </a:p>
        </p:txBody>
      </p:sp>
      <p:sp>
        <p:nvSpPr>
          <p:cNvPr id="9" name="Shape 6"/>
          <p:cNvSpPr/>
          <p:nvPr/>
        </p:nvSpPr>
        <p:spPr>
          <a:xfrm>
            <a:off x="4098798" y="1783080"/>
            <a:ext cx="0" cy="2852928"/>
          </a:xfrm>
          <a:prstGeom prst="line">
            <a:avLst/>
          </a:prstGeom>
          <a:noFill/>
          <a:ln w="9525">
            <a:solidFill>
              <a:srgbClr val="D6DFE2"/>
            </a:solidFill>
            <a:prstDash val="solid"/>
          </a:ln>
        </p:spPr>
      </p:sp>
      <p:sp>
        <p:nvSpPr>
          <p:cNvPr id="10" name="Text 7"/>
          <p:cNvSpPr txBox="1"/>
          <p:nvPr/>
        </p:nvSpPr>
        <p:spPr>
          <a:xfrm>
            <a:off x="3733038" y="4681728"/>
            <a:ext cx="731520" cy="228600"/>
          </a:xfrm>
          <a:prstGeom prst="rect">
            <a:avLst/>
          </a:prstGeom>
          <a:noFill/>
          <a:ln/>
        </p:spPr>
        <p:txBody>
          <a:bodyPr wrap="square" lIns="0" tIns="0" rIns="0" bIns="0" rtlCol="0" anchor="t"/>
          <a:lstStyle/>
          <a:p>
            <a:pPr algn="ctr" indent="0" marL="0">
              <a:buNone/>
            </a:pPr>
            <a:r>
              <a:rPr lang="en-US" sz="1000" dirty="0">
                <a:solidFill>
                  <a:schemeClr val="accent5"/>
                </a:solidFill>
              </a:rPr>
              <a:t>€500</a:t>
            </a:r>
            <a:endParaRPr lang="en-US" sz="1000" dirty="0"/>
          </a:p>
        </p:txBody>
      </p:sp>
      <p:sp>
        <p:nvSpPr>
          <p:cNvPr id="11" name="Shape 8"/>
          <p:cNvSpPr/>
          <p:nvPr/>
        </p:nvSpPr>
        <p:spPr>
          <a:xfrm>
            <a:off x="5070348" y="1783080"/>
            <a:ext cx="0" cy="2852928"/>
          </a:xfrm>
          <a:prstGeom prst="line">
            <a:avLst/>
          </a:prstGeom>
          <a:noFill/>
          <a:ln w="9525">
            <a:solidFill>
              <a:srgbClr val="D6DFE2"/>
            </a:solidFill>
            <a:prstDash val="solid"/>
          </a:ln>
        </p:spPr>
      </p:sp>
      <p:sp>
        <p:nvSpPr>
          <p:cNvPr id="12" name="Text 9"/>
          <p:cNvSpPr txBox="1"/>
          <p:nvPr/>
        </p:nvSpPr>
        <p:spPr>
          <a:xfrm>
            <a:off x="4704588" y="4681728"/>
            <a:ext cx="731520" cy="228600"/>
          </a:xfrm>
          <a:prstGeom prst="rect">
            <a:avLst/>
          </a:prstGeom>
          <a:noFill/>
          <a:ln/>
        </p:spPr>
        <p:txBody>
          <a:bodyPr wrap="square" lIns="0" tIns="0" rIns="0" bIns="0" rtlCol="0" anchor="t"/>
          <a:lstStyle/>
          <a:p>
            <a:pPr algn="ctr" indent="0" marL="0">
              <a:buNone/>
            </a:pPr>
            <a:r>
              <a:rPr lang="en-US" sz="1000" dirty="0">
                <a:solidFill>
                  <a:schemeClr val="accent5"/>
                </a:solidFill>
              </a:rPr>
              <a:t>€1,000</a:t>
            </a:r>
            <a:endParaRPr lang="en-US" sz="1000" dirty="0"/>
          </a:p>
        </p:txBody>
      </p:sp>
      <p:sp>
        <p:nvSpPr>
          <p:cNvPr id="13" name="Shape 10"/>
          <p:cNvSpPr/>
          <p:nvPr/>
        </p:nvSpPr>
        <p:spPr>
          <a:xfrm>
            <a:off x="6041898" y="1783080"/>
            <a:ext cx="0" cy="2852928"/>
          </a:xfrm>
          <a:prstGeom prst="line">
            <a:avLst/>
          </a:prstGeom>
          <a:noFill/>
          <a:ln w="9525">
            <a:solidFill>
              <a:srgbClr val="D6DFE2"/>
            </a:solidFill>
            <a:prstDash val="solid"/>
          </a:ln>
        </p:spPr>
      </p:sp>
      <p:sp>
        <p:nvSpPr>
          <p:cNvPr id="14" name="Text 11"/>
          <p:cNvSpPr txBox="1"/>
          <p:nvPr/>
        </p:nvSpPr>
        <p:spPr>
          <a:xfrm>
            <a:off x="5676138" y="4681728"/>
            <a:ext cx="731520" cy="228600"/>
          </a:xfrm>
          <a:prstGeom prst="rect">
            <a:avLst/>
          </a:prstGeom>
          <a:noFill/>
          <a:ln/>
        </p:spPr>
        <p:txBody>
          <a:bodyPr wrap="square" lIns="0" tIns="0" rIns="0" bIns="0" rtlCol="0" anchor="t"/>
          <a:lstStyle/>
          <a:p>
            <a:pPr algn="ctr" indent="0" marL="0">
              <a:buNone/>
            </a:pPr>
            <a:r>
              <a:rPr lang="en-US" sz="1000" dirty="0">
                <a:solidFill>
                  <a:schemeClr val="accent5"/>
                </a:solidFill>
              </a:rPr>
              <a:t>€1,500</a:t>
            </a:r>
            <a:endParaRPr lang="en-US" sz="1000" dirty="0"/>
          </a:p>
        </p:txBody>
      </p:sp>
      <p:sp>
        <p:nvSpPr>
          <p:cNvPr id="15" name="Shape 12"/>
          <p:cNvSpPr/>
          <p:nvPr/>
        </p:nvSpPr>
        <p:spPr>
          <a:xfrm>
            <a:off x="7013448" y="1783080"/>
            <a:ext cx="0" cy="2852928"/>
          </a:xfrm>
          <a:prstGeom prst="line">
            <a:avLst/>
          </a:prstGeom>
          <a:noFill/>
          <a:ln w="9525">
            <a:solidFill>
              <a:srgbClr val="D6DFE2"/>
            </a:solidFill>
            <a:prstDash val="solid"/>
          </a:ln>
        </p:spPr>
      </p:sp>
      <p:sp>
        <p:nvSpPr>
          <p:cNvPr id="16" name="Text 13"/>
          <p:cNvSpPr txBox="1"/>
          <p:nvPr/>
        </p:nvSpPr>
        <p:spPr>
          <a:xfrm>
            <a:off x="6647688" y="4681728"/>
            <a:ext cx="731520" cy="228600"/>
          </a:xfrm>
          <a:prstGeom prst="rect">
            <a:avLst/>
          </a:prstGeom>
          <a:noFill/>
          <a:ln/>
        </p:spPr>
        <p:txBody>
          <a:bodyPr wrap="square" lIns="0" tIns="0" rIns="0" bIns="0" rtlCol="0" anchor="t"/>
          <a:lstStyle/>
          <a:p>
            <a:pPr algn="ctr" indent="0" marL="0">
              <a:buNone/>
            </a:pPr>
            <a:r>
              <a:rPr lang="en-US" sz="1000" dirty="0">
                <a:solidFill>
                  <a:schemeClr val="accent5"/>
                </a:solidFill>
              </a:rPr>
              <a:t>€2,000</a:t>
            </a:r>
            <a:endParaRPr lang="en-US" sz="1000" dirty="0"/>
          </a:p>
        </p:txBody>
      </p:sp>
      <p:sp>
        <p:nvSpPr>
          <p:cNvPr id="17" name="deposit-line"/>
          <p:cNvSpPr/>
          <p:nvPr/>
        </p:nvSpPr>
        <p:spPr>
          <a:xfrm>
            <a:off x="5070348" y="1737360"/>
            <a:ext cx="0" cy="2944368"/>
          </a:xfrm>
          <a:prstGeom prst="line">
            <a:avLst/>
          </a:prstGeom>
          <a:noFill/>
          <a:ln w="19050">
            <a:solidFill>
              <a:srgbClr val="18313B"/>
            </a:solidFill>
            <a:prstDash val="dash"/>
          </a:ln>
        </p:spPr>
      </p:sp>
      <p:sp>
        <p:nvSpPr>
          <p:cNvPr id="18" name="Text 15"/>
          <p:cNvSpPr txBox="1"/>
          <p:nvPr/>
        </p:nvSpPr>
        <p:spPr>
          <a:xfrm>
            <a:off x="612648" y="1965960"/>
            <a:ext cx="2423160" cy="365760"/>
          </a:xfrm>
          <a:prstGeom prst="rect">
            <a:avLst/>
          </a:prstGeom>
          <a:noFill/>
          <a:ln/>
        </p:spPr>
        <p:txBody>
          <a:bodyPr wrap="square" lIns="0" tIns="0" rIns="0" bIns="0" rtlCol="0" anchor="ctr"/>
          <a:lstStyle/>
          <a:p>
            <a:pPr indent="0" marL="0">
              <a:buNone/>
            </a:pPr>
            <a:r>
              <a:rPr lang="en-US" sz="1300" b="1" dirty="0">
                <a:solidFill>
                  <a:schemeClr val="tx2"/>
                </a:solidFill>
              </a:rPr>
              <a:t>Bank deposit, 2.5%</a:t>
            </a:r>
            <a:endParaRPr lang="en-US" sz="1300" dirty="0"/>
          </a:p>
        </p:txBody>
      </p:sp>
      <p:sp>
        <p:nvSpPr>
          <p:cNvPr id="19" name="range-0"/>
          <p:cNvSpPr/>
          <p:nvPr/>
        </p:nvSpPr>
        <p:spPr>
          <a:xfrm>
            <a:off x="5070348" y="1984248"/>
            <a:ext cx="82296" cy="310896"/>
          </a:xfrm>
          <a:prstGeom prst="rect">
            <a:avLst/>
          </a:prstGeom>
          <a:solidFill>
            <a:schemeClr val="tx2"/>
          </a:solidFill>
          <a:ln w="12700">
            <a:solidFill>
              <a:schemeClr val="tx2"/>
            </a:solidFill>
            <a:prstDash val="solid"/>
          </a:ln>
        </p:spPr>
      </p:sp>
      <p:sp>
        <p:nvSpPr>
          <p:cNvPr id="20" name="Text 17"/>
          <p:cNvSpPr txBox="1"/>
          <p:nvPr/>
        </p:nvSpPr>
        <p:spPr>
          <a:xfrm>
            <a:off x="5262372" y="1984248"/>
            <a:ext cx="1600200" cy="310896"/>
          </a:xfrm>
          <a:prstGeom prst="rect">
            <a:avLst/>
          </a:prstGeom>
          <a:noFill/>
          <a:ln/>
        </p:spPr>
        <p:txBody>
          <a:bodyPr wrap="square" lIns="0" tIns="0" rIns="0" bIns="0" rtlCol="0" anchor="ctr"/>
          <a:lstStyle/>
          <a:p>
            <a:pPr indent="0" marL="0">
              <a:buNone/>
            </a:pPr>
            <a:r>
              <a:rPr lang="en-US" sz="1100" dirty="0">
                <a:solidFill>
                  <a:schemeClr val="accent5"/>
                </a:solidFill>
              </a:rPr>
              <a:t>€1,000</a:t>
            </a:r>
            <a:endParaRPr lang="en-US" sz="1100" dirty="0"/>
          </a:p>
        </p:txBody>
      </p:sp>
      <p:sp>
        <p:nvSpPr>
          <p:cNvPr id="21" name="Text 18"/>
          <p:cNvSpPr txBox="1"/>
          <p:nvPr/>
        </p:nvSpPr>
        <p:spPr>
          <a:xfrm>
            <a:off x="612648" y="2679192"/>
            <a:ext cx="2423160" cy="365760"/>
          </a:xfrm>
          <a:prstGeom prst="rect">
            <a:avLst/>
          </a:prstGeom>
          <a:noFill/>
          <a:ln/>
        </p:spPr>
        <p:txBody>
          <a:bodyPr wrap="square" lIns="0" tIns="0" rIns="0" bIns="0" rtlCol="0" anchor="ctr"/>
          <a:lstStyle/>
          <a:p>
            <a:pPr indent="0" marL="0">
              <a:buNone/>
            </a:pPr>
            <a:r>
              <a:rPr lang="en-US" sz="1300" b="1" dirty="0">
                <a:solidFill>
                  <a:schemeClr val="accent1"/>
                </a:solidFill>
              </a:rPr>
              <a:t>1  Cross-exchange spot</a:t>
            </a:r>
            <a:endParaRPr lang="en-US" sz="1300" dirty="0"/>
          </a:p>
        </p:txBody>
      </p:sp>
      <p:sp>
        <p:nvSpPr>
          <p:cNvPr id="22" name="range-1"/>
          <p:cNvSpPr/>
          <p:nvPr/>
        </p:nvSpPr>
        <p:spPr>
          <a:xfrm>
            <a:off x="3127248" y="2697480"/>
            <a:ext cx="82296" cy="310896"/>
          </a:xfrm>
          <a:prstGeom prst="rect">
            <a:avLst/>
          </a:prstGeom>
          <a:solidFill>
            <a:schemeClr val="accent1"/>
          </a:solidFill>
          <a:ln w="12700">
            <a:solidFill>
              <a:schemeClr val="accent1"/>
            </a:solidFill>
            <a:prstDash val="solid"/>
          </a:ln>
        </p:spPr>
      </p:sp>
      <p:sp>
        <p:nvSpPr>
          <p:cNvPr id="23" name="Text 20"/>
          <p:cNvSpPr txBox="1"/>
          <p:nvPr/>
        </p:nvSpPr>
        <p:spPr>
          <a:xfrm>
            <a:off x="3319272" y="2697480"/>
            <a:ext cx="1600200" cy="310896"/>
          </a:xfrm>
          <a:prstGeom prst="rect">
            <a:avLst/>
          </a:prstGeom>
          <a:noFill/>
          <a:ln/>
        </p:spPr>
        <p:txBody>
          <a:bodyPr wrap="square" lIns="0" tIns="0" rIns="0" bIns="0" rtlCol="0" anchor="ctr"/>
          <a:lstStyle/>
          <a:p>
            <a:pPr indent="0" marL="0">
              <a:buNone/>
            </a:pPr>
            <a:r>
              <a:rPr lang="en-US" sz="1100" dirty="0">
                <a:solidFill>
                  <a:schemeClr val="accent5"/>
                </a:solidFill>
              </a:rPr>
              <a:t>€0: no trade clears</a:t>
            </a:r>
            <a:endParaRPr lang="en-US" sz="1100" dirty="0"/>
          </a:p>
        </p:txBody>
      </p:sp>
      <p:sp>
        <p:nvSpPr>
          <p:cNvPr id="24" name="Text 21"/>
          <p:cNvSpPr txBox="1"/>
          <p:nvPr/>
        </p:nvSpPr>
        <p:spPr>
          <a:xfrm>
            <a:off x="612648" y="3392424"/>
            <a:ext cx="2423160" cy="365760"/>
          </a:xfrm>
          <a:prstGeom prst="rect">
            <a:avLst/>
          </a:prstGeom>
          <a:noFill/>
          <a:ln/>
        </p:spPr>
        <p:txBody>
          <a:bodyPr wrap="square" lIns="0" tIns="0" rIns="0" bIns="0" rtlCol="0" anchor="ctr"/>
          <a:lstStyle/>
          <a:p>
            <a:pPr indent="0" marL="0">
              <a:buNone/>
            </a:pPr>
            <a:r>
              <a:rPr lang="en-US" sz="1300" b="1" dirty="0">
                <a:solidFill>
                  <a:schemeClr val="accent2"/>
                </a:solidFill>
              </a:rPr>
              <a:t>2  Perpetual carry</a:t>
            </a:r>
            <a:endParaRPr lang="en-US" sz="1300" dirty="0"/>
          </a:p>
        </p:txBody>
      </p:sp>
      <p:sp>
        <p:nvSpPr>
          <p:cNvPr id="25" name="range-2"/>
          <p:cNvSpPr/>
          <p:nvPr/>
        </p:nvSpPr>
        <p:spPr>
          <a:xfrm>
            <a:off x="4992624" y="3410712"/>
            <a:ext cx="1476756" cy="310896"/>
          </a:xfrm>
          <a:prstGeom prst="rect">
            <a:avLst/>
          </a:prstGeom>
          <a:solidFill>
            <a:schemeClr val="accent2"/>
          </a:solidFill>
          <a:ln w="12700">
            <a:solidFill>
              <a:schemeClr val="accent2"/>
            </a:solidFill>
            <a:prstDash val="solid"/>
          </a:ln>
        </p:spPr>
      </p:sp>
      <p:sp>
        <p:nvSpPr>
          <p:cNvPr id="26" name="Text 23"/>
          <p:cNvSpPr txBox="1"/>
          <p:nvPr/>
        </p:nvSpPr>
        <p:spPr>
          <a:xfrm>
            <a:off x="3118104" y="3410712"/>
            <a:ext cx="1783080" cy="310896"/>
          </a:xfrm>
          <a:prstGeom prst="rect">
            <a:avLst/>
          </a:prstGeom>
          <a:noFill/>
          <a:ln/>
        </p:spPr>
        <p:txBody>
          <a:bodyPr wrap="square" lIns="0" tIns="0" rIns="0" bIns="0" rtlCol="0" anchor="ctr"/>
          <a:lstStyle/>
          <a:p>
            <a:pPr algn="r" indent="0" marL="0">
              <a:buNone/>
            </a:pPr>
            <a:r>
              <a:rPr lang="en-US" sz="1100" dirty="0">
                <a:solidFill>
                  <a:schemeClr val="accent5"/>
                </a:solidFill>
              </a:rPr>
              <a:t>€960–1,720 before hedge</a:t>
            </a:r>
            <a:endParaRPr lang="en-US" sz="1100" dirty="0"/>
          </a:p>
        </p:txBody>
      </p:sp>
      <p:sp>
        <p:nvSpPr>
          <p:cNvPr id="27" name="Text 24"/>
          <p:cNvSpPr txBox="1"/>
          <p:nvPr/>
        </p:nvSpPr>
        <p:spPr>
          <a:xfrm>
            <a:off x="612648" y="4105656"/>
            <a:ext cx="2423160" cy="365760"/>
          </a:xfrm>
          <a:prstGeom prst="rect">
            <a:avLst/>
          </a:prstGeom>
          <a:noFill/>
          <a:ln/>
        </p:spPr>
        <p:txBody>
          <a:bodyPr wrap="square" lIns="0" tIns="0" rIns="0" bIns="0" rtlCol="0" anchor="ctr"/>
          <a:lstStyle/>
          <a:p>
            <a:pPr indent="0" marL="0">
              <a:buNone/>
            </a:pPr>
            <a:r>
              <a:rPr lang="en-US" sz="1300" b="1" dirty="0">
                <a:solidFill>
                  <a:schemeClr val="accent3"/>
                </a:solidFill>
              </a:rPr>
              <a:t>3  EURC depeg capture</a:t>
            </a:r>
            <a:endParaRPr lang="en-US" sz="1300" dirty="0"/>
          </a:p>
        </p:txBody>
      </p:sp>
      <p:sp>
        <p:nvSpPr>
          <p:cNvPr id="28" name="range-3"/>
          <p:cNvSpPr/>
          <p:nvPr/>
        </p:nvSpPr>
        <p:spPr>
          <a:xfrm>
            <a:off x="3321558" y="4123944"/>
            <a:ext cx="388620" cy="310896"/>
          </a:xfrm>
          <a:prstGeom prst="rect">
            <a:avLst/>
          </a:prstGeom>
          <a:solidFill>
            <a:schemeClr val="accent3"/>
          </a:solidFill>
          <a:ln w="12700">
            <a:solidFill>
              <a:schemeClr val="accent3"/>
            </a:solidFill>
            <a:prstDash val="solid"/>
          </a:ln>
        </p:spPr>
      </p:sp>
      <p:sp>
        <p:nvSpPr>
          <p:cNvPr id="29" name="Text 26"/>
          <p:cNvSpPr txBox="1"/>
          <p:nvPr/>
        </p:nvSpPr>
        <p:spPr>
          <a:xfrm>
            <a:off x="3819906" y="4123944"/>
            <a:ext cx="1600200" cy="310896"/>
          </a:xfrm>
          <a:prstGeom prst="rect">
            <a:avLst/>
          </a:prstGeom>
          <a:noFill/>
          <a:ln/>
        </p:spPr>
        <p:txBody>
          <a:bodyPr wrap="square" lIns="0" tIns="0" rIns="0" bIns="0" rtlCol="0" anchor="ctr"/>
          <a:lstStyle/>
          <a:p>
            <a:pPr indent="0" marL="0">
              <a:buNone/>
            </a:pPr>
            <a:r>
              <a:rPr lang="en-US" sz="1100" dirty="0">
                <a:solidFill>
                  <a:schemeClr val="accent5"/>
                </a:solidFill>
              </a:rPr>
              <a:t>€100–300, capped</a:t>
            </a:r>
            <a:endParaRPr lang="en-US" sz="1100" dirty="0"/>
          </a:p>
        </p:txBody>
      </p:sp>
      <p:graphicFrame>
        <p:nvGraphicFramePr>
          <p:cNvPr id="7" name="scorecard"/>
          <p:cNvGraphicFramePr>
            <a:graphicFrameLocks noGrp="1"/>
          </p:cNvGraphicFramePr>
          <p:nvPr>
            <p:extLst>
              <p:ext uri="{D42A27DB-BD31-4B8C-83A1-F6EECF244321}">
                <p14:modId xmlns:p14="http://schemas.microsoft.com/office/powerpoint/2010/main" val="1579011935"/>
              </p:ext>
            </p:extLst>
          </p:nvPr>
        </p:nvGraphicFramePr>
        <p:xfrm>
          <a:off x="7498080" y="1783080"/>
          <a:ext cx="4087368" cy="914400"/>
        </p:xfrm>
        <a:graphic>
          <a:graphicData uri="http://schemas.openxmlformats.org/drawingml/2006/table">
            <a:tbl>
              <a:tblPr/>
              <a:tblGrid>
                <a:gridCol w="338328"/>
                <a:gridCol w="1005840"/>
                <a:gridCol w="1280160"/>
                <a:gridCol w="1463040"/>
              </a:tblGrid>
              <a:tr h="347472">
                <a:tc>
                  <a:txBody>
                    <a:bodyPr/>
                    <a:lstStyle/>
                    <a:p>
                      <a:pPr indent="0" marL="0">
                        <a:buNone/>
                      </a:pP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c>
                  <a:txBody>
                    <a:bodyPr/>
                    <a:lstStyle/>
                    <a:p>
                      <a:pPr indent="0" marL="0">
                        <a:buNone/>
                      </a:pPr>
                      <a:r>
                        <a:rPr lang="en-US" sz="1100" b="1" dirty="0">
                          <a:solidFill>
                            <a:srgbClr val="FFFFFF"/>
                          </a:solidFill>
                        </a:rPr>
                        <a:t>Capacity</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c>
                  <a:txBody>
                    <a:bodyPr/>
                    <a:lstStyle/>
                    <a:p>
                      <a:pPr indent="0" marL="0">
                        <a:buNone/>
                      </a:pPr>
                      <a:r>
                        <a:rPr lang="en-US" sz="1100" b="1" dirty="0">
                          <a:solidFill>
                            <a:srgbClr val="FFFFFF"/>
                          </a:solidFill>
                        </a:rPr>
                        <a:t>Main risk</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c>
                  <a:txBody>
                    <a:bodyPr/>
                    <a:lstStyle/>
                    <a:p>
                      <a:pPr indent="0" marL="0">
                        <a:buNone/>
                      </a:pPr>
                      <a:r>
                        <a:rPr lang="en-US" sz="1100" b="1" dirty="0">
                          <a:solidFill>
                            <a:srgbClr val="FFFFFF"/>
                          </a:solidFill>
                        </a:rPr>
                        <a:t>Worth revisiting if</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r>
              <a:tr h="841248">
                <a:tc>
                  <a:txBody>
                    <a:bodyPr/>
                    <a:lstStyle/>
                    <a:p>
                      <a:pPr algn="ctr" indent="0" marL="0">
                        <a:buNone/>
                      </a:pPr>
                      <a:r>
                        <a:rPr lang="en-US" sz="1100" b="1" dirty="0">
                          <a:solidFill>
                            <a:srgbClr val="2F5D8A"/>
                          </a:solidFill>
                        </a:rPr>
                        <a:t>1</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100" dirty="0">
                          <a:solidFill>
                            <a:srgbClr val="18313B"/>
                          </a:solidFill>
                        </a:rPr>
                        <a:t>None: no edge</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100" dirty="0">
                          <a:solidFill>
                            <a:srgbClr val="18313B"/>
                          </a:solidFill>
                        </a:rPr>
                        <a:t>Fees on both legs; frozen prices</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100" dirty="0">
                          <a:solidFill>
                            <a:srgbClr val="18313B"/>
                          </a:solidFill>
                        </a:rPr>
                        <a:t>A maker-only design with a near-free hedge</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r>
              <a:tr h="841248">
                <a:tc>
                  <a:txBody>
                    <a:bodyPr/>
                    <a:lstStyle/>
                    <a:p>
                      <a:pPr algn="ctr" indent="0" marL="0">
                        <a:buNone/>
                      </a:pPr>
                      <a:r>
                        <a:rPr lang="en-US" sz="1100" b="1" dirty="0">
                          <a:solidFill>
                            <a:srgbClr val="B7791F"/>
                          </a:solidFill>
                        </a:rPr>
                        <a:t>2</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100" dirty="0">
                          <a:solidFill>
                            <a:srgbClr val="18313B"/>
                          </a:solidFill>
                        </a:rPr>
                        <a:t>Large (millions)</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100" dirty="0">
                          <a:solidFill>
                            <a:srgbClr val="18313B"/>
                          </a:solidFill>
                        </a:rPr>
                        <a:t>Negative funding; exchange and ESMA risk</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100" dirty="0">
                          <a:solidFill>
                            <a:srgbClr val="18313B"/>
                          </a:solidFill>
                        </a:rPr>
                        <a:t>90-day funding above ≈7%, sustained, and EU rules clarified</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r>
              <a:tr h="841248">
                <a:tc>
                  <a:txBody>
                    <a:bodyPr/>
                    <a:lstStyle/>
                    <a:p>
                      <a:pPr algn="ctr" indent="0" marL="0">
                        <a:buNone/>
                      </a:pPr>
                      <a:r>
                        <a:rPr lang="en-US" sz="1100" b="1" dirty="0">
                          <a:solidFill>
                            <a:srgbClr val="2F7D6D"/>
                          </a:solidFill>
                        </a:rPr>
                        <a:t>3</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100" dirty="0">
                          <a:solidFill>
                            <a:srgbClr val="18313B"/>
                          </a:solidFill>
                        </a:rPr>
                        <a:t>≈2.5k EURC per event</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100" dirty="0">
                          <a:solidFill>
                            <a:srgbClr val="18313B"/>
                          </a:solidFill>
                        </a:rPr>
                        <a:t>Thin books; transfer costs</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c>
                  <a:txBody>
                    <a:bodyPr/>
                    <a:lstStyle/>
                    <a:p>
                      <a:pPr indent="0" marL="0">
                        <a:buNone/>
                      </a:pPr>
                      <a:r>
                        <a:rPr lang="en-US" sz="1100" dirty="0">
                          <a:solidFill>
                            <a:srgbClr val="18313B"/>
                          </a:solidFill>
                        </a:rPr>
                        <a:t>Free par redemption, or Bitvavo volume above €100k a day</a:t>
                      </a:r>
                      <a:endParaRPr lang="en-US" sz="1100" dirty="0"/>
                    </a:p>
                  </a:txBody>
                  <a:tcPr marL="64008" marR="64008" marT="27432" marB="27432"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tcPr>
                </a:tc>
              </a:tr>
            </a:tbl>
          </a:graphicData>
        </a:graphic>
      </p:graphicFrame>
      <p:sp>
        <p:nvSpPr>
          <p:cNvPr id="31" name="decision-box"/>
          <p:cNvSpPr/>
          <p:nvPr/>
        </p:nvSpPr>
        <p:spPr>
          <a:xfrm>
            <a:off x="612648" y="5120640"/>
            <a:ext cx="10972800" cy="1069848"/>
          </a:xfrm>
          <a:prstGeom prst="rect">
            <a:avLst/>
          </a:prstGeom>
          <a:solidFill>
            <a:schemeClr val="tx2"/>
          </a:solidFill>
          <a:ln w="12700">
            <a:solidFill>
              <a:schemeClr val="tx2"/>
            </a:solidFill>
            <a:prstDash val="solid"/>
          </a:ln>
        </p:spPr>
      </p:sp>
      <p:sp>
        <p:nvSpPr>
          <p:cNvPr id="32" name="Text 28"/>
          <p:cNvSpPr txBox="1"/>
          <p:nvPr/>
        </p:nvSpPr>
        <p:spPr>
          <a:xfrm>
            <a:off x="886968" y="5120640"/>
            <a:ext cx="10424160" cy="1069848"/>
          </a:xfrm>
          <a:prstGeom prst="rect">
            <a:avLst/>
          </a:prstGeom>
          <a:noFill/>
          <a:ln/>
        </p:spPr>
        <p:txBody>
          <a:bodyPr wrap="square" lIns="0" tIns="0" rIns="0" bIns="0" rtlCol="0" anchor="ctr"/>
          <a:lstStyle/>
          <a:p>
            <a:pPr indent="0" marL="0">
              <a:spcAft>
                <a:spcPts val="400"/>
              </a:spcAft>
              <a:buNone/>
            </a:pPr>
            <a:r>
              <a:rPr lang="en-US" sz="1700" b="1" dirty="0">
                <a:solidFill>
                  <a:schemeClr val="bg1"/>
                </a:solidFill>
              </a:rPr>
              <a:t>Decision: deploy none.  </a:t>
            </a:r>
            <a:pPr indent="0" marL="0">
              <a:spcAft>
                <a:spcPts val="400"/>
              </a:spcAft>
              <a:buNone/>
            </a:pPr>
            <a:r>
              <a:rPr lang="en-US" sz="1700" dirty="0">
                <a:solidFill>
                  <a:schemeClr val="bg1"/>
                </a:solidFill>
              </a:rPr>
              <a:t>The €40k stays in the 2.5% deposit.</a:t>
            </a:r>
            <a:endParaRPr lang="en-US" sz="1700" dirty="0"/>
          </a:p>
          <a:p>
            <a:pPr indent="0" marL="0">
              <a:spcAft>
                <a:spcPts val="400"/>
              </a:spcAft>
              <a:buNone/>
            </a:pPr>
            <a:r>
              <a:rPr lang="en-US" sz="1250" dirty="0">
                <a:solidFill>
                  <a:schemeClr val="bg2"/>
                </a:solidFill>
              </a:rPr>
              <a:t>What the work is good for now: live venue-quality data for best execution (MiCA Art. 78), euro-stablecoin liquidity evidence, and a checklist of the backtest errors that make losses look like profit.</a:t>
            </a:r>
            <a:endParaRPr lang="en-US" sz="1700" dirty="0"/>
          </a:p>
        </p:txBody>
      </p:sp>
      <p:sp>
        <p:nvSpPr>
          <p:cNvPr id="25" name="Slide Number Placeholder 0"/>
          <p:cNvSpPr>
            <a:spLocks noGrp="1"/>
          </p:cNvSpPr>
          <p:nvPr>
            <p:ph type="sldNum" sz="quarter" idx="4294967295"/>
          </p:nvPr>
        </p:nvSpPr>
        <p:spPr>
          <a:xfrm>
            <a:off x="11128248" y="633679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Crypto Arbitrage Closure">
  <a:themeElements>
    <a:clrScheme name="Crypto Arbitrage Closure">
      <a:dk1>
        <a:srgbClr val="18313B"/>
      </a:dk1>
      <a:lt1>
        <a:srgbClr val="FFFFFF"/>
      </a:lt1>
      <a:dk2>
        <a:srgbClr val="173C4A"/>
      </a:dk2>
      <a:lt2>
        <a:srgbClr val="EDF3F4"/>
      </a:lt2>
      <a:accent1>
        <a:srgbClr val="2F5D8A"/>
      </a:accent1>
      <a:accent2>
        <a:srgbClr val="B7791F"/>
      </a:accent2>
      <a:accent3>
        <a:srgbClr val="2F7D6D"/>
      </a:accent3>
      <a:accent4>
        <a:srgbClr val="A33639"/>
      </a:accent4>
      <a:accent5>
        <a:srgbClr val="53656D"/>
      </a:accent5>
      <a:accent6>
        <a:srgbClr val="24525F"/>
      </a:accent6>
      <a:hlink>
        <a:srgbClr val="2F5D8A"/>
      </a:hlink>
      <a:folHlink>
        <a:srgbClr val="53656D"/>
      </a:folHlink>
    </a:clrScheme>
    <a:fontScheme name="Crypto Arbitrage Closur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crypto arbitrage strategies against a 2.5% deposit</dc:title>
  <dc:subject>PptxGenJS Presentation</dc:subject>
  <dc:creator>Syed Zee Waqar Hussain</dc:creator>
  <cp:lastModifiedBy>Syed Zee Waqar Hussain</cp:lastModifiedBy>
  <cp:revision>1</cp:revision>
  <dcterms:created xsi:type="dcterms:W3CDTF">2026-10-23T14:57:36Z</dcterms:created>
  <dcterms:modified xsi:type="dcterms:W3CDTF">2026-10-23T14:57:36Z</dcterms:modified>
</cp:coreProperties>
</file>
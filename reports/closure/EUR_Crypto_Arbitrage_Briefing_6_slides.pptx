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swer" id="{5c5e5ec2-d84a-debc-ef09-2f11f0a5ed52}">
          <p14:sldIdLst>
            <p14:sldId id="256"/>
          </p14:sldIdLst>
        </p14:section>
        <p14:section name="Set-up" id="{4fc199aa-3da0-1810-fce6-827bcecfe7af}">
          <p14:sldIdLst>
            <p14:sldId id="257"/>
          </p14:sldIdLst>
        </p14:section>
        <p14:section name="Fee wall" id="{b8cfe0ad-e330-6891-3855-495d8f6199a8}">
          <p14:sldIdLst>
            <p14:sldId id="258"/>
          </p14:sldIdLst>
        </p14:section>
        <p14:section name="Backtest trap" id="{1933323f-ce64-e0e2-5d4e-6fc14bad8a7a}">
          <p14:sldIdLst>
            <p14:sldId id="259"/>
          </p14:sldIdLst>
        </p14:section>
        <p14:section name="Stablecoin test" id="{b138ba8e-5c40-281d-030b-65ac3bde4e79}">
          <p14:sldIdLst>
            <p14:sldId id="260"/>
          </p14:sldIdLst>
        </p14:section>
        <p14:section name="Decision" id="{c42dc3ed-06ce-6063-1b0a-c4ac8ee37f24}">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3656D"/>
                </a:solidFill>
                <a:latin typeface="+mn-lt"/>
              </a:defRPr>
            </a:pPr>
            <a:r>
              <a:rPr sz="1300" b="0" i="0" u="none" strike="noStrike">
                <a:solidFill>
                  <a:srgbClr val="53656D"/>
                </a:solidFill>
                <a:latin typeface="+mn-lt"/>
              </a:rPr>
              <a:t>Basis points (1 bp = 0.01%)</a:t>
            </a:r>
          </a:p>
        </c:rich>
      </c:tx>
      <c:layout/>
      <c:overlay val="0"/>
    </c:title>
    <c:autoTitleDeleted val="0"/>
    <c:plotArea>
      <c:layout/>
      <c:barChart>
        <c:barDir val="bar"/>
        <c:grouping val="clustered"/>
        <c:varyColors val="0"/>
        <c:ser>
          <c:idx val="0"/>
          <c:order val="0"/>
          <c:tx>
            <c:strRef>
              <c:f>Sheet1!$B$1</c:f>
              <c:strCache>
                <c:ptCount val="1"/>
                <c:pt idx="0">
                  <c:v>bps</c:v>
                </c:pt>
              </c:strCache>
            </c:strRef>
          </c:tx>
          <c:spPr>
            <a:solidFill>
              <a:srgbClr val="A33639"/>
            </a:solidFill>
            <a:effectLst/>
          </c:spPr>
          <c:invertIfNegative val="0"/>
          <c:dLbls>
            <c:numFmt formatCode="+0.0;-0.0;0" sourceLinked="0"/>
            <c:txPr>
              <a:bodyPr/>
              <a:lstStyle/>
              <a:p>
                <a:pPr>
                  <a:defRPr b="0" i="0" strike="noStrike" sz="1300" u="none">
                    <a:solidFill>
                      <a:srgbClr val="18313B"/>
                    </a:solidFill>
                    <a:latin typeface="+mn-lt"/>
                  </a:defRPr>
                </a:pPr>
              </a:p>
            </c:txPr>
            <c:showLegendKey val="0"/>
            <c:showVal val="1"/>
            <c:showCatName val="0"/>
            <c:showSerName val="0"/>
            <c:showPercent val="0"/>
            <c:showBubbleSize val="0"/>
            <c:showLeaderLines val="0"/>
          </c:dLbls>
          <c:dPt>
            <c:idx val="0"/>
            <c:invertIfNegative val="0"/>
            <c:bubble3D val="0"/>
            <c:spPr>
              <a:solidFill>
                <a:srgbClr val="A33639"/>
              </a:solidFill>
              <a:effectLst/>
            </c:spPr>
          </c:dPt>
          <c:dPt>
            <c:idx val="1"/>
            <c:invertIfNegative val="0"/>
            <c:bubble3D val="0"/>
            <c:spPr>
              <a:solidFill>
                <a:srgbClr val="A33639"/>
              </a:solidFill>
              <a:effectLst/>
            </c:spPr>
          </c:dPt>
          <c:dPt>
            <c:idx val="2"/>
            <c:invertIfNegative val="0"/>
            <c:bubble3D val="0"/>
            <c:spPr>
              <a:solidFill>
                <a:srgbClr val="A33639"/>
              </a:solidFill>
              <a:effectLst/>
            </c:spPr>
          </c:dPt>
          <c:dPt>
            <c:idx val="3"/>
            <c:invertIfNegative val="0"/>
            <c:bubble3D val="0"/>
            <c:spPr>
              <a:solidFill>
                <a:srgbClr val="A33639"/>
              </a:solidFill>
              <a:effectLst/>
            </c:spPr>
          </c:dPt>
          <c:dPt>
            <c:idx val="4"/>
            <c:invertIfNegative val="0"/>
            <c:bubble3D val="0"/>
            <c:spPr>
              <a:solidFill>
                <a:srgbClr val="347A78"/>
              </a:solidFill>
              <a:effectLst/>
            </c:spPr>
          </c:dPt>
          <c:dPt>
            <c:idx val="5"/>
            <c:invertIfNegative val="0"/>
            <c:bubble3D val="0"/>
            <c:spPr>
              <a:solidFill>
                <a:srgbClr val="347A78"/>
              </a:solidFill>
              <a:effectLst/>
            </c:spPr>
          </c:dPt>
          <c:dPt>
            <c:idx val="6"/>
            <c:invertIfNegative val="0"/>
            <c:bubble3D val="0"/>
            <c:spPr>
              <a:solidFill>
                <a:srgbClr val="347A78"/>
              </a:solidFill>
              <a:effectLst/>
            </c:spPr>
          </c:dPt>
          <c:cat>
            <c:multiLvlStrRef>
              <c:f>Sheet1!$A$2:$A$8</c:f>
              <c:multiLvlStrCache>
                <c:ptCount val="7"/>
                <c:lvl>
                  <c:pt idx="0">
                    <c:v>Retail fees</c:v>
                  </c:pt>
                  <c:pt idx="1">
                    <c:v>&gt;$20M tier (default)</c:v>
                  </c:pt>
                  <c:pt idx="2">
                    <c:v>&gt;$250M tier</c:v>
                  </c:pt>
                  <c:pt idx="3">
                    <c:v>&gt;$1B tier</c:v>
                  </c:pt>
                  <c:pt idx="4">
                    <c:v>Best 1% of moments, BTC €1k</c:v>
                  </c:pt>
                  <c:pt idx="5">
                    <c:v>ETH median gap, €100k</c:v>
                  </c:pt>
                  <c:pt idx="6">
                    <c:v>BTC median gap, €100k</c:v>
                  </c:pt>
                </c:lvl>
              </c:multiLvlStrCache>
            </c:multiLvlStrRef>
          </c:cat>
          <c:val>
            <c:numRef>
              <c:f>Sheet1!$B$2:$B$8</c:f>
              <c:numCache>
                <c:formatCode>General</c:formatCode>
                <c:ptCount val="7"/>
                <c:pt idx="0">
                  <c:v>47</c:v>
                </c:pt>
                <c:pt idx="1">
                  <c:v>17</c:v>
                </c:pt>
                <c:pt idx="2">
                  <c:v>9</c:v>
                </c:pt>
                <c:pt idx="3">
                  <c:v>7</c:v>
                </c:pt>
                <c:pt idx="4">
                  <c:v>1.6</c:v>
                </c:pt>
                <c:pt idx="5">
                  <c:v>-4.1</c:v>
                </c:pt>
                <c:pt idx="6">
                  <c:v>-2.3</c:v>
                </c:pt>
              </c:numCache>
            </c:numRef>
          </c:val>
        </c:ser>
        <c:dLbls>
          <c:numFmt formatCode="+0.0;-0.0;0" sourceLinked="0"/>
          <c:txPr>
            <a:bodyPr/>
            <a:lstStyle/>
            <a:p>
              <a:pPr>
                <a:defRPr b="0" i="0" strike="noStrike" sz="1300" u="none">
                  <a:solidFill>
                    <a:srgbClr val="18313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300" b="0" i="0" u="none" strike="noStrike">
                <a:solidFill>
                  <a:srgbClr val="18313B"/>
                </a:solidFill>
                <a:latin typeface="+mn-lt"/>
              </a:defRPr>
            </a:pPr>
            <a:endParaRPr lang="en-US"/>
          </a:p>
        </c:txPr>
        <c:crossAx val="2094734552"/>
        <c:crosses val="autoZero"/>
        <c:auto val="1"/>
        <c:lblAlgn val="ctr"/>
        <c:noMultiLvlLbl val="1"/>
      </c:catAx>
      <c:valAx>
        <c:axId val="2094734552"/>
        <c:scaling>
          <c:orientation val="minMax"/>
          <c:max val="52"/>
          <c:min val="-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One-sentence answer: after every real cost there was no edge to trade, so I stopped before any capital was at risk. Then give the three numbers. Live run: 14 Oct 2026, 4 hours, EUR 100k per leg, default &gt;$20M fee tier. Median gap after crossing both books: BTC -2.26 bps, ETH -4.10 bps; break-even 17 bps. Backtest sweep: 7-14 Oct 2026, 136 realistic settings, none profitable. Source: docs/BSDEX_Explainer_Guide.html.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is simple: buy where the coin is cheap, sell where it is dear, at the same moment. The engine prices the gap for the full order size, trades only if the gap beats both taker fees plus 1 bp FX cost, and fills both legs 300 ms later with losses booked. Markets: BTC and ETH on Bitstamp EUR vs Binance USDT converted at live EUR/USDT; Bitstamp vs Kraken as a no-FX control; EURC on Bitvavo, Kraken and Bitstamp.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chart from the top. The teal bars are what the market offered: at EUR 100k the median gap was negative, meaning that crossing both order books already loses money before any fee. Even the best 1% of moments for a EUR 1k order was only +1.6 bps. The red bars are what a trade must clear: 47 bps at retail fees, 17 bps at the default &gt;$20M tier, 9 bps above $250M and 7 bps at an aspirational &gt;$1B tier. Only 14 moments in 4 hours beat break-even (6 BTC, 8 ETH); the longest lasted 2.8 s, and they happened only while one venue's prices froze during a fast move. Source: docs/BSDEX_Explainer_Guide.html sections 06 and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fixes the backtest looked perfect: 5 trades, every one a winner, +EUR 275.81 and no drawdown. That is the warning sign. Three errors produced it. Look-ahead: the entry rule read the bar it would be filled on, so it only took trades it already knew would win. Wrong FX: the live engine used the once-a-day ECB rate; on 14 Oct EUR/USDT and ECB EUR/USD were 44 bps apart, which creates gaps that do not exist. Instant fills: paper fills had zero delay, so they could never lose; now 300 ms and full-depth VWAP. After the fixes, the same period gives 7 trades, 0 winners, -EUR 1,547.98 after fees and FX, -EUR 1,739.76 after EUR 191.78 carry. On a second week (7-14 Oct), 0 of 136 realistic settings made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test asked whether a euro stablecoin offers easier money: market making, or buying on one venue and selling on another. The pass/fail rules were written before the session. Market making on Bitvavo, the only zero-fee venue, bought into a seller sweep: 60-second markout -54 and -13 bps, about -EUR 29 after liquidating the extra 2,704 EURC. Kraken never quoted, correctly, because its 0.20% maker fee is ten times its 2 bps spread. Cross-venue taker arbitrage found one second at +1.5 bps (EUR 0.03) in 9,387 seconds; at EUR 10k the best net edge was -39 bps. The only positive result, a deep bid that absorbed one seller sweep, is worth roughly EUR 100-300 a year. Source: docs/eurc_live_test_results.md.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decision and the reason: the market is already arbitraged to within a few basis points, so a strategy that pays spreads and fees cannot win; only one that earns them might. Then say what the work is good for now. MiCA Article 78 requires firms executing client crypto orders to seek the best result and to assess their venues regularly; the tool measures spread, depth, freshness and latency per venue. For euro stablecoins, EURC on Bitvavo traded below 0.9925 on 28 of the last 366 days. Triggers that would reopen the decision come from docs/eurc_live_test_results.md: sustained Kraken BTC funding above about 7% a year with regulatory clarity on retail perps; free, practical par redemption of EURC; Bitvavo EURC volume above EUR 100k a day for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12648" y="329184"/>
            <a:ext cx="10972800" cy="274320"/>
          </a:xfrm>
          <a:prstGeom prst="rect">
            <a:avLst/>
          </a:prstGeom>
          <a:noFill/>
          <a:ln/>
        </p:spPr>
        <p:txBody>
          <a:bodyPr wrap="square" rtlCol="0"/>
          <a:lstStyle>
            <a:lvl1pPr indent="0" marL="0">
              <a:buNone/>
              <a:defRPr lang="en-US" sz="1400" b="1" dirty="0">
                <a:solidFill>
                  <a:schemeClr val="accent3"/>
                </a:solidFill>
              </a:defRPr>
            </a:lvl1pPr>
          </a:lstStyle>
          <a:p>
            <a:pPr indent="0" marL="0">
              <a:buNone/>
            </a:pPr>
            <a:endParaRPr lang="en-US" sz="1400" dirty="0"/>
          </a:p>
        </p:txBody>
      </p:sp>
      <p:sp>
        <p:nvSpPr>
          <p:cNvPr id="3" name="Text 0"/>
          <p:cNvSpPr/>
          <p:nvPr>
            <p:ph idx="101" type="title" hasCustomPrompt="1"/>
          </p:nvPr>
        </p:nvSpPr>
        <p:spPr>
          <a:xfrm>
            <a:off x="612648" y="658368"/>
            <a:ext cx="10972800"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4" name="Text 0"/>
          <p:cNvSpPr/>
          <p:nvPr>
            <p:ph idx="102" type="body" hasCustomPrompt="1"/>
          </p:nvPr>
        </p:nvSpPr>
        <p:spPr>
          <a:xfrm>
            <a:off x="612648" y="6291072"/>
            <a:ext cx="9966960" cy="329184"/>
          </a:xfrm>
          <a:prstGeom prst="rect">
            <a:avLst/>
          </a:prstGeom>
          <a:noFill/>
          <a:ln/>
        </p:spPr>
        <p:txBody>
          <a:bodyPr wrap="square" rtlCol="0"/>
          <a:lstStyle>
            <a:lvl1pPr indent="0" marL="0">
              <a:buNone/>
              <a:defRPr lang="en-US" sz="1100" dirty="0">
                <a:solidFill>
                  <a:schemeClr val="accent3"/>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128248" y="6272784"/>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12648" y="329184"/>
            <a:ext cx="10972800" cy="274320"/>
          </a:xfrm>
          <a:prstGeom prst="rect">
            <a:avLst/>
          </a:prstGeom>
          <a:noFill/>
          <a:ln/>
        </p:spPr>
        <p:txBody>
          <a:bodyPr wrap="square" rtlCol="0"/>
          <a:lstStyle>
            <a:lvl1pPr indent="0" marL="0">
              <a:buNone/>
              <a:defRPr lang="en-US" sz="1400" b="1"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612648" y="658368"/>
            <a:ext cx="1097280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ph idx="102" type="body" hasCustomPrompt="1"/>
          </p:nvPr>
        </p:nvSpPr>
        <p:spPr>
          <a:xfrm>
            <a:off x="612648" y="6291072"/>
            <a:ext cx="9966960" cy="329184"/>
          </a:xfrm>
          <a:prstGeom prst="rect">
            <a:avLst/>
          </a:prstGeom>
          <a:noFill/>
          <a:ln/>
        </p:spPr>
        <p:txBody>
          <a:bodyPr wrap="square" rtlCol="0"/>
          <a:lstStyle>
            <a:lvl1pPr indent="0" marL="0">
              <a:buNone/>
              <a:defRPr lang="en-US" sz="1100" dirty="0">
                <a:solidFill>
                  <a:schemeClr val="accent6"/>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128248" y="6272784"/>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28248" y="6272784"/>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12648" y="329184"/>
            <a:ext cx="10972800" cy="274320"/>
          </a:xfrm>
          <a:prstGeom prst="rect">
            <a:avLst/>
          </a:prstGeom>
          <a:noFill/>
          <a:ln/>
        </p:spPr>
        <p:txBody>
          <a:bodyPr wrap="square" lIns="0" tIns="0" rIns="0" bIns="0" rtlCol="0" anchor="t"/>
          <a:lstStyle/>
          <a:p>
            <a:pPr indent="0" marL="0">
              <a:buNone/>
            </a:pPr>
            <a:r>
              <a:rPr lang="en-US" sz="1400" b="1" dirty="0">
                <a:solidFill>
                  <a:schemeClr val="accent6"/>
                </a:solidFill>
              </a:rPr>
              <a:t>RESEARCH BRIEFING  ·  OCTOBER 2026</a:t>
            </a:r>
            <a:endParaRPr lang="en-US" sz="1400" dirty="0"/>
          </a:p>
        </p:txBody>
      </p:sp>
      <p:sp>
        <p:nvSpPr>
          <p:cNvPr id="3" name="Text 0"/>
          <p:cNvSpPr/>
          <p:nvPr>
            <p:ph idx="101" type="title" hasCustomPrompt="1"/>
          </p:nvPr>
        </p:nvSpPr>
        <p:spPr>
          <a:xfrm>
            <a:off x="612648" y="658368"/>
            <a:ext cx="10972800" cy="731520"/>
          </a:xfrm>
          <a:prstGeom prst="rect">
            <a:avLst/>
          </a:prstGeom>
          <a:noFill/>
          <a:ln/>
        </p:spPr>
        <p:txBody>
          <a:bodyPr wrap="square" lIns="0" tIns="0" rIns="0" bIns="0" rtlCol="0" anchor="t"/>
          <a:lstStyle/>
          <a:p>
            <a:pPr algn="l" indent="0" marL="0">
              <a:buNone/>
            </a:pPr>
            <a:r>
              <a:rPr lang="en-US" sz="3400" b="1" dirty="0">
                <a:solidFill>
                  <a:schemeClr val="bg1"/>
                </a:solidFill>
              </a:rPr>
              <a:t>EUR crypto arbitrage: one year of testing</a:t>
            </a:r>
            <a:endParaRPr lang="en-US" sz="3400" dirty="0"/>
          </a:p>
        </p:txBody>
      </p:sp>
      <p:sp>
        <p:nvSpPr>
          <p:cNvPr id="4" name="Text 0"/>
          <p:cNvSpPr/>
          <p:nvPr>
            <p:ph idx="102" type="body" hasCustomPrompt="1"/>
          </p:nvPr>
        </p:nvSpPr>
        <p:spPr>
          <a:xfrm>
            <a:off x="612648" y="6291072"/>
            <a:ext cx="9966960" cy="329184"/>
          </a:xfrm>
          <a:prstGeom prst="rect">
            <a:avLst/>
          </a:prstGeom>
          <a:noFill/>
          <a:ln/>
        </p:spPr>
        <p:txBody>
          <a:bodyPr wrap="square" lIns="0" tIns="0" rIns="0" bIns="0" rtlCol="0" anchor="t"/>
          <a:lstStyle/>
          <a:p>
            <a:pPr indent="0" marL="0">
              <a:buNone/>
            </a:pPr>
            <a:r>
              <a:rPr lang="en-US" sz="1100" dirty="0">
                <a:solidFill>
                  <a:schemeClr val="accent6"/>
                </a:solidFill>
              </a:rPr>
              <a:t>Syed Zee Waqar Hussain  ·  Paper trading only  ·  Public market data  ·  No orders sent</a:t>
            </a:r>
            <a:endParaRPr lang="en-US" sz="1100" dirty="0"/>
          </a:p>
        </p:txBody>
      </p:sp>
      <p:sp>
        <p:nvSpPr>
          <p:cNvPr id="6" name="Text 3"/>
          <p:cNvSpPr txBox="1"/>
          <p:nvPr/>
        </p:nvSpPr>
        <p:spPr>
          <a:xfrm>
            <a:off x="612648" y="1783080"/>
            <a:ext cx="10972800" cy="640080"/>
          </a:xfrm>
          <a:prstGeom prst="rect">
            <a:avLst/>
          </a:prstGeom>
          <a:noFill/>
          <a:ln/>
        </p:spPr>
        <p:txBody>
          <a:bodyPr wrap="square" lIns="0" tIns="0" rIns="0" bIns="0" rtlCol="0" anchor="t"/>
          <a:lstStyle/>
          <a:p>
            <a:pPr indent="0" marL="0">
              <a:buNone/>
            </a:pPr>
            <a:r>
              <a:rPr lang="en-US" sz="3000" b="1" dirty="0">
                <a:solidFill>
                  <a:schemeClr val="bg1"/>
                </a:solidFill>
              </a:rPr>
              <a:t>After every cost, there was no edge to trade.</a:t>
            </a:r>
            <a:endParaRPr lang="en-US" sz="3000" dirty="0"/>
          </a:p>
        </p:txBody>
      </p:sp>
      <p:sp>
        <p:nvSpPr>
          <p:cNvPr id="7" name="Text 4"/>
          <p:cNvSpPr txBox="1"/>
          <p:nvPr/>
        </p:nvSpPr>
        <p:spPr>
          <a:xfrm>
            <a:off x="612648" y="2514600"/>
            <a:ext cx="10972800" cy="411480"/>
          </a:xfrm>
          <a:prstGeom prst="rect">
            <a:avLst/>
          </a:prstGeom>
          <a:noFill/>
          <a:ln/>
        </p:spPr>
        <p:txBody>
          <a:bodyPr wrap="square" lIns="0" tIns="0" rIns="0" bIns="0" rtlCol="0" anchor="t"/>
          <a:lstStyle/>
          <a:p>
            <a:pPr indent="0" marL="0">
              <a:buNone/>
            </a:pPr>
            <a:r>
              <a:rPr lang="en-US" sz="1800" dirty="0">
                <a:solidFill>
                  <a:schemeClr val="accent6"/>
                </a:solidFill>
              </a:rPr>
              <a:t>What remains useful is the data on what EUR crypto execution really costs.</a:t>
            </a:r>
            <a:endParaRPr lang="en-US" sz="1800" dirty="0"/>
          </a:p>
        </p:txBody>
      </p:sp>
      <p:sp>
        <p:nvSpPr>
          <p:cNvPr id="8" name="stat-1"/>
          <p:cNvSpPr/>
          <p:nvPr/>
        </p:nvSpPr>
        <p:spPr>
          <a:xfrm>
            <a:off x="612648" y="3611880"/>
            <a:ext cx="3474720" cy="2148840"/>
          </a:xfrm>
          <a:prstGeom prst="rect">
            <a:avLst/>
          </a:prstGeom>
          <a:solidFill>
            <a:schemeClr val="accent5"/>
          </a:solidFill>
          <a:ln w="12700">
            <a:solidFill>
              <a:schemeClr val="accent5"/>
            </a:solidFill>
            <a:prstDash val="solid"/>
          </a:ln>
        </p:spPr>
      </p:sp>
      <p:sp>
        <p:nvSpPr>
          <p:cNvPr id="9" name="stat-1-value"/>
          <p:cNvSpPr txBox="1"/>
          <p:nvPr/>
        </p:nvSpPr>
        <p:spPr>
          <a:xfrm>
            <a:off x="886968" y="3840480"/>
            <a:ext cx="2926080" cy="822960"/>
          </a:xfrm>
          <a:prstGeom prst="rect">
            <a:avLst/>
          </a:prstGeom>
          <a:noFill/>
          <a:ln/>
        </p:spPr>
        <p:txBody>
          <a:bodyPr wrap="square" lIns="0" tIns="0" rIns="0" bIns="0" rtlCol="0" anchor="t"/>
          <a:lstStyle/>
          <a:p>
            <a:pPr indent="0" marL="0">
              <a:buNone/>
            </a:pPr>
            <a:r>
              <a:rPr lang="en-US" sz="4000" b="1" dirty="0">
                <a:solidFill>
                  <a:schemeClr val="bg1"/>
                </a:solidFill>
              </a:rPr>
              <a:t>0</a:t>
            </a:r>
            <a:endParaRPr lang="en-US" sz="4000" dirty="0"/>
          </a:p>
        </p:txBody>
      </p:sp>
      <p:sp>
        <p:nvSpPr>
          <p:cNvPr id="10" name="stat-1-label"/>
          <p:cNvSpPr txBox="1"/>
          <p:nvPr/>
        </p:nvSpPr>
        <p:spPr>
          <a:xfrm>
            <a:off x="886968" y="4754880"/>
            <a:ext cx="2926080" cy="822960"/>
          </a:xfrm>
          <a:prstGeom prst="rect">
            <a:avLst/>
          </a:prstGeom>
          <a:noFill/>
          <a:ln/>
        </p:spPr>
        <p:txBody>
          <a:bodyPr wrap="square" lIns="0" tIns="0" rIns="0" bIns="0" rtlCol="0" anchor="t"/>
          <a:lstStyle/>
          <a:p>
            <a:pPr indent="0" marL="0">
              <a:buNone/>
            </a:pPr>
            <a:r>
              <a:rPr lang="en-US" sz="1500" dirty="0">
                <a:solidFill>
                  <a:schemeClr val="accent6"/>
                </a:solidFill>
              </a:rPr>
              <a:t>trades in a 4-hour live paper run at €100k per leg</a:t>
            </a:r>
            <a:endParaRPr lang="en-US" sz="1500" dirty="0"/>
          </a:p>
        </p:txBody>
      </p:sp>
      <p:sp>
        <p:nvSpPr>
          <p:cNvPr id="11" name="stat-2"/>
          <p:cNvSpPr/>
          <p:nvPr/>
        </p:nvSpPr>
        <p:spPr>
          <a:xfrm>
            <a:off x="4361688" y="3611880"/>
            <a:ext cx="3474720" cy="2148840"/>
          </a:xfrm>
          <a:prstGeom prst="rect">
            <a:avLst/>
          </a:prstGeom>
          <a:solidFill>
            <a:schemeClr val="accent5"/>
          </a:solidFill>
          <a:ln w="12700">
            <a:solidFill>
              <a:schemeClr val="accent5"/>
            </a:solidFill>
            <a:prstDash val="solid"/>
          </a:ln>
        </p:spPr>
      </p:sp>
      <p:sp>
        <p:nvSpPr>
          <p:cNvPr id="12" name="stat-2-value"/>
          <p:cNvSpPr txBox="1"/>
          <p:nvPr/>
        </p:nvSpPr>
        <p:spPr>
          <a:xfrm>
            <a:off x="4636008" y="3840480"/>
            <a:ext cx="2926080" cy="822960"/>
          </a:xfrm>
          <a:prstGeom prst="rect">
            <a:avLst/>
          </a:prstGeom>
          <a:noFill/>
          <a:ln/>
        </p:spPr>
        <p:txBody>
          <a:bodyPr wrap="square" lIns="0" tIns="0" rIns="0" bIns="0" rtlCol="0" anchor="t"/>
          <a:lstStyle/>
          <a:p>
            <a:pPr indent="0" marL="0">
              <a:buNone/>
            </a:pPr>
            <a:r>
              <a:rPr lang="en-US" sz="4000" b="1" dirty="0">
                <a:solidFill>
                  <a:schemeClr val="bg1"/>
                </a:solidFill>
              </a:rPr>
              <a:t>−2.3 bps</a:t>
            </a:r>
            <a:endParaRPr lang="en-US" sz="4000" dirty="0"/>
          </a:p>
        </p:txBody>
      </p:sp>
      <p:sp>
        <p:nvSpPr>
          <p:cNvPr id="13" name="stat-2-label"/>
          <p:cNvSpPr txBox="1"/>
          <p:nvPr/>
        </p:nvSpPr>
        <p:spPr>
          <a:xfrm>
            <a:off x="4636008" y="4754880"/>
            <a:ext cx="2926080" cy="822960"/>
          </a:xfrm>
          <a:prstGeom prst="rect">
            <a:avLst/>
          </a:prstGeom>
          <a:noFill/>
          <a:ln/>
        </p:spPr>
        <p:txBody>
          <a:bodyPr wrap="square" lIns="0" tIns="0" rIns="0" bIns="0" rtlCol="0" anchor="t"/>
          <a:lstStyle/>
          <a:p>
            <a:pPr indent="0" marL="0">
              <a:buNone/>
            </a:pPr>
            <a:r>
              <a:rPr lang="en-US" sz="1500" dirty="0">
                <a:solidFill>
                  <a:schemeClr val="accent6"/>
                </a:solidFill>
              </a:rPr>
              <a:t>median BTC price gap, against 17 bps needed to break even</a:t>
            </a:r>
            <a:endParaRPr lang="en-US" sz="1500" dirty="0"/>
          </a:p>
        </p:txBody>
      </p:sp>
      <p:sp>
        <p:nvSpPr>
          <p:cNvPr id="14" name="stat-3"/>
          <p:cNvSpPr/>
          <p:nvPr/>
        </p:nvSpPr>
        <p:spPr>
          <a:xfrm>
            <a:off x="8110728" y="3611880"/>
            <a:ext cx="3474720" cy="2148840"/>
          </a:xfrm>
          <a:prstGeom prst="rect">
            <a:avLst/>
          </a:prstGeom>
          <a:solidFill>
            <a:schemeClr val="accent5"/>
          </a:solidFill>
          <a:ln w="12700">
            <a:solidFill>
              <a:schemeClr val="accent5"/>
            </a:solidFill>
            <a:prstDash val="solid"/>
          </a:ln>
        </p:spPr>
      </p:sp>
      <p:sp>
        <p:nvSpPr>
          <p:cNvPr id="15" name="stat-3-value"/>
          <p:cNvSpPr txBox="1"/>
          <p:nvPr/>
        </p:nvSpPr>
        <p:spPr>
          <a:xfrm>
            <a:off x="8385048" y="3840480"/>
            <a:ext cx="2926080" cy="822960"/>
          </a:xfrm>
          <a:prstGeom prst="rect">
            <a:avLst/>
          </a:prstGeom>
          <a:noFill/>
          <a:ln/>
        </p:spPr>
        <p:txBody>
          <a:bodyPr wrap="square" lIns="0" tIns="0" rIns="0" bIns="0" rtlCol="0" anchor="t"/>
          <a:lstStyle/>
          <a:p>
            <a:pPr indent="0" marL="0">
              <a:buNone/>
            </a:pPr>
            <a:r>
              <a:rPr lang="en-US" sz="4000" b="1" dirty="0">
                <a:solidFill>
                  <a:schemeClr val="bg1"/>
                </a:solidFill>
              </a:rPr>
              <a:t>0 of 136</a:t>
            </a:r>
            <a:endParaRPr lang="en-US" sz="4000" dirty="0"/>
          </a:p>
        </p:txBody>
      </p:sp>
      <p:sp>
        <p:nvSpPr>
          <p:cNvPr id="16" name="stat-3-label"/>
          <p:cNvSpPr txBox="1"/>
          <p:nvPr/>
        </p:nvSpPr>
        <p:spPr>
          <a:xfrm>
            <a:off x="8385048" y="4754880"/>
            <a:ext cx="2926080" cy="822960"/>
          </a:xfrm>
          <a:prstGeom prst="rect">
            <a:avLst/>
          </a:prstGeom>
          <a:noFill/>
          <a:ln/>
        </p:spPr>
        <p:txBody>
          <a:bodyPr wrap="square" lIns="0" tIns="0" rIns="0" bIns="0" rtlCol="0" anchor="t"/>
          <a:lstStyle/>
          <a:p>
            <a:pPr indent="0" marL="0">
              <a:buNone/>
            </a:pPr>
            <a:r>
              <a:rPr lang="en-US" sz="1500" dirty="0">
                <a:solidFill>
                  <a:schemeClr val="accent6"/>
                </a:solidFill>
              </a:rPr>
              <a:t>realistic backtest settings that made money</a:t>
            </a:r>
            <a:endParaRPr lang="en-US" sz="1500" dirty="0"/>
          </a:p>
        </p:txBody>
      </p:sp>
      <p:sp>
        <p:nvSpPr>
          <p:cNvPr id="25" name="Slide Number Placeholder 0"/>
          <p:cNvSpPr>
            <a:spLocks noGrp="1"/>
          </p:cNvSpPr>
          <p:nvPr>
            <p:ph type="sldNum" sz="quarter" idx="4294967295"/>
          </p:nvPr>
        </p:nvSpPr>
        <p:spPr>
          <a:xfrm>
            <a:off x="11128248" y="6272784"/>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12648" y="329184"/>
            <a:ext cx="10972800" cy="274320"/>
          </a:xfrm>
          <a:prstGeom prst="rect">
            <a:avLst/>
          </a:prstGeom>
          <a:noFill/>
          <a:ln/>
        </p:spPr>
        <p:txBody>
          <a:bodyPr wrap="square" lIns="0" tIns="0" rIns="0" bIns="0" rtlCol="0" anchor="t"/>
          <a:lstStyle/>
          <a:p>
            <a:pPr indent="0" marL="0">
              <a:buNone/>
            </a:pPr>
            <a:r>
              <a:rPr lang="en-US" sz="1400" b="1" dirty="0">
                <a:solidFill>
                  <a:schemeClr val="accent3"/>
                </a:solidFill>
              </a:rPr>
              <a:t>01  ·  THE QUESTION AND THE SET-UP</a:t>
            </a:r>
            <a:endParaRPr lang="en-US" sz="1400" dirty="0"/>
          </a:p>
        </p:txBody>
      </p:sp>
      <p:sp>
        <p:nvSpPr>
          <p:cNvPr id="3" name="Text 0"/>
          <p:cNvSpPr/>
          <p:nvPr>
            <p:ph idx="101" type="title" hasCustomPrompt="1"/>
          </p:nvPr>
        </p:nvSpPr>
        <p:spPr>
          <a:xfrm>
            <a:off x="612648" y="658368"/>
            <a:ext cx="10972800" cy="731520"/>
          </a:xfrm>
          <a:prstGeom prst="rect">
            <a:avLst/>
          </a:prstGeom>
          <a:noFill/>
          <a:ln/>
        </p:spPr>
        <p:txBody>
          <a:bodyPr wrap="square" lIns="0" tIns="0" rIns="0" bIns="0" rtlCol="0" anchor="t"/>
          <a:lstStyle/>
          <a:p>
            <a:pPr algn="l" indent="0" marL="0">
              <a:buNone/>
            </a:pPr>
            <a:r>
              <a:rPr lang="en-US" sz="3400" b="1" dirty="0">
                <a:solidFill>
                  <a:schemeClr val="tx2"/>
                </a:solidFill>
              </a:rPr>
              <a:t>Do price gaps between exchanges survive costs?</a:t>
            </a:r>
            <a:endParaRPr lang="en-US" sz="3400" dirty="0"/>
          </a:p>
        </p:txBody>
      </p:sp>
      <p:sp>
        <p:nvSpPr>
          <p:cNvPr id="4" name="Text 0"/>
          <p:cNvSpPr/>
          <p:nvPr>
            <p:ph idx="102" type="body" hasCustomPrompt="1"/>
          </p:nvPr>
        </p:nvSpPr>
        <p:spPr>
          <a:xfrm>
            <a:off x="612648" y="6291072"/>
            <a:ext cx="9966960" cy="329184"/>
          </a:xfrm>
          <a:prstGeom prst="rect">
            <a:avLst/>
          </a:prstGeom>
          <a:noFill/>
          <a:ln/>
        </p:spPr>
        <p:txBody>
          <a:bodyPr wrap="square" lIns="0" tIns="0" rIns="0" bIns="0" rtlCol="0" anchor="t"/>
          <a:lstStyle/>
          <a:p>
            <a:pPr indent="0" marL="0">
              <a:buNone/>
            </a:pPr>
            <a:r>
              <a:rPr lang="en-US" sz="1100" dirty="0">
                <a:solidFill>
                  <a:schemeClr val="accent3"/>
                </a:solidFill>
              </a:rPr>
              <a:t>Sources: bsdex_strategy.py; bsdex_historical_bt.py; scripts/eurc_live_test.py. Bitstamp stands in for BSDEX (its API needs keys); LMAX fees are modelled.</a:t>
            </a:r>
            <a:endParaRPr lang="en-US" sz="1100" dirty="0"/>
          </a:p>
        </p:txBody>
      </p:sp>
      <p:sp>
        <p:nvSpPr>
          <p:cNvPr id="6" name="step-1"/>
          <p:cNvSpPr/>
          <p:nvPr/>
        </p:nvSpPr>
        <p:spPr>
          <a:xfrm>
            <a:off x="612648" y="1737360"/>
            <a:ext cx="2523744" cy="2514600"/>
          </a:xfrm>
          <a:prstGeom prst="rect">
            <a:avLst/>
          </a:prstGeom>
          <a:solidFill>
            <a:schemeClr val="bg2"/>
          </a:solidFill>
          <a:ln w="12700">
            <a:solidFill>
              <a:schemeClr val="bg2"/>
            </a:solidFill>
            <a:prstDash val="solid"/>
          </a:ln>
        </p:spPr>
      </p:sp>
      <p:sp>
        <p:nvSpPr>
          <p:cNvPr id="7" name="step-1-badge"/>
          <p:cNvSpPr/>
          <p:nvPr/>
        </p:nvSpPr>
        <p:spPr>
          <a:xfrm>
            <a:off x="841248" y="1965960"/>
            <a:ext cx="502920" cy="502920"/>
          </a:xfrm>
          <a:prstGeom prst="ellipse">
            <a:avLst/>
          </a:prstGeom>
          <a:solidFill>
            <a:schemeClr val="tx2"/>
          </a:solidFill>
          <a:ln w="12700">
            <a:solidFill>
              <a:schemeClr val="tx2"/>
            </a:solidFill>
            <a:prstDash val="solid"/>
          </a:ln>
        </p:spPr>
      </p:sp>
      <p:sp>
        <p:nvSpPr>
          <p:cNvPr id="8" name="Text 5"/>
          <p:cNvSpPr txBox="1"/>
          <p:nvPr/>
        </p:nvSpPr>
        <p:spPr>
          <a:xfrm>
            <a:off x="841248" y="1965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6"/>
          <p:cNvSpPr txBox="1"/>
          <p:nvPr/>
        </p:nvSpPr>
        <p:spPr>
          <a:xfrm>
            <a:off x="841248" y="2651760"/>
            <a:ext cx="2066544" cy="411480"/>
          </a:xfrm>
          <a:prstGeom prst="rect">
            <a:avLst/>
          </a:prstGeom>
          <a:noFill/>
          <a:ln/>
        </p:spPr>
        <p:txBody>
          <a:bodyPr wrap="square" lIns="0" tIns="0" rIns="0" bIns="0" rtlCol="0" anchor="t"/>
          <a:lstStyle/>
          <a:p>
            <a:pPr indent="0" marL="0">
              <a:buNone/>
            </a:pPr>
            <a:r>
              <a:rPr lang="en-US" sz="2000" b="1" dirty="0">
                <a:solidFill>
                  <a:schemeClr val="tx2"/>
                </a:solidFill>
              </a:rPr>
              <a:t>Watch</a:t>
            </a:r>
            <a:endParaRPr lang="en-US" sz="2000" dirty="0"/>
          </a:p>
        </p:txBody>
      </p:sp>
      <p:sp>
        <p:nvSpPr>
          <p:cNvPr id="10" name="Text 7"/>
          <p:cNvSpPr txBox="1"/>
          <p:nvPr/>
        </p:nvSpPr>
        <p:spPr>
          <a:xfrm>
            <a:off x="841248" y="3108960"/>
            <a:ext cx="2066544" cy="1051560"/>
          </a:xfrm>
          <a:prstGeom prst="rect">
            <a:avLst/>
          </a:prstGeom>
          <a:noFill/>
          <a:ln/>
        </p:spPr>
        <p:txBody>
          <a:bodyPr wrap="square" lIns="0" tIns="0" rIns="0" bIns="0" rtlCol="0" anchor="t"/>
          <a:lstStyle/>
          <a:p>
            <a:pPr indent="0" marL="0">
              <a:buNone/>
            </a:pPr>
            <a:r>
              <a:rPr lang="en-US" sz="1400" dirty="0">
                <a:solidFill>
                  <a:schemeClr val="tx1"/>
                </a:solidFill>
              </a:rPr>
              <a:t>BTC and ETH: Bitstamp (EUR) vs Binance (USDT, in EUR). EURC: Bitvavo, Kraken, Bitstamp.</a:t>
            </a:r>
            <a:endParaRPr lang="en-US" sz="1400" dirty="0"/>
          </a:p>
        </p:txBody>
      </p:sp>
      <p:sp>
        <p:nvSpPr>
          <p:cNvPr id="11" name="Text 8"/>
          <p:cNvSpPr txBox="1"/>
          <p:nvPr/>
        </p:nvSpPr>
        <p:spPr>
          <a:xfrm>
            <a:off x="3136392" y="2720340"/>
            <a:ext cx="292608" cy="548640"/>
          </a:xfrm>
          <a:prstGeom prst="rect">
            <a:avLst/>
          </a:prstGeom>
          <a:noFill/>
          <a:ln/>
        </p:spPr>
        <p:txBody>
          <a:bodyPr wrap="square" lIns="0" tIns="0" rIns="0" bIns="0" rtlCol="0" anchor="ctr"/>
          <a:lstStyle/>
          <a:p>
            <a:pPr algn="ctr" indent="0" marL="0">
              <a:buNone/>
            </a:pPr>
            <a:r>
              <a:rPr lang="en-US" sz="2800" b="1" dirty="0">
                <a:solidFill>
                  <a:schemeClr val="accent3"/>
                </a:solidFill>
              </a:rPr>
              <a:t>›</a:t>
            </a:r>
            <a:endParaRPr lang="en-US" sz="2800" dirty="0"/>
          </a:p>
        </p:txBody>
      </p:sp>
      <p:sp>
        <p:nvSpPr>
          <p:cNvPr id="12" name="step-2"/>
          <p:cNvSpPr/>
          <p:nvPr/>
        </p:nvSpPr>
        <p:spPr>
          <a:xfrm>
            <a:off x="3429000" y="1737360"/>
            <a:ext cx="2523744" cy="2514600"/>
          </a:xfrm>
          <a:prstGeom prst="rect">
            <a:avLst/>
          </a:prstGeom>
          <a:solidFill>
            <a:schemeClr val="bg2"/>
          </a:solidFill>
          <a:ln w="12700">
            <a:solidFill>
              <a:schemeClr val="bg2"/>
            </a:solidFill>
            <a:prstDash val="solid"/>
          </a:ln>
        </p:spPr>
      </p:sp>
      <p:sp>
        <p:nvSpPr>
          <p:cNvPr id="13" name="step-2-badge"/>
          <p:cNvSpPr/>
          <p:nvPr/>
        </p:nvSpPr>
        <p:spPr>
          <a:xfrm>
            <a:off x="3657600" y="1965960"/>
            <a:ext cx="502920" cy="502920"/>
          </a:xfrm>
          <a:prstGeom prst="ellipse">
            <a:avLst/>
          </a:prstGeom>
          <a:solidFill>
            <a:schemeClr val="tx2"/>
          </a:solidFill>
          <a:ln w="12700">
            <a:solidFill>
              <a:schemeClr val="tx2"/>
            </a:solidFill>
            <a:prstDash val="solid"/>
          </a:ln>
        </p:spPr>
      </p:sp>
      <p:sp>
        <p:nvSpPr>
          <p:cNvPr id="14" name="Text 11"/>
          <p:cNvSpPr txBox="1"/>
          <p:nvPr/>
        </p:nvSpPr>
        <p:spPr>
          <a:xfrm>
            <a:off x="3657600" y="1965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5" name="Text 12"/>
          <p:cNvSpPr txBox="1"/>
          <p:nvPr/>
        </p:nvSpPr>
        <p:spPr>
          <a:xfrm>
            <a:off x="3657600" y="2651760"/>
            <a:ext cx="2066544" cy="411480"/>
          </a:xfrm>
          <a:prstGeom prst="rect">
            <a:avLst/>
          </a:prstGeom>
          <a:noFill/>
          <a:ln/>
        </p:spPr>
        <p:txBody>
          <a:bodyPr wrap="square" lIns="0" tIns="0" rIns="0" bIns="0" rtlCol="0" anchor="t"/>
          <a:lstStyle/>
          <a:p>
            <a:pPr indent="0" marL="0">
              <a:buNone/>
            </a:pPr>
            <a:r>
              <a:rPr lang="en-US" sz="2000" b="1" dirty="0">
                <a:solidFill>
                  <a:schemeClr val="tx2"/>
                </a:solidFill>
              </a:rPr>
              <a:t>Price</a:t>
            </a:r>
            <a:endParaRPr lang="en-US" sz="2000" dirty="0"/>
          </a:p>
        </p:txBody>
      </p:sp>
      <p:sp>
        <p:nvSpPr>
          <p:cNvPr id="16" name="Text 13"/>
          <p:cNvSpPr txBox="1"/>
          <p:nvPr/>
        </p:nvSpPr>
        <p:spPr>
          <a:xfrm>
            <a:off x="3657600" y="3108960"/>
            <a:ext cx="2066544" cy="1051560"/>
          </a:xfrm>
          <a:prstGeom prst="rect">
            <a:avLst/>
          </a:prstGeom>
          <a:noFill/>
          <a:ln/>
        </p:spPr>
        <p:txBody>
          <a:bodyPr wrap="square" lIns="0" tIns="0" rIns="0" bIns="0" rtlCol="0" anchor="t"/>
          <a:lstStyle/>
          <a:p>
            <a:pPr indent="0" marL="0">
              <a:buNone/>
            </a:pPr>
            <a:r>
              <a:rPr lang="en-US" sz="1400" dirty="0">
                <a:solidFill>
                  <a:schemeClr val="tx1"/>
                </a:solidFill>
              </a:rPr>
              <a:t>Measure the gap for the full order size, after crossing both order books.</a:t>
            </a:r>
            <a:endParaRPr lang="en-US" sz="1400" dirty="0"/>
          </a:p>
        </p:txBody>
      </p:sp>
      <p:sp>
        <p:nvSpPr>
          <p:cNvPr id="17" name="Text 14"/>
          <p:cNvSpPr txBox="1"/>
          <p:nvPr/>
        </p:nvSpPr>
        <p:spPr>
          <a:xfrm>
            <a:off x="5952744" y="2720340"/>
            <a:ext cx="292608" cy="548640"/>
          </a:xfrm>
          <a:prstGeom prst="rect">
            <a:avLst/>
          </a:prstGeom>
          <a:noFill/>
          <a:ln/>
        </p:spPr>
        <p:txBody>
          <a:bodyPr wrap="square" lIns="0" tIns="0" rIns="0" bIns="0" rtlCol="0" anchor="ctr"/>
          <a:lstStyle/>
          <a:p>
            <a:pPr algn="ctr" indent="0" marL="0">
              <a:buNone/>
            </a:pPr>
            <a:r>
              <a:rPr lang="en-US" sz="2800" b="1" dirty="0">
                <a:solidFill>
                  <a:schemeClr val="accent3"/>
                </a:solidFill>
              </a:rPr>
              <a:t>›</a:t>
            </a:r>
            <a:endParaRPr lang="en-US" sz="2800" dirty="0"/>
          </a:p>
        </p:txBody>
      </p:sp>
      <p:sp>
        <p:nvSpPr>
          <p:cNvPr id="18" name="step-3"/>
          <p:cNvSpPr/>
          <p:nvPr/>
        </p:nvSpPr>
        <p:spPr>
          <a:xfrm>
            <a:off x="6245352" y="1737360"/>
            <a:ext cx="2523744" cy="2514600"/>
          </a:xfrm>
          <a:prstGeom prst="rect">
            <a:avLst/>
          </a:prstGeom>
          <a:solidFill>
            <a:schemeClr val="bg2"/>
          </a:solidFill>
          <a:ln w="12700">
            <a:solidFill>
              <a:schemeClr val="bg2"/>
            </a:solidFill>
            <a:prstDash val="solid"/>
          </a:ln>
        </p:spPr>
      </p:sp>
      <p:sp>
        <p:nvSpPr>
          <p:cNvPr id="19" name="step-3-badge"/>
          <p:cNvSpPr/>
          <p:nvPr/>
        </p:nvSpPr>
        <p:spPr>
          <a:xfrm>
            <a:off x="6473952" y="1965960"/>
            <a:ext cx="502920" cy="502920"/>
          </a:xfrm>
          <a:prstGeom prst="ellipse">
            <a:avLst/>
          </a:prstGeom>
          <a:solidFill>
            <a:schemeClr val="tx2"/>
          </a:solidFill>
          <a:ln w="12700">
            <a:solidFill>
              <a:schemeClr val="tx2"/>
            </a:solidFill>
            <a:prstDash val="solid"/>
          </a:ln>
        </p:spPr>
      </p:sp>
      <p:sp>
        <p:nvSpPr>
          <p:cNvPr id="20" name="Text 17"/>
          <p:cNvSpPr txBox="1"/>
          <p:nvPr/>
        </p:nvSpPr>
        <p:spPr>
          <a:xfrm>
            <a:off x="6473952" y="1965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Text 18"/>
          <p:cNvSpPr txBox="1"/>
          <p:nvPr/>
        </p:nvSpPr>
        <p:spPr>
          <a:xfrm>
            <a:off x="6473952" y="2651760"/>
            <a:ext cx="2066544" cy="411480"/>
          </a:xfrm>
          <a:prstGeom prst="rect">
            <a:avLst/>
          </a:prstGeom>
          <a:noFill/>
          <a:ln/>
        </p:spPr>
        <p:txBody>
          <a:bodyPr wrap="square" lIns="0" tIns="0" rIns="0" bIns="0" rtlCol="0" anchor="t"/>
          <a:lstStyle/>
          <a:p>
            <a:pPr indent="0" marL="0">
              <a:buNone/>
            </a:pPr>
            <a:r>
              <a:rPr lang="en-US" sz="2000" b="1" dirty="0">
                <a:solidFill>
                  <a:schemeClr val="tx2"/>
                </a:solidFill>
              </a:rPr>
              <a:t>Gate</a:t>
            </a:r>
            <a:endParaRPr lang="en-US" sz="2000" dirty="0"/>
          </a:p>
        </p:txBody>
      </p:sp>
      <p:sp>
        <p:nvSpPr>
          <p:cNvPr id="22" name="Text 19"/>
          <p:cNvSpPr txBox="1"/>
          <p:nvPr/>
        </p:nvSpPr>
        <p:spPr>
          <a:xfrm>
            <a:off x="6473952" y="3108960"/>
            <a:ext cx="2066544" cy="1051560"/>
          </a:xfrm>
          <a:prstGeom prst="rect">
            <a:avLst/>
          </a:prstGeom>
          <a:noFill/>
          <a:ln/>
        </p:spPr>
        <p:txBody>
          <a:bodyPr wrap="square" lIns="0" tIns="0" rIns="0" bIns="0" rtlCol="0" anchor="t"/>
          <a:lstStyle/>
          <a:p>
            <a:pPr indent="0" marL="0">
              <a:buNone/>
            </a:pPr>
            <a:r>
              <a:rPr lang="en-US" sz="1400" dirty="0">
                <a:solidFill>
                  <a:schemeClr val="tx1"/>
                </a:solidFill>
              </a:rPr>
              <a:t>Trade only if the gap beats both exchange fees plus a 1 bp FX cost.</a:t>
            </a:r>
            <a:endParaRPr lang="en-US" sz="1400" dirty="0"/>
          </a:p>
        </p:txBody>
      </p:sp>
      <p:sp>
        <p:nvSpPr>
          <p:cNvPr id="23" name="Text 20"/>
          <p:cNvSpPr txBox="1"/>
          <p:nvPr/>
        </p:nvSpPr>
        <p:spPr>
          <a:xfrm>
            <a:off x="8769096" y="2720340"/>
            <a:ext cx="292608" cy="548640"/>
          </a:xfrm>
          <a:prstGeom prst="rect">
            <a:avLst/>
          </a:prstGeom>
          <a:noFill/>
          <a:ln/>
        </p:spPr>
        <p:txBody>
          <a:bodyPr wrap="square" lIns="0" tIns="0" rIns="0" bIns="0" rtlCol="0" anchor="ctr"/>
          <a:lstStyle/>
          <a:p>
            <a:pPr algn="ctr" indent="0" marL="0">
              <a:buNone/>
            </a:pPr>
            <a:r>
              <a:rPr lang="en-US" sz="2800" b="1" dirty="0">
                <a:solidFill>
                  <a:schemeClr val="accent3"/>
                </a:solidFill>
              </a:rPr>
              <a:t>›</a:t>
            </a:r>
            <a:endParaRPr lang="en-US" sz="2800" dirty="0"/>
          </a:p>
        </p:txBody>
      </p:sp>
      <p:sp>
        <p:nvSpPr>
          <p:cNvPr id="24" name="step-4"/>
          <p:cNvSpPr/>
          <p:nvPr/>
        </p:nvSpPr>
        <p:spPr>
          <a:xfrm>
            <a:off x="9061704" y="1737360"/>
            <a:ext cx="2523744" cy="2514600"/>
          </a:xfrm>
          <a:prstGeom prst="rect">
            <a:avLst/>
          </a:prstGeom>
          <a:solidFill>
            <a:schemeClr val="bg2"/>
          </a:solidFill>
          <a:ln w="12700">
            <a:solidFill>
              <a:schemeClr val="bg2"/>
            </a:solidFill>
            <a:prstDash val="solid"/>
          </a:ln>
        </p:spPr>
      </p:sp>
      <p:sp>
        <p:nvSpPr>
          <p:cNvPr id="25" name="step-4-badge"/>
          <p:cNvSpPr/>
          <p:nvPr/>
        </p:nvSpPr>
        <p:spPr>
          <a:xfrm>
            <a:off x="9290304" y="1965960"/>
            <a:ext cx="502920" cy="502920"/>
          </a:xfrm>
          <a:prstGeom prst="ellipse">
            <a:avLst/>
          </a:prstGeom>
          <a:solidFill>
            <a:schemeClr val="tx2"/>
          </a:solidFill>
          <a:ln w="12700">
            <a:solidFill>
              <a:schemeClr val="tx2"/>
            </a:solidFill>
            <a:prstDash val="solid"/>
          </a:ln>
        </p:spPr>
      </p:sp>
      <p:sp>
        <p:nvSpPr>
          <p:cNvPr id="26" name="Text 23"/>
          <p:cNvSpPr txBox="1"/>
          <p:nvPr/>
        </p:nvSpPr>
        <p:spPr>
          <a:xfrm>
            <a:off x="9290304" y="1965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7" name="Text 24"/>
          <p:cNvSpPr txBox="1"/>
          <p:nvPr/>
        </p:nvSpPr>
        <p:spPr>
          <a:xfrm>
            <a:off x="9290304" y="2651760"/>
            <a:ext cx="2066544" cy="411480"/>
          </a:xfrm>
          <a:prstGeom prst="rect">
            <a:avLst/>
          </a:prstGeom>
          <a:noFill/>
          <a:ln/>
        </p:spPr>
        <p:txBody>
          <a:bodyPr wrap="square" lIns="0" tIns="0" rIns="0" bIns="0" rtlCol="0" anchor="t"/>
          <a:lstStyle/>
          <a:p>
            <a:pPr indent="0" marL="0">
              <a:buNone/>
            </a:pPr>
            <a:r>
              <a:rPr lang="en-US" sz="2000" b="1" dirty="0">
                <a:solidFill>
                  <a:schemeClr val="tx2"/>
                </a:solidFill>
              </a:rPr>
              <a:t>Fill</a:t>
            </a:r>
            <a:endParaRPr lang="en-US" sz="2000" dirty="0"/>
          </a:p>
        </p:txBody>
      </p:sp>
      <p:sp>
        <p:nvSpPr>
          <p:cNvPr id="28" name="Text 25"/>
          <p:cNvSpPr txBox="1"/>
          <p:nvPr/>
        </p:nvSpPr>
        <p:spPr>
          <a:xfrm>
            <a:off x="9290304" y="3108960"/>
            <a:ext cx="2066544" cy="1051560"/>
          </a:xfrm>
          <a:prstGeom prst="rect">
            <a:avLst/>
          </a:prstGeom>
          <a:noFill/>
          <a:ln/>
        </p:spPr>
        <p:txBody>
          <a:bodyPr wrap="square" lIns="0" tIns="0" rIns="0" bIns="0" rtlCol="0" anchor="t"/>
          <a:lstStyle/>
          <a:p>
            <a:pPr indent="0" marL="0">
              <a:buNone/>
            </a:pPr>
            <a:r>
              <a:rPr lang="en-US" sz="1400" dirty="0">
                <a:solidFill>
                  <a:schemeClr val="tx1"/>
                </a:solidFill>
              </a:rPr>
              <a:t>Fill both legs 300 ms later. Book losses; count failed fills.</a:t>
            </a:r>
            <a:endParaRPr lang="en-US" sz="1400" dirty="0"/>
          </a:p>
        </p:txBody>
      </p:sp>
      <p:sp>
        <p:nvSpPr>
          <p:cNvPr id="29" name="Text 26"/>
          <p:cNvSpPr txBox="1"/>
          <p:nvPr/>
        </p:nvSpPr>
        <p:spPr>
          <a:xfrm>
            <a:off x="612648" y="4572000"/>
            <a:ext cx="10972800" cy="365760"/>
          </a:xfrm>
          <a:prstGeom prst="rect">
            <a:avLst/>
          </a:prstGeom>
          <a:noFill/>
          <a:ln/>
        </p:spPr>
        <p:txBody>
          <a:bodyPr wrap="square" lIns="0" tIns="0" rIns="0" bIns="0" rtlCol="0" anchor="t"/>
          <a:lstStyle/>
          <a:p>
            <a:pPr indent="0" marL="0">
              <a:buNone/>
            </a:pPr>
            <a:r>
              <a:rPr lang="en-US" sz="1800" b="1" dirty="0">
                <a:solidFill>
                  <a:schemeClr val="tx2"/>
                </a:solidFill>
              </a:rPr>
              <a:t>Three kinds of test</a:t>
            </a:r>
            <a:endParaRPr lang="en-US" sz="1800" dirty="0"/>
          </a:p>
        </p:txBody>
      </p:sp>
      <p:sp>
        <p:nvSpPr>
          <p:cNvPr id="30" name="Text 27"/>
          <p:cNvSpPr txBox="1"/>
          <p:nvPr/>
        </p:nvSpPr>
        <p:spPr>
          <a:xfrm>
            <a:off x="612648" y="4983480"/>
            <a:ext cx="3017520" cy="1005840"/>
          </a:xfrm>
          <a:prstGeom prst="rect">
            <a:avLst/>
          </a:prstGeom>
          <a:noFill/>
          <a:ln/>
        </p:spPr>
        <p:txBody>
          <a:bodyPr wrap="square" lIns="0" tIns="0" rIns="0" bIns="0" rtlCol="0" anchor="t"/>
          <a:lstStyle/>
          <a:p>
            <a:pPr indent="0" marL="0">
              <a:buNone/>
            </a:pPr>
            <a:r>
              <a:rPr lang="en-US" sz="1400" b="1" dirty="0">
                <a:solidFill>
                  <a:schemeClr val="tx2"/>
                </a:solidFill>
              </a:rPr>
              <a:t>Backtests</a:t>
            </a:r>
            <a:endParaRPr lang="en-US" sz="1400" dirty="0"/>
          </a:p>
          <a:p>
            <a:pPr indent="0" marL="0">
              <a:buNone/>
            </a:pPr>
            <a:r>
              <a:rPr lang="en-US" sz="1400" dirty="0">
                <a:solidFill>
                  <a:schemeClr val="tx1"/>
                </a:solidFill>
              </a:rPr>
              <a:t>One-minute candles, every fee tier, 136 parameter settings</a:t>
            </a:r>
            <a:endParaRPr lang="en-US" sz="1400" dirty="0"/>
          </a:p>
        </p:txBody>
      </p:sp>
      <p:sp>
        <p:nvSpPr>
          <p:cNvPr id="31" name="Text 28"/>
          <p:cNvSpPr txBox="1"/>
          <p:nvPr/>
        </p:nvSpPr>
        <p:spPr>
          <a:xfrm>
            <a:off x="3904488" y="4983480"/>
            <a:ext cx="3017520" cy="1005840"/>
          </a:xfrm>
          <a:prstGeom prst="rect">
            <a:avLst/>
          </a:prstGeom>
          <a:noFill/>
          <a:ln/>
        </p:spPr>
        <p:txBody>
          <a:bodyPr wrap="square" lIns="0" tIns="0" rIns="0" bIns="0" rtlCol="0" anchor="t"/>
          <a:lstStyle/>
          <a:p>
            <a:pPr indent="0" marL="0">
              <a:buNone/>
            </a:pPr>
            <a:r>
              <a:rPr lang="en-US" sz="1400" b="1" dirty="0">
                <a:solidFill>
                  <a:schemeClr val="tx2"/>
                </a:solidFill>
              </a:rPr>
              <a:t>Replays</a:t>
            </a:r>
            <a:endParaRPr lang="en-US" sz="1400" dirty="0"/>
          </a:p>
          <a:p>
            <a:pPr indent="0" marL="0">
              <a:buNone/>
            </a:pPr>
            <a:r>
              <a:rPr lang="en-US" sz="1400" dirty="0">
                <a:solidFill>
                  <a:schemeClr val="tx1"/>
                </a:solidFill>
              </a:rPr>
              <a:t>Recorded order books, fills at 300 / 1,000 / 2,000 ms</a:t>
            </a:r>
            <a:endParaRPr lang="en-US" sz="1400" dirty="0"/>
          </a:p>
        </p:txBody>
      </p:sp>
      <p:sp>
        <p:nvSpPr>
          <p:cNvPr id="32" name="Text 29"/>
          <p:cNvSpPr txBox="1"/>
          <p:nvPr/>
        </p:nvSpPr>
        <p:spPr>
          <a:xfrm>
            <a:off x="7196328" y="4983480"/>
            <a:ext cx="3566160" cy="1005840"/>
          </a:xfrm>
          <a:prstGeom prst="rect">
            <a:avLst/>
          </a:prstGeom>
          <a:noFill/>
          <a:ln/>
        </p:spPr>
        <p:txBody>
          <a:bodyPr wrap="square" lIns="0" tIns="0" rIns="0" bIns="0" rtlCol="0" anchor="t"/>
          <a:lstStyle/>
          <a:p>
            <a:pPr indent="0" marL="0">
              <a:buNone/>
            </a:pPr>
            <a:r>
              <a:rPr lang="en-US" sz="1400" b="1" dirty="0">
                <a:solidFill>
                  <a:schemeClr val="tx2"/>
                </a:solidFill>
              </a:rPr>
              <a:t>Live paper runs</a:t>
            </a:r>
            <a:endParaRPr lang="en-US" sz="1400" dirty="0"/>
          </a:p>
          <a:p>
            <a:pPr indent="0" marL="0">
              <a:buNone/>
            </a:pPr>
            <a:r>
              <a:rPr lang="en-US" sz="1400" dirty="0">
                <a:solidFill>
                  <a:schemeClr val="tx1"/>
                </a:solidFill>
              </a:rPr>
              <a:t>BTC/ETH on 14 Oct (4 h) and EURC on 22 Oct (2.6 h), pass/fail rules set in advance</a:t>
            </a:r>
            <a:endParaRPr lang="en-US" sz="1400" dirty="0"/>
          </a:p>
        </p:txBody>
      </p:sp>
      <p:sp>
        <p:nvSpPr>
          <p:cNvPr id="25" name="Slide Number Placeholder 0"/>
          <p:cNvSpPr>
            <a:spLocks noGrp="1"/>
          </p:cNvSpPr>
          <p:nvPr>
            <p:ph type="sldNum" sz="quarter" idx="4294967295"/>
          </p:nvPr>
        </p:nvSpPr>
        <p:spPr>
          <a:xfrm>
            <a:off x="11128248" y="6272784"/>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12648" y="329184"/>
            <a:ext cx="10972800" cy="274320"/>
          </a:xfrm>
          <a:prstGeom prst="rect">
            <a:avLst/>
          </a:prstGeom>
          <a:noFill/>
          <a:ln/>
        </p:spPr>
        <p:txBody>
          <a:bodyPr wrap="square" lIns="0" tIns="0" rIns="0" bIns="0" rtlCol="0" anchor="t"/>
          <a:lstStyle/>
          <a:p>
            <a:pPr indent="0" marL="0">
              <a:buNone/>
            </a:pPr>
            <a:r>
              <a:rPr lang="en-US" sz="1400" b="1" dirty="0">
                <a:solidFill>
                  <a:schemeClr val="accent3"/>
                </a:solidFill>
              </a:rPr>
              <a:t>02  ·  THE FEE WALL</a:t>
            </a:r>
            <a:endParaRPr lang="en-US" sz="1400" dirty="0"/>
          </a:p>
        </p:txBody>
      </p:sp>
      <p:sp>
        <p:nvSpPr>
          <p:cNvPr id="3" name="Text 0"/>
          <p:cNvSpPr/>
          <p:nvPr>
            <p:ph idx="101" type="title" hasCustomPrompt="1"/>
          </p:nvPr>
        </p:nvSpPr>
        <p:spPr>
          <a:xfrm>
            <a:off x="612648" y="658368"/>
            <a:ext cx="10972800" cy="731520"/>
          </a:xfrm>
          <a:prstGeom prst="rect">
            <a:avLst/>
          </a:prstGeom>
          <a:noFill/>
          <a:ln/>
        </p:spPr>
        <p:txBody>
          <a:bodyPr wrap="square" lIns="0" tIns="0" rIns="0" bIns="0" rtlCol="0" anchor="t"/>
          <a:lstStyle/>
          <a:p>
            <a:pPr algn="l" indent="0" marL="0">
              <a:buNone/>
            </a:pPr>
            <a:r>
              <a:rPr lang="en-US" sz="3400" b="1" dirty="0">
                <a:solidFill>
                  <a:schemeClr val="tx2"/>
                </a:solidFill>
              </a:rPr>
              <a:t>Price gaps are a few bps; costs are 7 to 47 bps</a:t>
            </a:r>
            <a:endParaRPr lang="en-US" sz="3400" dirty="0"/>
          </a:p>
        </p:txBody>
      </p:sp>
      <p:sp>
        <p:nvSpPr>
          <p:cNvPr id="4" name="Text 0"/>
          <p:cNvSpPr/>
          <p:nvPr>
            <p:ph idx="102" type="body" hasCustomPrompt="1"/>
          </p:nvPr>
        </p:nvSpPr>
        <p:spPr>
          <a:xfrm>
            <a:off x="612648" y="6291072"/>
            <a:ext cx="9966960" cy="329184"/>
          </a:xfrm>
          <a:prstGeom prst="rect">
            <a:avLst/>
          </a:prstGeom>
          <a:noFill/>
          <a:ln/>
        </p:spPr>
        <p:txBody>
          <a:bodyPr wrap="square" lIns="0" tIns="0" rIns="0" bIns="0" rtlCol="0" anchor="t"/>
          <a:lstStyle/>
          <a:p>
            <a:pPr indent="0" marL="0">
              <a:buNone/>
            </a:pPr>
            <a:r>
              <a:rPr lang="en-US" sz="1100" dirty="0">
                <a:solidFill>
                  <a:schemeClr val="accent3"/>
                </a:solidFill>
              </a:rPr>
              <a:t>Live paper run, 14 Oct 2026, 11:04–15:04 UTC, 49,825 snapshots per coin. Gap after crossing both books, before fees. Fee tiers are assumptions.</a:t>
            </a:r>
            <a:endParaRPr lang="en-US" sz="1100" dirty="0"/>
          </a:p>
        </p:txBody>
      </p:sp>
      <p:graphicFrame>
        <p:nvGraphicFramePr>
          <p:cNvPr id="6" name="fee-wall-chart" descr=""/>
          <p:cNvGraphicFramePr/>
          <p:nvPr/>
        </p:nvGraphicFramePr>
        <p:xfrm>
          <a:off x="612648" y="1600200"/>
          <a:ext cx="6949440" cy="4434840"/>
        </p:xfrm>
        <a:graphic xmlns:a="http://schemas.openxmlformats.org/drawingml/2006/main">
          <a:graphicData uri="http://schemas.openxmlformats.org/drawingml/2006/chart">
            <c:chart xmlns:c="http://schemas.openxmlformats.org/drawingml/2006/chart" r:id="rId1"/>
          </a:graphicData>
        </a:graphic>
      </p:graphicFrame>
      <p:sp>
        <p:nvSpPr>
          <p:cNvPr id="7" name="fee-wall-callouts"/>
          <p:cNvSpPr/>
          <p:nvPr/>
        </p:nvSpPr>
        <p:spPr>
          <a:xfrm>
            <a:off x="8001000" y="1691640"/>
            <a:ext cx="3584448" cy="4251960"/>
          </a:xfrm>
          <a:prstGeom prst="rect">
            <a:avLst/>
          </a:prstGeom>
          <a:solidFill>
            <a:schemeClr val="bg2"/>
          </a:solidFill>
          <a:ln w="12700">
            <a:solidFill>
              <a:schemeClr val="bg2"/>
            </a:solidFill>
            <a:prstDash val="solid"/>
          </a:ln>
        </p:spPr>
      </p:sp>
      <p:sp>
        <p:nvSpPr>
          <p:cNvPr id="8" name="Text 4"/>
          <p:cNvSpPr txBox="1"/>
          <p:nvPr/>
        </p:nvSpPr>
        <p:spPr>
          <a:xfrm>
            <a:off x="8275320" y="1920240"/>
            <a:ext cx="3035808" cy="685800"/>
          </a:xfrm>
          <a:prstGeom prst="rect">
            <a:avLst/>
          </a:prstGeom>
          <a:noFill/>
          <a:ln/>
        </p:spPr>
        <p:txBody>
          <a:bodyPr wrap="square" lIns="0" tIns="0" rIns="0" bIns="0" rtlCol="0" anchor="t"/>
          <a:lstStyle/>
          <a:p>
            <a:pPr indent="0" marL="0">
              <a:buNone/>
            </a:pPr>
            <a:r>
              <a:rPr lang="en-US" sz="3600" b="1" dirty="0">
                <a:solidFill>
                  <a:schemeClr val="tx2"/>
                </a:solidFill>
              </a:rPr>
              <a:t>0 trades</a:t>
            </a:r>
            <a:endParaRPr lang="en-US" sz="3600" dirty="0"/>
          </a:p>
        </p:txBody>
      </p:sp>
      <p:sp>
        <p:nvSpPr>
          <p:cNvPr id="9" name="Text 5"/>
          <p:cNvSpPr txBox="1"/>
          <p:nvPr/>
        </p:nvSpPr>
        <p:spPr>
          <a:xfrm>
            <a:off x="8275320" y="2606040"/>
            <a:ext cx="3035808" cy="594360"/>
          </a:xfrm>
          <a:prstGeom prst="rect">
            <a:avLst/>
          </a:prstGeom>
          <a:noFill/>
          <a:ln/>
        </p:spPr>
        <p:txBody>
          <a:bodyPr wrap="square" lIns="0" tIns="0" rIns="0" bIns="0" rtlCol="0" anchor="t"/>
          <a:lstStyle/>
          <a:p>
            <a:pPr indent="0" marL="0">
              <a:buNone/>
            </a:pPr>
            <a:r>
              <a:rPr lang="en-US" sz="1400" dirty="0">
                <a:solidFill>
                  <a:schemeClr val="tx1"/>
                </a:solidFill>
              </a:rPr>
              <a:t>in 4 hours of live paper trading at €100k per leg</a:t>
            </a:r>
            <a:endParaRPr lang="en-US" sz="1400" dirty="0"/>
          </a:p>
        </p:txBody>
      </p:sp>
      <p:sp>
        <p:nvSpPr>
          <p:cNvPr id="10" name="Text 6"/>
          <p:cNvSpPr txBox="1"/>
          <p:nvPr/>
        </p:nvSpPr>
        <p:spPr>
          <a:xfrm>
            <a:off x="8275320" y="3429000"/>
            <a:ext cx="3035808" cy="914400"/>
          </a:xfrm>
          <a:prstGeom prst="rect">
            <a:avLst/>
          </a:prstGeom>
          <a:noFill/>
          <a:ln/>
        </p:spPr>
        <p:txBody>
          <a:bodyPr wrap="square" lIns="0" tIns="0" rIns="0" bIns="0" rtlCol="0" anchor="t"/>
          <a:lstStyle/>
          <a:p>
            <a:pPr indent="0" marL="0">
              <a:buNone/>
            </a:pPr>
            <a:r>
              <a:rPr lang="en-US" sz="1500" dirty="0">
                <a:solidFill>
                  <a:schemeClr val="tx1"/>
                </a:solidFill>
              </a:rPr>
              <a:t>At €100k the gap was negative 99.6% (BTC) and 99.9% (ETH) of the time.</a:t>
            </a:r>
            <a:endParaRPr lang="en-US" sz="1500" dirty="0"/>
          </a:p>
        </p:txBody>
      </p:sp>
      <p:sp>
        <p:nvSpPr>
          <p:cNvPr id="11" name="Text 7"/>
          <p:cNvSpPr txBox="1"/>
          <p:nvPr/>
        </p:nvSpPr>
        <p:spPr>
          <a:xfrm>
            <a:off x="8275320" y="4526280"/>
            <a:ext cx="3035808" cy="1188720"/>
          </a:xfrm>
          <a:prstGeom prst="rect">
            <a:avLst/>
          </a:prstGeom>
          <a:noFill/>
          <a:ln/>
        </p:spPr>
        <p:txBody>
          <a:bodyPr wrap="square" lIns="0" tIns="0" rIns="0" bIns="0" rtlCol="0" anchor="t"/>
          <a:lstStyle/>
          <a:p>
            <a:pPr indent="0" marL="0">
              <a:buNone/>
            </a:pPr>
            <a:r>
              <a:rPr lang="en-US" sz="1500" b="1" dirty="0">
                <a:solidFill>
                  <a:schemeClr val="accent2"/>
                </a:solidFill>
              </a:rPr>
              <a:t>The 14 moments that beat break-even lasted 3 s at most, and only while one venue’s prices froze.</a:t>
            </a:r>
            <a:endParaRPr lang="en-US" sz="1500" dirty="0"/>
          </a:p>
        </p:txBody>
      </p:sp>
      <p:sp>
        <p:nvSpPr>
          <p:cNvPr id="25" name="Slide Number Placeholder 0"/>
          <p:cNvSpPr>
            <a:spLocks noGrp="1"/>
          </p:cNvSpPr>
          <p:nvPr>
            <p:ph type="sldNum" sz="quarter" idx="4294967295"/>
          </p:nvPr>
        </p:nvSpPr>
        <p:spPr>
          <a:xfrm>
            <a:off x="11128248" y="6272784"/>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12648" y="329184"/>
            <a:ext cx="10972800" cy="274320"/>
          </a:xfrm>
          <a:prstGeom prst="rect">
            <a:avLst/>
          </a:prstGeom>
          <a:noFill/>
          <a:ln/>
        </p:spPr>
        <p:txBody>
          <a:bodyPr wrap="square" lIns="0" tIns="0" rIns="0" bIns="0" rtlCol="0" anchor="t"/>
          <a:lstStyle/>
          <a:p>
            <a:pPr indent="0" marL="0">
              <a:buNone/>
            </a:pPr>
            <a:r>
              <a:rPr lang="en-US" sz="1400" b="1" dirty="0">
                <a:solidFill>
                  <a:schemeClr val="accent3"/>
                </a:solidFill>
              </a:rPr>
              <a:t>03  ·  THE BACKTEST TRAP</a:t>
            </a:r>
            <a:endParaRPr lang="en-US" sz="1400" dirty="0"/>
          </a:p>
        </p:txBody>
      </p:sp>
      <p:sp>
        <p:nvSpPr>
          <p:cNvPr id="3" name="Text 0"/>
          <p:cNvSpPr/>
          <p:nvPr>
            <p:ph idx="101" type="title" hasCustomPrompt="1"/>
          </p:nvPr>
        </p:nvSpPr>
        <p:spPr>
          <a:xfrm>
            <a:off x="612648" y="658368"/>
            <a:ext cx="10972800" cy="731520"/>
          </a:xfrm>
          <a:prstGeom prst="rect">
            <a:avLst/>
          </a:prstGeom>
          <a:noFill/>
          <a:ln/>
        </p:spPr>
        <p:txBody>
          <a:bodyPr wrap="square" lIns="0" tIns="0" rIns="0" bIns="0" rtlCol="0" anchor="t"/>
          <a:lstStyle/>
          <a:p>
            <a:pPr algn="l" indent="0" marL="0">
              <a:buNone/>
            </a:pPr>
            <a:r>
              <a:rPr lang="en-US" sz="3400" b="1" dirty="0">
                <a:solidFill>
                  <a:schemeClr val="tx2"/>
                </a:solidFill>
              </a:rPr>
              <a:t>The profitable backtest was three bugs</a:t>
            </a:r>
            <a:endParaRPr lang="en-US" sz="3400" dirty="0"/>
          </a:p>
        </p:txBody>
      </p:sp>
      <p:sp>
        <p:nvSpPr>
          <p:cNvPr id="4" name="Text 0"/>
          <p:cNvSpPr/>
          <p:nvPr>
            <p:ph idx="102" type="body" hasCustomPrompt="1"/>
          </p:nvPr>
        </p:nvSpPr>
        <p:spPr>
          <a:xfrm>
            <a:off x="612648" y="6291072"/>
            <a:ext cx="9966960" cy="329184"/>
          </a:xfrm>
          <a:prstGeom prst="rect">
            <a:avLst/>
          </a:prstGeom>
          <a:noFill/>
          <a:ln/>
        </p:spPr>
        <p:txBody>
          <a:bodyPr wrap="square" lIns="0" tIns="0" rIns="0" bIns="0" rtlCol="0" anchor="t"/>
          <a:lstStyle/>
          <a:p>
            <a:pPr indent="0" marL="0">
              <a:buNone/>
            </a:pPr>
            <a:r>
              <a:rPr lang="en-US" sz="1100" dirty="0">
                <a:solidFill>
                  <a:schemeClr val="accent3"/>
                </a:solidFill>
              </a:rPr>
              <a:t>BTC/EUR, 24 Sep–1 Oct 2026, €100k per leg, &gt;$250M tier (docs/engine-integrity.md). Second week: 7–14 Oct 2026, 1-minute candles, all fee tiers.</a:t>
            </a:r>
            <a:endParaRPr lang="en-US" sz="1100" dirty="0"/>
          </a:p>
        </p:txBody>
      </p:sp>
      <p:sp>
        <p:nvSpPr>
          <p:cNvPr id="6" name="before-card"/>
          <p:cNvSpPr/>
          <p:nvPr/>
        </p:nvSpPr>
        <p:spPr>
          <a:xfrm>
            <a:off x="612648" y="1645920"/>
            <a:ext cx="5074920" cy="1783080"/>
          </a:xfrm>
          <a:prstGeom prst="rect">
            <a:avLst/>
          </a:prstGeom>
          <a:solidFill>
            <a:schemeClr val="bg2"/>
          </a:solidFill>
          <a:ln w="12700">
            <a:solidFill>
              <a:schemeClr val="bg2"/>
            </a:solidFill>
            <a:prstDash val="solid"/>
          </a:ln>
        </p:spPr>
      </p:sp>
      <p:sp>
        <p:nvSpPr>
          <p:cNvPr id="7" name="Text 4"/>
          <p:cNvSpPr txBox="1"/>
          <p:nvPr/>
        </p:nvSpPr>
        <p:spPr>
          <a:xfrm>
            <a:off x="932688" y="1874520"/>
            <a:ext cx="4434840" cy="274320"/>
          </a:xfrm>
          <a:prstGeom prst="rect">
            <a:avLst/>
          </a:prstGeom>
          <a:noFill/>
          <a:ln/>
        </p:spPr>
        <p:txBody>
          <a:bodyPr wrap="square" lIns="0" tIns="0" rIns="0" bIns="0" rtlCol="0" anchor="t"/>
          <a:lstStyle/>
          <a:p>
            <a:pPr indent="0" marL="0">
              <a:buNone/>
            </a:pPr>
            <a:r>
              <a:rPr lang="en-US" sz="1400" b="1" dirty="0">
                <a:solidFill>
                  <a:schemeClr val="accent3"/>
                </a:solidFill>
              </a:rPr>
              <a:t>BEFORE FIXES</a:t>
            </a:r>
            <a:endParaRPr lang="en-US" sz="1400" dirty="0"/>
          </a:p>
        </p:txBody>
      </p:sp>
      <p:sp>
        <p:nvSpPr>
          <p:cNvPr id="8" name="Text 5"/>
          <p:cNvSpPr txBox="1"/>
          <p:nvPr/>
        </p:nvSpPr>
        <p:spPr>
          <a:xfrm>
            <a:off x="932688" y="2194560"/>
            <a:ext cx="4434840" cy="731520"/>
          </a:xfrm>
          <a:prstGeom prst="rect">
            <a:avLst/>
          </a:prstGeom>
          <a:noFill/>
          <a:ln/>
        </p:spPr>
        <p:txBody>
          <a:bodyPr wrap="square" lIns="0" tIns="0" rIns="0" bIns="0" rtlCol="0" anchor="t"/>
          <a:lstStyle/>
          <a:p>
            <a:pPr indent="0" marL="0">
              <a:buNone/>
            </a:pPr>
            <a:r>
              <a:rPr lang="en-US" sz="4400" b="1" dirty="0">
                <a:solidFill>
                  <a:schemeClr val="accent1"/>
                </a:solidFill>
              </a:rPr>
              <a:t>+€276</a:t>
            </a:r>
            <a:endParaRPr lang="en-US" sz="4400" dirty="0"/>
          </a:p>
        </p:txBody>
      </p:sp>
      <p:sp>
        <p:nvSpPr>
          <p:cNvPr id="9" name="Text 6"/>
          <p:cNvSpPr txBox="1"/>
          <p:nvPr/>
        </p:nvSpPr>
        <p:spPr>
          <a:xfrm>
            <a:off x="932688" y="2971800"/>
            <a:ext cx="4434840" cy="320040"/>
          </a:xfrm>
          <a:prstGeom prst="rect">
            <a:avLst/>
          </a:prstGeom>
          <a:noFill/>
          <a:ln/>
        </p:spPr>
        <p:txBody>
          <a:bodyPr wrap="square" lIns="0" tIns="0" rIns="0" bIns="0" rtlCol="0" anchor="t"/>
          <a:lstStyle/>
          <a:p>
            <a:pPr indent="0" marL="0">
              <a:buNone/>
            </a:pPr>
            <a:r>
              <a:rPr lang="en-US" sz="1500" dirty="0">
                <a:solidFill>
                  <a:schemeClr val="tx1"/>
                </a:solidFill>
              </a:rPr>
              <a:t>5 trades  ·  100% winners  ·  no drawdown</a:t>
            </a:r>
            <a:endParaRPr lang="en-US" sz="1500" dirty="0"/>
          </a:p>
        </p:txBody>
      </p:sp>
      <p:sp>
        <p:nvSpPr>
          <p:cNvPr id="10" name="Text 7"/>
          <p:cNvSpPr txBox="1"/>
          <p:nvPr/>
        </p:nvSpPr>
        <p:spPr>
          <a:xfrm>
            <a:off x="5687568" y="2217420"/>
            <a:ext cx="822960" cy="640080"/>
          </a:xfrm>
          <a:prstGeom prst="rect">
            <a:avLst/>
          </a:prstGeom>
          <a:noFill/>
          <a:ln/>
        </p:spPr>
        <p:txBody>
          <a:bodyPr wrap="square" lIns="0" tIns="0" rIns="0" bIns="0" rtlCol="0" anchor="ctr"/>
          <a:lstStyle/>
          <a:p>
            <a:pPr algn="ctr" indent="0" marL="0">
              <a:buNone/>
            </a:pPr>
            <a:r>
              <a:rPr lang="en-US" sz="3200" b="1" dirty="0">
                <a:solidFill>
                  <a:schemeClr val="accent3"/>
                </a:solidFill>
              </a:rPr>
              <a:t>→</a:t>
            </a:r>
            <a:endParaRPr lang="en-US" sz="3200" dirty="0"/>
          </a:p>
        </p:txBody>
      </p:sp>
      <p:sp>
        <p:nvSpPr>
          <p:cNvPr id="11" name="after-card"/>
          <p:cNvSpPr/>
          <p:nvPr/>
        </p:nvSpPr>
        <p:spPr>
          <a:xfrm>
            <a:off x="6510528" y="1645920"/>
            <a:ext cx="5074920" cy="1783080"/>
          </a:xfrm>
          <a:prstGeom prst="rect">
            <a:avLst/>
          </a:prstGeom>
          <a:solidFill>
            <a:schemeClr val="bg2"/>
          </a:solidFill>
          <a:ln w="12700">
            <a:solidFill>
              <a:schemeClr val="bg2"/>
            </a:solidFill>
            <a:prstDash val="solid"/>
          </a:ln>
        </p:spPr>
      </p:sp>
      <p:sp>
        <p:nvSpPr>
          <p:cNvPr id="12" name="Text 9"/>
          <p:cNvSpPr txBox="1"/>
          <p:nvPr/>
        </p:nvSpPr>
        <p:spPr>
          <a:xfrm>
            <a:off x="6830568" y="1874520"/>
            <a:ext cx="4434840" cy="274320"/>
          </a:xfrm>
          <a:prstGeom prst="rect">
            <a:avLst/>
          </a:prstGeom>
          <a:noFill/>
          <a:ln/>
        </p:spPr>
        <p:txBody>
          <a:bodyPr wrap="square" lIns="0" tIns="0" rIns="0" bIns="0" rtlCol="0" anchor="t"/>
          <a:lstStyle/>
          <a:p>
            <a:pPr indent="0" marL="0">
              <a:buNone/>
            </a:pPr>
            <a:r>
              <a:rPr lang="en-US" sz="1400" b="1" dirty="0">
                <a:solidFill>
                  <a:schemeClr val="accent3"/>
                </a:solidFill>
              </a:rPr>
              <a:t>AFTER FIXES</a:t>
            </a:r>
            <a:endParaRPr lang="en-US" sz="1400" dirty="0"/>
          </a:p>
        </p:txBody>
      </p:sp>
      <p:sp>
        <p:nvSpPr>
          <p:cNvPr id="13" name="Text 10"/>
          <p:cNvSpPr txBox="1"/>
          <p:nvPr/>
        </p:nvSpPr>
        <p:spPr>
          <a:xfrm>
            <a:off x="6830568" y="2194560"/>
            <a:ext cx="4434840" cy="731520"/>
          </a:xfrm>
          <a:prstGeom prst="rect">
            <a:avLst/>
          </a:prstGeom>
          <a:noFill/>
          <a:ln/>
        </p:spPr>
        <p:txBody>
          <a:bodyPr wrap="square" lIns="0" tIns="0" rIns="0" bIns="0" rtlCol="0" anchor="t"/>
          <a:lstStyle/>
          <a:p>
            <a:pPr indent="0" marL="0">
              <a:buNone/>
            </a:pPr>
            <a:r>
              <a:rPr lang="en-US" sz="4400" b="1" dirty="0">
                <a:solidFill>
                  <a:schemeClr val="accent2"/>
                </a:solidFill>
              </a:rPr>
              <a:t>−€1,548</a:t>
            </a:r>
            <a:endParaRPr lang="en-US" sz="4400" dirty="0"/>
          </a:p>
        </p:txBody>
      </p:sp>
      <p:sp>
        <p:nvSpPr>
          <p:cNvPr id="14" name="Text 11"/>
          <p:cNvSpPr txBox="1"/>
          <p:nvPr/>
        </p:nvSpPr>
        <p:spPr>
          <a:xfrm>
            <a:off x="6830568" y="2971800"/>
            <a:ext cx="4434840" cy="320040"/>
          </a:xfrm>
          <a:prstGeom prst="rect">
            <a:avLst/>
          </a:prstGeom>
          <a:noFill/>
          <a:ln/>
        </p:spPr>
        <p:txBody>
          <a:bodyPr wrap="square" lIns="0" tIns="0" rIns="0" bIns="0" rtlCol="0" anchor="t"/>
          <a:lstStyle/>
          <a:p>
            <a:pPr indent="0" marL="0">
              <a:buNone/>
            </a:pPr>
            <a:r>
              <a:rPr lang="en-US" sz="1500" dirty="0">
                <a:solidFill>
                  <a:schemeClr val="tx1"/>
                </a:solidFill>
              </a:rPr>
              <a:t>7 trades  ·  0 winners  ·  −€1,740 after funding cost</a:t>
            </a:r>
            <a:endParaRPr lang="en-US" sz="1500" dirty="0"/>
          </a:p>
        </p:txBody>
      </p:sp>
      <p:sp>
        <p:nvSpPr>
          <p:cNvPr id="15" name="Text 12"/>
          <p:cNvSpPr txBox="1"/>
          <p:nvPr/>
        </p:nvSpPr>
        <p:spPr>
          <a:xfrm>
            <a:off x="612648" y="3794760"/>
            <a:ext cx="3474720" cy="141732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Bug 1  ·  Look-ahead</a:t>
            </a:r>
            <a:endParaRPr lang="en-US" sz="1700" dirty="0"/>
          </a:p>
          <a:p>
            <a:pPr indent="0" marL="0">
              <a:spcAft>
                <a:spcPts val="400"/>
              </a:spcAft>
              <a:buNone/>
            </a:pPr>
            <a:r>
              <a:rPr lang="en-US" sz="1400" dirty="0">
                <a:solidFill>
                  <a:schemeClr val="tx1"/>
                </a:solidFill>
              </a:rPr>
              <a:t>The entry rule read the bar it would be filled on, so it only took trades it already knew would win.</a:t>
            </a:r>
            <a:endParaRPr lang="en-US" sz="1700" dirty="0"/>
          </a:p>
        </p:txBody>
      </p:sp>
      <p:sp>
        <p:nvSpPr>
          <p:cNvPr id="16" name="Text 13"/>
          <p:cNvSpPr txBox="1"/>
          <p:nvPr/>
        </p:nvSpPr>
        <p:spPr>
          <a:xfrm>
            <a:off x="4361688" y="3794760"/>
            <a:ext cx="3474720" cy="141732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Bug 2  ·  Wrong FX rate</a:t>
            </a:r>
            <a:endParaRPr lang="en-US" sz="1700" dirty="0"/>
          </a:p>
          <a:p>
            <a:pPr indent="0" marL="0">
              <a:spcAft>
                <a:spcPts val="400"/>
              </a:spcAft>
              <a:buNone/>
            </a:pPr>
            <a:r>
              <a:rPr lang="en-US" sz="1400" dirty="0">
                <a:solidFill>
                  <a:schemeClr val="tx1"/>
                </a:solidFill>
              </a:rPr>
              <a:t>The daily ECB rate sat 44 bps away from live EUR/USDT, which created gaps that did not exist.</a:t>
            </a:r>
            <a:endParaRPr lang="en-US" sz="1700" dirty="0"/>
          </a:p>
        </p:txBody>
      </p:sp>
      <p:sp>
        <p:nvSpPr>
          <p:cNvPr id="17" name="Text 14"/>
          <p:cNvSpPr txBox="1"/>
          <p:nvPr/>
        </p:nvSpPr>
        <p:spPr>
          <a:xfrm>
            <a:off x="8110728" y="3794760"/>
            <a:ext cx="3474720" cy="141732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Bug 3  ·  Instant fills</a:t>
            </a:r>
            <a:endParaRPr lang="en-US" sz="1700" dirty="0"/>
          </a:p>
          <a:p>
            <a:pPr indent="0" marL="0">
              <a:spcAft>
                <a:spcPts val="400"/>
              </a:spcAft>
              <a:buNone/>
            </a:pPr>
            <a:r>
              <a:rPr lang="en-US" sz="1400" dirty="0">
                <a:solidFill>
                  <a:schemeClr val="tx1"/>
                </a:solidFill>
              </a:rPr>
              <a:t>Paper fills had no delay, so they could never lose. Now: 300 ms and full-depth prices.</a:t>
            </a:r>
            <a:endParaRPr lang="en-US" sz="1700" dirty="0"/>
          </a:p>
        </p:txBody>
      </p:sp>
      <p:sp>
        <p:nvSpPr>
          <p:cNvPr id="18" name="Text 15"/>
          <p:cNvSpPr txBox="1"/>
          <p:nvPr/>
        </p:nvSpPr>
        <p:spPr>
          <a:xfrm>
            <a:off x="612648" y="5440680"/>
            <a:ext cx="10972800" cy="411480"/>
          </a:xfrm>
          <a:prstGeom prst="rect">
            <a:avLst/>
          </a:prstGeom>
          <a:noFill/>
          <a:ln/>
        </p:spPr>
        <p:txBody>
          <a:bodyPr wrap="square" lIns="0" tIns="0" rIns="0" bIns="0" rtlCol="0" anchor="t"/>
          <a:lstStyle/>
          <a:p>
            <a:pPr indent="0" marL="0">
              <a:buNone/>
            </a:pPr>
            <a:r>
              <a:rPr lang="en-US" sz="1800" b="1" dirty="0">
                <a:solidFill>
                  <a:schemeClr val="tx2"/>
                </a:solidFill>
              </a:rPr>
              <a:t>On a second week of data, 0 of 136 realistic settings made money.</a:t>
            </a:r>
            <a:endParaRPr lang="en-US" sz="1800" dirty="0"/>
          </a:p>
        </p:txBody>
      </p:sp>
      <p:sp>
        <p:nvSpPr>
          <p:cNvPr id="25" name="Slide Number Placeholder 0"/>
          <p:cNvSpPr>
            <a:spLocks noGrp="1"/>
          </p:cNvSpPr>
          <p:nvPr>
            <p:ph type="sldNum" sz="quarter" idx="4294967295"/>
          </p:nvPr>
        </p:nvSpPr>
        <p:spPr>
          <a:xfrm>
            <a:off x="11128248" y="6272784"/>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12648" y="329184"/>
            <a:ext cx="10972800" cy="274320"/>
          </a:xfrm>
          <a:prstGeom prst="rect">
            <a:avLst/>
          </a:prstGeom>
          <a:noFill/>
          <a:ln/>
        </p:spPr>
        <p:txBody>
          <a:bodyPr wrap="square" lIns="0" tIns="0" rIns="0" bIns="0" rtlCol="0" anchor="t"/>
          <a:lstStyle/>
          <a:p>
            <a:pPr indent="0" marL="0">
              <a:buNone/>
            </a:pPr>
            <a:r>
              <a:rPr lang="en-US" sz="1400" b="1" dirty="0">
                <a:solidFill>
                  <a:schemeClr val="accent3"/>
                </a:solidFill>
              </a:rPr>
              <a:t>04  ·  LIVE TEST: EURC EURO STABLECOIN</a:t>
            </a:r>
            <a:endParaRPr lang="en-US" sz="1400" dirty="0"/>
          </a:p>
        </p:txBody>
      </p:sp>
      <p:sp>
        <p:nvSpPr>
          <p:cNvPr id="3" name="Text 0"/>
          <p:cNvSpPr/>
          <p:nvPr>
            <p:ph idx="101" type="title" hasCustomPrompt="1"/>
          </p:nvPr>
        </p:nvSpPr>
        <p:spPr>
          <a:xfrm>
            <a:off x="612648" y="658368"/>
            <a:ext cx="10972800" cy="731520"/>
          </a:xfrm>
          <a:prstGeom prst="rect">
            <a:avLst/>
          </a:prstGeom>
          <a:noFill/>
          <a:ln/>
        </p:spPr>
        <p:txBody>
          <a:bodyPr wrap="square" lIns="0" tIns="0" rIns="0" bIns="0" rtlCol="0" anchor="t"/>
          <a:lstStyle/>
          <a:p>
            <a:pPr algn="l" indent="0" marL="0">
              <a:buNone/>
            </a:pPr>
            <a:r>
              <a:rPr lang="en-US" sz="3400" b="1" dirty="0">
                <a:solidFill>
                  <a:schemeClr val="tx2"/>
                </a:solidFill>
              </a:rPr>
              <a:t>Stablecoin test: every pre-set criterion failed</a:t>
            </a:r>
            <a:endParaRPr lang="en-US" sz="3400" dirty="0"/>
          </a:p>
        </p:txBody>
      </p:sp>
      <p:sp>
        <p:nvSpPr>
          <p:cNvPr id="4" name="Text 0"/>
          <p:cNvSpPr/>
          <p:nvPr>
            <p:ph idx="102" type="body" hasCustomPrompt="1"/>
          </p:nvPr>
        </p:nvSpPr>
        <p:spPr>
          <a:xfrm>
            <a:off x="612648" y="6291072"/>
            <a:ext cx="9966960" cy="329184"/>
          </a:xfrm>
          <a:prstGeom prst="rect">
            <a:avLst/>
          </a:prstGeom>
          <a:noFill/>
          <a:ln/>
        </p:spPr>
        <p:txBody>
          <a:bodyPr wrap="square" lIns="0" tIns="0" rIns="0" bIns="0" rtlCol="0" anchor="t"/>
          <a:lstStyle/>
          <a:p>
            <a:pPr indent="0" marL="0">
              <a:buNone/>
            </a:pPr>
            <a:r>
              <a:rPr lang="en-US" sz="1100" dirty="0">
                <a:solidFill>
                  <a:schemeClr val="accent3"/>
                </a:solidFill>
              </a:rPr>
              <a:t>Session 22 Oct 2026, 19:48–22:25 UTC; Bitvavo, Kraken, Bitstamp; €40k per market-making instance. Criteria fixed in docs/eurc_live_test.md before the run.</a:t>
            </a:r>
            <a:endParaRPr lang="en-US" sz="1100" dirty="0"/>
          </a:p>
        </p:txBody>
      </p:sp>
      <p:graphicFrame>
        <p:nvGraphicFramePr>
          <p:cNvPr id="6" name="criteria-table"/>
          <p:cNvGraphicFramePr>
            <a:graphicFrameLocks noGrp="1"/>
          </p:cNvGraphicFramePr>
          <p:nvPr>
            <p:extLst>
              <p:ext uri="{D42A27DB-BD31-4B8C-83A1-F6EECF244321}">
                <p14:modId xmlns:p14="http://schemas.microsoft.com/office/powerpoint/2010/main" val="1579011935"/>
              </p:ext>
            </p:extLst>
          </p:nvPr>
        </p:nvGraphicFramePr>
        <p:xfrm>
          <a:off x="612648" y="1691640"/>
          <a:ext cx="6903720" cy="914400"/>
        </p:xfrm>
        <a:graphic>
          <a:graphicData uri="http://schemas.openxmlformats.org/drawingml/2006/table">
            <a:tbl>
              <a:tblPr/>
              <a:tblGrid>
                <a:gridCol w="3977640"/>
                <a:gridCol w="1691640"/>
                <a:gridCol w="1234440"/>
              </a:tblGrid>
              <a:tr h="566928">
                <a:tc>
                  <a:txBody>
                    <a:bodyPr/>
                    <a:lstStyle/>
                    <a:p>
                      <a:pPr indent="0" marL="0">
                        <a:buNone/>
                      </a:pPr>
                      <a:r>
                        <a:rPr lang="en-US" sz="1400" b="1" dirty="0">
                          <a:solidFill>
                            <a:srgbClr val="FFFFFF"/>
                          </a:solidFill>
                        </a:rPr>
                        <a:t>Criterion set in advance</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173C4A"/>
                    </a:solidFill>
                  </a:tcPr>
                </a:tc>
                <a:tc>
                  <a:txBody>
                    <a:bodyPr/>
                    <a:lstStyle/>
                    <a:p>
                      <a:pPr indent="0" marL="0">
                        <a:buNone/>
                      </a:pPr>
                      <a:r>
                        <a:rPr lang="en-US" sz="1400" b="1" dirty="0">
                          <a:solidFill>
                            <a:srgbClr val="FFFFFF"/>
                          </a:solidFill>
                        </a:rPr>
                        <a:t>Result</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173C4A"/>
                    </a:solidFill>
                  </a:tcPr>
                </a:tc>
                <a:tc>
                  <a:txBody>
                    <a:bodyPr/>
                    <a:lstStyle/>
                    <a:p>
                      <a:pPr indent="0" marL="0">
                        <a:buNone/>
                      </a:pPr>
                      <a:r>
                        <a:rPr lang="en-US" sz="1400" b="1" dirty="0">
                          <a:solidFill>
                            <a:srgbClr val="FFFFFF"/>
                          </a:solidFill>
                        </a:rPr>
                        <a:t>Verdict</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173C4A"/>
                    </a:solidFill>
                  </a:tcPr>
                </a:tc>
              </a:tr>
              <a:tr h="566928">
                <a:tc>
                  <a:txBody>
                    <a:bodyPr/>
                    <a:lstStyle/>
                    <a:p>
                      <a:pPr indent="0" marL="0">
                        <a:buNone/>
                      </a:pPr>
                      <a:r>
                        <a:rPr lang="en-US" sz="1400" dirty="0">
                          <a:solidFill>
                            <a:srgbClr val="18313B"/>
                          </a:solidFill>
                        </a:rPr>
                        <a:t>Net profit after exit costs above zero</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EDF3F4"/>
                    </a:solidFill>
                  </a:tcPr>
                </a:tc>
                <a:tc>
                  <a:txBody>
                    <a:bodyPr/>
                    <a:lstStyle/>
                    <a:p>
                      <a:pPr indent="0" marL="0">
                        <a:buNone/>
                      </a:pPr>
                      <a:r>
                        <a:rPr lang="en-US" sz="1400" dirty="0">
                          <a:solidFill>
                            <a:srgbClr val="18313B"/>
                          </a:solidFill>
                        </a:rPr>
                        <a:t>about −€29</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EDF3F4"/>
                    </a:solidFill>
                  </a:tcPr>
                </a:tc>
                <a:tc>
                  <a:txBody>
                    <a:bodyPr/>
                    <a:lstStyle/>
                    <a:p>
                      <a:pPr indent="0" marL="0">
                        <a:buNone/>
                      </a:pPr>
                      <a:r>
                        <a:rPr lang="en-US" sz="1400" b="1" dirty="0">
                          <a:solidFill>
                            <a:srgbClr val="A33639"/>
                          </a:solidFill>
                        </a:rPr>
                        <a:t>FAIL</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EDF3F4"/>
                    </a:solidFill>
                  </a:tcPr>
                </a:tc>
              </a:tr>
              <a:tr h="566928">
                <a:tc>
                  <a:txBody>
                    <a:bodyPr/>
                    <a:lstStyle/>
                    <a:p>
                      <a:pPr indent="0" marL="0">
                        <a:buNone/>
                      </a:pPr>
                      <a:r>
                        <a:rPr lang="en-US" sz="1400" dirty="0">
                          <a:solidFill>
                            <a:srgbClr val="18313B"/>
                          </a:solidFill>
                        </a:rPr>
                        <a:t>Market-making P&amp;L at mid of at least zero</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FFFFFF"/>
                    </a:solidFill>
                  </a:tcPr>
                </a:tc>
                <a:tc>
                  <a:txBody>
                    <a:bodyPr/>
                    <a:lstStyle/>
                    <a:p>
                      <a:pPr indent="0" marL="0">
                        <a:buNone/>
                      </a:pPr>
                      <a:r>
                        <a:rPr lang="en-US" sz="1400" dirty="0">
                          <a:solidFill>
                            <a:srgbClr val="18313B"/>
                          </a:solidFill>
                        </a:rPr>
                        <a:t>−€2.48</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FFFFFF"/>
                    </a:solidFill>
                  </a:tcPr>
                </a:tc>
                <a:tc>
                  <a:txBody>
                    <a:bodyPr/>
                    <a:lstStyle/>
                    <a:p>
                      <a:pPr indent="0" marL="0">
                        <a:buNone/>
                      </a:pPr>
                      <a:r>
                        <a:rPr lang="en-US" sz="1400" b="1" dirty="0">
                          <a:solidFill>
                            <a:srgbClr val="A33639"/>
                          </a:solidFill>
                        </a:rPr>
                        <a:t>FAIL</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8313B"/>
                          </a:solidFill>
                        </a:rPr>
                        <a:t>Median 60 s markout of at least −1 bp</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EDF3F4"/>
                    </a:solidFill>
                  </a:tcPr>
                </a:tc>
                <a:tc>
                  <a:txBody>
                    <a:bodyPr/>
                    <a:lstStyle/>
                    <a:p>
                      <a:pPr indent="0" marL="0">
                        <a:buNone/>
                      </a:pPr>
                      <a:r>
                        <a:rPr lang="en-US" sz="1400" dirty="0">
                          <a:solidFill>
                            <a:srgbClr val="18313B"/>
                          </a:solidFill>
                        </a:rPr>
                        <a:t>−34 bps</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EDF3F4"/>
                    </a:solidFill>
                  </a:tcPr>
                </a:tc>
                <a:tc>
                  <a:txBody>
                    <a:bodyPr/>
                    <a:lstStyle/>
                    <a:p>
                      <a:pPr indent="0" marL="0">
                        <a:buNone/>
                      </a:pPr>
                      <a:r>
                        <a:rPr lang="en-US" sz="1400" b="1" dirty="0">
                          <a:solidFill>
                            <a:srgbClr val="A33639"/>
                          </a:solidFill>
                        </a:rPr>
                        <a:t>FAIL</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EDF3F4"/>
                    </a:solidFill>
                  </a:tcPr>
                </a:tc>
              </a:tr>
              <a:tr h="566928">
                <a:tc>
                  <a:txBody>
                    <a:bodyPr/>
                    <a:lstStyle/>
                    <a:p>
                      <a:pPr indent="0" marL="0">
                        <a:buNone/>
                      </a:pPr>
                      <a:r>
                        <a:rPr lang="en-US" sz="1400" dirty="0">
                          <a:solidFill>
                            <a:srgbClr val="18313B"/>
                          </a:solidFill>
                        </a:rPr>
                        <a:t>Our fills below 20% of venue volume</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FFFFFF"/>
                    </a:solidFill>
                  </a:tcPr>
                </a:tc>
                <a:tc>
                  <a:txBody>
                    <a:bodyPr/>
                    <a:lstStyle/>
                    <a:p>
                      <a:pPr indent="0" marL="0">
                        <a:buNone/>
                      </a:pPr>
                      <a:r>
                        <a:rPr lang="en-US" sz="1400" dirty="0">
                          <a:solidFill>
                            <a:srgbClr val="18313B"/>
                          </a:solidFill>
                        </a:rPr>
                        <a:t>35%</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FFFFFF"/>
                    </a:solidFill>
                  </a:tcPr>
                </a:tc>
                <a:tc>
                  <a:txBody>
                    <a:bodyPr/>
                    <a:lstStyle/>
                    <a:p>
                      <a:pPr indent="0" marL="0">
                        <a:buNone/>
                      </a:pPr>
                      <a:r>
                        <a:rPr lang="en-US" sz="1400" b="1" dirty="0">
                          <a:solidFill>
                            <a:srgbClr val="A33639"/>
                          </a:solidFill>
                        </a:rPr>
                        <a:t>FAIL</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8313B"/>
                          </a:solidFill>
                        </a:rPr>
                        <a:t>At least 3 sessions, including a weekend</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EDF3F4"/>
                    </a:solidFill>
                  </a:tcPr>
                </a:tc>
                <a:tc>
                  <a:txBody>
                    <a:bodyPr/>
                    <a:lstStyle/>
                    <a:p>
                      <a:pPr indent="0" marL="0">
                        <a:buNone/>
                      </a:pPr>
                      <a:r>
                        <a:rPr lang="en-US" sz="1400" dirty="0">
                          <a:solidFill>
                            <a:srgbClr val="18313B"/>
                          </a:solidFill>
                        </a:rPr>
                        <a:t>1 session, 2.6 h</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EDF3F4"/>
                    </a:solidFill>
                  </a:tcPr>
                </a:tc>
                <a:tc>
                  <a:txBody>
                    <a:bodyPr/>
                    <a:lstStyle/>
                    <a:p>
                      <a:pPr indent="0" marL="0">
                        <a:buNone/>
                      </a:pPr>
                      <a:r>
                        <a:rPr lang="en-US" sz="1400" b="1" dirty="0">
                          <a:solidFill>
                            <a:srgbClr val="53656D"/>
                          </a:solidFill>
                        </a:rPr>
                        <a:t>NOT MET</a:t>
                      </a:r>
                      <a:endParaRPr lang="en-US" sz="1400" dirty="0"/>
                    </a:p>
                  </a:txBody>
                  <a:tcPr marL="109728" marR="109728" marT="0" marB="0" anchor="ctr">
                    <a:lnL w="9525" cap="flat" cmpd="sng" algn="ctr">
                      <a:solidFill>
                        <a:srgbClr val="D6DFE2"/>
                      </a:solidFill>
                      <a:prstDash val="solid"/>
                      <a:round/>
                      <a:headEnd type="none" w="med" len="med"/>
                      <a:tailEnd type="none" w="med" len="med"/>
                    </a:lnL>
                    <a:lnR w="9525" cap="flat" cmpd="sng" algn="ctr">
                      <a:solidFill>
                        <a:srgbClr val="D6DFE2"/>
                      </a:solidFill>
                      <a:prstDash val="solid"/>
                      <a:round/>
                      <a:headEnd type="none" w="med" len="med"/>
                      <a:tailEnd type="none" w="med" len="med"/>
                    </a:lnR>
                    <a:lnT w="9525" cap="flat" cmpd="sng" algn="ctr">
                      <a:solidFill>
                        <a:srgbClr val="D6DFE2"/>
                      </a:solidFill>
                      <a:prstDash val="solid"/>
                      <a:round/>
                      <a:headEnd type="none" w="med" len="med"/>
                      <a:tailEnd type="none" w="med" len="med"/>
                    </a:lnT>
                    <a:lnB w="9525" cap="flat" cmpd="sng" algn="ctr">
                      <a:solidFill>
                        <a:srgbClr val="D6DFE2"/>
                      </a:solidFill>
                      <a:prstDash val="solid"/>
                      <a:round/>
                      <a:headEnd type="none" w="med" len="med"/>
                      <a:tailEnd type="none" w="med" len="med"/>
                    </a:lnB>
                    <a:solidFill>
                      <a:srgbClr val="EDF3F4"/>
                    </a:solidFill>
                  </a:tcPr>
                </a:tc>
              </a:tr>
            </a:tbl>
          </a:graphicData>
        </a:graphic>
      </p:graphicFrame>
      <p:sp>
        <p:nvSpPr>
          <p:cNvPr id="7" name="fact-1"/>
          <p:cNvSpPr/>
          <p:nvPr/>
        </p:nvSpPr>
        <p:spPr>
          <a:xfrm>
            <a:off x="8001000" y="1691640"/>
            <a:ext cx="3584448" cy="1234440"/>
          </a:xfrm>
          <a:prstGeom prst="rect">
            <a:avLst/>
          </a:prstGeom>
          <a:solidFill>
            <a:schemeClr val="bg2"/>
          </a:solidFill>
          <a:ln w="12700">
            <a:solidFill>
              <a:schemeClr val="bg2"/>
            </a:solidFill>
            <a:prstDash val="solid"/>
          </a:ln>
        </p:spPr>
      </p:sp>
      <p:sp>
        <p:nvSpPr>
          <p:cNvPr id="8" name="Text 4"/>
          <p:cNvSpPr txBox="1"/>
          <p:nvPr/>
        </p:nvSpPr>
        <p:spPr>
          <a:xfrm>
            <a:off x="8275320" y="1828800"/>
            <a:ext cx="3035808" cy="548640"/>
          </a:xfrm>
          <a:prstGeom prst="rect">
            <a:avLst/>
          </a:prstGeom>
          <a:noFill/>
          <a:ln/>
        </p:spPr>
        <p:txBody>
          <a:bodyPr wrap="square" lIns="0" tIns="0" rIns="0" bIns="0" rtlCol="0" anchor="t"/>
          <a:lstStyle/>
          <a:p>
            <a:pPr indent="0" marL="0">
              <a:buNone/>
            </a:pPr>
            <a:r>
              <a:rPr lang="en-US" sz="2800" b="1" dirty="0">
                <a:solidFill>
                  <a:schemeClr val="tx2"/>
                </a:solidFill>
              </a:rPr>
              <a:t>2 vs 20 bps</a:t>
            </a:r>
            <a:endParaRPr lang="en-US" sz="2800" dirty="0"/>
          </a:p>
        </p:txBody>
      </p:sp>
      <p:sp>
        <p:nvSpPr>
          <p:cNvPr id="9" name="Text 5"/>
          <p:cNvSpPr txBox="1"/>
          <p:nvPr/>
        </p:nvSpPr>
        <p:spPr>
          <a:xfrm>
            <a:off x="8275320" y="2377440"/>
            <a:ext cx="3035808" cy="502920"/>
          </a:xfrm>
          <a:prstGeom prst="rect">
            <a:avLst/>
          </a:prstGeom>
          <a:noFill/>
          <a:ln/>
        </p:spPr>
        <p:txBody>
          <a:bodyPr wrap="square" lIns="0" tIns="0" rIns="0" bIns="0" rtlCol="0" anchor="t"/>
          <a:lstStyle/>
          <a:p>
            <a:pPr indent="0" marL="0">
              <a:buNone/>
            </a:pPr>
            <a:r>
              <a:rPr lang="en-US" sz="1300" dirty="0">
                <a:solidFill>
                  <a:schemeClr val="tx1"/>
                </a:solidFill>
              </a:rPr>
              <a:t>Kraken’s spread against its maker fee: never worth quoting</a:t>
            </a:r>
            <a:endParaRPr lang="en-US" sz="1300" dirty="0"/>
          </a:p>
        </p:txBody>
      </p:sp>
      <p:sp>
        <p:nvSpPr>
          <p:cNvPr id="10" name="fact-2"/>
          <p:cNvSpPr/>
          <p:nvPr/>
        </p:nvSpPr>
        <p:spPr>
          <a:xfrm>
            <a:off x="8001000" y="3108960"/>
            <a:ext cx="3584448" cy="1234440"/>
          </a:xfrm>
          <a:prstGeom prst="rect">
            <a:avLst/>
          </a:prstGeom>
          <a:solidFill>
            <a:schemeClr val="bg2"/>
          </a:solidFill>
          <a:ln w="12700">
            <a:solidFill>
              <a:schemeClr val="bg2"/>
            </a:solidFill>
            <a:prstDash val="solid"/>
          </a:ln>
        </p:spPr>
      </p:sp>
      <p:sp>
        <p:nvSpPr>
          <p:cNvPr id="11" name="Text 7"/>
          <p:cNvSpPr txBox="1"/>
          <p:nvPr/>
        </p:nvSpPr>
        <p:spPr>
          <a:xfrm>
            <a:off x="8275320" y="3246120"/>
            <a:ext cx="3035808" cy="548640"/>
          </a:xfrm>
          <a:prstGeom prst="rect">
            <a:avLst/>
          </a:prstGeom>
          <a:noFill/>
          <a:ln/>
        </p:spPr>
        <p:txBody>
          <a:bodyPr wrap="square" lIns="0" tIns="0" rIns="0" bIns="0" rtlCol="0" anchor="t"/>
          <a:lstStyle/>
          <a:p>
            <a:pPr indent="0" marL="0">
              <a:buNone/>
            </a:pPr>
            <a:r>
              <a:rPr lang="en-US" sz="2800" b="1" dirty="0">
                <a:solidFill>
                  <a:schemeClr val="tx2"/>
                </a:solidFill>
              </a:rPr>
              <a:t>≈6,500 EURC</a:t>
            </a:r>
            <a:endParaRPr lang="en-US" sz="2800" dirty="0"/>
          </a:p>
        </p:txBody>
      </p:sp>
      <p:sp>
        <p:nvSpPr>
          <p:cNvPr id="12" name="Text 8"/>
          <p:cNvSpPr txBox="1"/>
          <p:nvPr/>
        </p:nvSpPr>
        <p:spPr>
          <a:xfrm>
            <a:off x="8275320" y="3794760"/>
            <a:ext cx="3035808" cy="502920"/>
          </a:xfrm>
          <a:prstGeom prst="rect">
            <a:avLst/>
          </a:prstGeom>
          <a:noFill/>
          <a:ln/>
        </p:spPr>
        <p:txBody>
          <a:bodyPr wrap="square" lIns="0" tIns="0" rIns="0" bIns="0" rtlCol="0" anchor="t"/>
          <a:lstStyle/>
          <a:p>
            <a:pPr indent="0" marL="0">
              <a:buNone/>
            </a:pPr>
            <a:r>
              <a:rPr lang="en-US" sz="1300" dirty="0">
                <a:solidFill>
                  <a:schemeClr val="tx1"/>
                </a:solidFill>
              </a:rPr>
              <a:t>Bitvavo’s median daily volume over the last 366 days</a:t>
            </a:r>
            <a:endParaRPr lang="en-US" sz="1300" dirty="0"/>
          </a:p>
        </p:txBody>
      </p:sp>
      <p:sp>
        <p:nvSpPr>
          <p:cNvPr id="13" name="fact-3"/>
          <p:cNvSpPr/>
          <p:nvPr/>
        </p:nvSpPr>
        <p:spPr>
          <a:xfrm>
            <a:off x="8001000" y="4526280"/>
            <a:ext cx="3584448" cy="1234440"/>
          </a:xfrm>
          <a:prstGeom prst="rect">
            <a:avLst/>
          </a:prstGeom>
          <a:solidFill>
            <a:schemeClr val="bg2"/>
          </a:solidFill>
          <a:ln w="12700">
            <a:solidFill>
              <a:schemeClr val="bg2"/>
            </a:solidFill>
            <a:prstDash val="solid"/>
          </a:ln>
        </p:spPr>
      </p:sp>
      <p:sp>
        <p:nvSpPr>
          <p:cNvPr id="14" name="Text 10"/>
          <p:cNvSpPr txBox="1"/>
          <p:nvPr/>
        </p:nvSpPr>
        <p:spPr>
          <a:xfrm>
            <a:off x="8275320" y="4663440"/>
            <a:ext cx="3035808" cy="548640"/>
          </a:xfrm>
          <a:prstGeom prst="rect">
            <a:avLst/>
          </a:prstGeom>
          <a:noFill/>
          <a:ln/>
        </p:spPr>
        <p:txBody>
          <a:bodyPr wrap="square" lIns="0" tIns="0" rIns="0" bIns="0" rtlCol="0" anchor="t"/>
          <a:lstStyle/>
          <a:p>
            <a:pPr indent="0" marL="0">
              <a:buNone/>
            </a:pPr>
            <a:r>
              <a:rPr lang="en-US" sz="2800" b="1" dirty="0">
                <a:solidFill>
                  <a:schemeClr val="tx2"/>
                </a:solidFill>
              </a:rPr>
              <a:t>−39 bps</a:t>
            </a:r>
            <a:endParaRPr lang="en-US" sz="2800" dirty="0"/>
          </a:p>
        </p:txBody>
      </p:sp>
      <p:sp>
        <p:nvSpPr>
          <p:cNvPr id="15" name="Text 11"/>
          <p:cNvSpPr txBox="1"/>
          <p:nvPr/>
        </p:nvSpPr>
        <p:spPr>
          <a:xfrm>
            <a:off x="8275320" y="5212080"/>
            <a:ext cx="3035808" cy="502920"/>
          </a:xfrm>
          <a:prstGeom prst="rect">
            <a:avLst/>
          </a:prstGeom>
          <a:noFill/>
          <a:ln/>
        </p:spPr>
        <p:txBody>
          <a:bodyPr wrap="square" lIns="0" tIns="0" rIns="0" bIns="0" rtlCol="0" anchor="t"/>
          <a:lstStyle/>
          <a:p>
            <a:pPr indent="0" marL="0">
              <a:buNone/>
            </a:pPr>
            <a:r>
              <a:rPr lang="en-US" sz="1300" dirty="0">
                <a:solidFill>
                  <a:schemeClr val="tx1"/>
                </a:solidFill>
              </a:rPr>
              <a:t>best cross-venue trade at €10k, after fees</a:t>
            </a:r>
            <a:endParaRPr lang="en-US" sz="1300" dirty="0"/>
          </a:p>
        </p:txBody>
      </p:sp>
      <p:sp>
        <p:nvSpPr>
          <p:cNvPr id="16" name="Text 12"/>
          <p:cNvSpPr txBox="1"/>
          <p:nvPr/>
        </p:nvSpPr>
        <p:spPr>
          <a:xfrm>
            <a:off x="612648" y="5440680"/>
            <a:ext cx="6903720" cy="685800"/>
          </a:xfrm>
          <a:prstGeom prst="rect">
            <a:avLst/>
          </a:prstGeom>
          <a:noFill/>
          <a:ln/>
        </p:spPr>
        <p:txBody>
          <a:bodyPr wrap="square" lIns="0" tIns="0" rIns="0" bIns="0" rtlCol="0" anchor="t"/>
          <a:lstStyle/>
          <a:p>
            <a:pPr indent="0" marL="0">
              <a:buNone/>
            </a:pPr>
            <a:r>
              <a:rPr lang="en-US" sz="1500" dirty="0">
                <a:solidFill>
                  <a:schemeClr val="accent3"/>
                </a:solidFill>
              </a:rPr>
              <a:t>The only positive result, a deep bid absorbing one seller sweep, is worth about €100–300 a year.</a:t>
            </a:r>
            <a:endParaRPr lang="en-US" sz="1500" dirty="0"/>
          </a:p>
        </p:txBody>
      </p:sp>
      <p:sp>
        <p:nvSpPr>
          <p:cNvPr id="25" name="Slide Number Placeholder 0"/>
          <p:cNvSpPr>
            <a:spLocks noGrp="1"/>
          </p:cNvSpPr>
          <p:nvPr>
            <p:ph type="sldNum" sz="quarter" idx="4294967295"/>
          </p:nvPr>
        </p:nvSpPr>
        <p:spPr>
          <a:xfrm>
            <a:off x="11128248" y="6272784"/>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12648" y="329184"/>
            <a:ext cx="10972800" cy="274320"/>
          </a:xfrm>
          <a:prstGeom prst="rect">
            <a:avLst/>
          </a:prstGeom>
          <a:noFill/>
          <a:ln/>
        </p:spPr>
        <p:txBody>
          <a:bodyPr wrap="square" lIns="0" tIns="0" rIns="0" bIns="0" rtlCol="0" anchor="t"/>
          <a:lstStyle/>
          <a:p>
            <a:pPr indent="0" marL="0">
              <a:buNone/>
            </a:pPr>
            <a:r>
              <a:rPr lang="en-US" sz="1400" b="1" dirty="0">
                <a:solidFill>
                  <a:schemeClr val="accent6"/>
                </a:solidFill>
              </a:rPr>
              <a:t>05  ·  DECISION AND WHAT REMAINS</a:t>
            </a:r>
            <a:endParaRPr lang="en-US" sz="1400" dirty="0"/>
          </a:p>
        </p:txBody>
      </p:sp>
      <p:sp>
        <p:nvSpPr>
          <p:cNvPr id="3" name="Text 0"/>
          <p:cNvSpPr/>
          <p:nvPr>
            <p:ph idx="101" type="title" hasCustomPrompt="1"/>
          </p:nvPr>
        </p:nvSpPr>
        <p:spPr>
          <a:xfrm>
            <a:off x="612648" y="658368"/>
            <a:ext cx="10972800" cy="731520"/>
          </a:xfrm>
          <a:prstGeom prst="rect">
            <a:avLst/>
          </a:prstGeom>
          <a:noFill/>
          <a:ln/>
        </p:spPr>
        <p:txBody>
          <a:bodyPr wrap="square" lIns="0" tIns="0" rIns="0" bIns="0" rtlCol="0" anchor="t"/>
          <a:lstStyle/>
          <a:p>
            <a:pPr algn="l" indent="0" marL="0">
              <a:buNone/>
            </a:pPr>
            <a:r>
              <a:rPr lang="en-US" sz="3400" b="1" dirty="0">
                <a:solidFill>
                  <a:schemeClr val="bg1"/>
                </a:solidFill>
              </a:rPr>
              <a:t>Not deployed. The measurements are the asset.</a:t>
            </a:r>
            <a:endParaRPr lang="en-US" sz="3400" dirty="0"/>
          </a:p>
        </p:txBody>
      </p:sp>
      <p:sp>
        <p:nvSpPr>
          <p:cNvPr id="4" name="Text 0"/>
          <p:cNvSpPr/>
          <p:nvPr>
            <p:ph idx="102" type="body" hasCustomPrompt="1"/>
          </p:nvPr>
        </p:nvSpPr>
        <p:spPr>
          <a:xfrm>
            <a:off x="612648" y="6291072"/>
            <a:ext cx="9966960" cy="329184"/>
          </a:xfrm>
          <a:prstGeom prst="rect">
            <a:avLst/>
          </a:prstGeom>
          <a:noFill/>
          <a:ln/>
        </p:spPr>
        <p:txBody>
          <a:bodyPr wrap="square" lIns="0" tIns="0" rIns="0" bIns="0" rtlCol="0" anchor="t"/>
          <a:lstStyle/>
          <a:p>
            <a:pPr indent="0" marL="0">
              <a:buNone/>
            </a:pPr>
            <a:r>
              <a:rPr lang="en-US" sz="1100" dirty="0">
                <a:solidFill>
                  <a:schemeClr val="accent6"/>
                </a:solidFill>
              </a:rPr>
              <a:t>Happy to walk through the data in 15 minutes  ·  Syed Zee Waqar Hussain</a:t>
            </a:r>
            <a:endParaRPr lang="en-US" sz="1100" dirty="0"/>
          </a:p>
        </p:txBody>
      </p:sp>
      <p:sp>
        <p:nvSpPr>
          <p:cNvPr id="6" name="Text 3"/>
          <p:cNvSpPr txBox="1"/>
          <p:nvPr/>
        </p:nvSpPr>
        <p:spPr>
          <a:xfrm>
            <a:off x="612648" y="1691640"/>
            <a:ext cx="4846320" cy="411480"/>
          </a:xfrm>
          <a:prstGeom prst="rect">
            <a:avLst/>
          </a:prstGeom>
          <a:noFill/>
          <a:ln/>
        </p:spPr>
        <p:txBody>
          <a:bodyPr wrap="square" lIns="0" tIns="0" rIns="0" bIns="0" rtlCol="0" anchor="t"/>
          <a:lstStyle/>
          <a:p>
            <a:pPr indent="0" marL="0">
              <a:buNone/>
            </a:pPr>
            <a:r>
              <a:rPr lang="en-US" sz="2000" b="1" dirty="0">
                <a:solidFill>
                  <a:schemeClr val="accent6"/>
                </a:solidFill>
              </a:rPr>
              <a:t>Decision</a:t>
            </a:r>
            <a:endParaRPr lang="en-US" sz="2000" dirty="0"/>
          </a:p>
        </p:txBody>
      </p:sp>
      <p:sp>
        <p:nvSpPr>
          <p:cNvPr id="7" name="Text 4"/>
          <p:cNvSpPr txBox="1"/>
          <p:nvPr/>
        </p:nvSpPr>
        <p:spPr>
          <a:xfrm>
            <a:off x="612648" y="2148840"/>
            <a:ext cx="4846320" cy="502920"/>
          </a:xfrm>
          <a:prstGeom prst="rect">
            <a:avLst/>
          </a:prstGeom>
          <a:noFill/>
          <a:ln/>
        </p:spPr>
        <p:txBody>
          <a:bodyPr wrap="square" lIns="0" tIns="0" rIns="0" bIns="0" rtlCol="0" anchor="t"/>
          <a:lstStyle/>
          <a:p>
            <a:pPr indent="0" marL="0">
              <a:buNone/>
            </a:pPr>
            <a:r>
              <a:rPr lang="en-US" sz="2200" b="1" dirty="0">
                <a:solidFill>
                  <a:schemeClr val="bg1"/>
                </a:solidFill>
              </a:rPr>
              <a:t>Keep the €40k in the 2.5% deposit.</a:t>
            </a:r>
            <a:endParaRPr lang="en-US" sz="2200" dirty="0"/>
          </a:p>
        </p:txBody>
      </p:sp>
      <p:sp>
        <p:nvSpPr>
          <p:cNvPr id="8" name="Text 5"/>
          <p:cNvSpPr txBox="1"/>
          <p:nvPr/>
        </p:nvSpPr>
        <p:spPr>
          <a:xfrm>
            <a:off x="612648" y="2743200"/>
            <a:ext cx="4846320" cy="914400"/>
          </a:xfrm>
          <a:prstGeom prst="rect">
            <a:avLst/>
          </a:prstGeom>
          <a:noFill/>
          <a:ln/>
        </p:spPr>
        <p:txBody>
          <a:bodyPr wrap="square" lIns="0" tIns="0" rIns="0" bIns="0" rtlCol="0" anchor="t"/>
          <a:lstStyle/>
          <a:p>
            <a:pPr indent="0" marL="0">
              <a:buNone/>
            </a:pPr>
            <a:r>
              <a:rPr lang="en-US" sz="1600" dirty="0">
                <a:solidFill>
                  <a:schemeClr val="bg1"/>
                </a:solidFill>
              </a:rPr>
              <a:t>The market is arbitraged to within a few bps. Paying spreads and fees cannot win; only earning them might.</a:t>
            </a:r>
            <a:endParaRPr lang="en-US" sz="1600" dirty="0"/>
          </a:p>
        </p:txBody>
      </p:sp>
      <p:sp>
        <p:nvSpPr>
          <p:cNvPr id="9" name="Text 6"/>
          <p:cNvSpPr txBox="1"/>
          <p:nvPr/>
        </p:nvSpPr>
        <p:spPr>
          <a:xfrm>
            <a:off x="612648" y="3931920"/>
            <a:ext cx="4846320" cy="365760"/>
          </a:xfrm>
          <a:prstGeom prst="rect">
            <a:avLst/>
          </a:prstGeom>
          <a:noFill/>
          <a:ln/>
        </p:spPr>
        <p:txBody>
          <a:bodyPr wrap="square" lIns="0" tIns="0" rIns="0" bIns="0" rtlCol="0" anchor="t"/>
          <a:lstStyle/>
          <a:p>
            <a:pPr indent="0" marL="0">
              <a:buNone/>
            </a:pPr>
            <a:r>
              <a:rPr lang="en-US" sz="1600" b="1" dirty="0">
                <a:solidFill>
                  <a:schemeClr val="accent6"/>
                </a:solidFill>
              </a:rPr>
              <a:t>What would reopen it</a:t>
            </a:r>
            <a:endParaRPr lang="en-US" sz="1600" dirty="0"/>
          </a:p>
        </p:txBody>
      </p:sp>
      <p:sp>
        <p:nvSpPr>
          <p:cNvPr id="10" name="Text 7"/>
          <p:cNvSpPr txBox="1"/>
          <p:nvPr/>
        </p:nvSpPr>
        <p:spPr>
          <a:xfrm>
            <a:off x="612648" y="4343400"/>
            <a:ext cx="4846320" cy="12801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bg1"/>
                </a:solidFill>
              </a:rPr>
              <a:t>BTC funding above about 7% a year, sustained</a:t>
            </a:r>
            <a:endParaRPr lang="en-US" sz="1500" dirty="0"/>
          </a:p>
          <a:p>
            <a:pPr marL="342900" indent="-342900">
              <a:spcAft>
                <a:spcPts val="400"/>
              </a:spcAft>
              <a:buSzPct val="100000"/>
              <a:buChar char="•"/>
            </a:pPr>
            <a:r>
              <a:rPr lang="en-US" sz="1500" dirty="0">
                <a:solidFill>
                  <a:schemeClr val="bg1"/>
                </a:solidFill>
              </a:rPr>
              <a:t>Free, practical par redemption of EURC</a:t>
            </a:r>
            <a:endParaRPr lang="en-US" sz="1500" dirty="0"/>
          </a:p>
          <a:p>
            <a:pPr marL="342900" indent="-342900">
              <a:spcAft>
                <a:spcPts val="400"/>
              </a:spcAft>
              <a:buSzPct val="100000"/>
              <a:buChar char="•"/>
            </a:pPr>
            <a:r>
              <a:rPr lang="en-US" sz="1500" dirty="0">
                <a:solidFill>
                  <a:schemeClr val="bg1"/>
                </a:solidFill>
              </a:rPr>
              <a:t>Bitvavo EURC volume above €100k a day</a:t>
            </a:r>
            <a:endParaRPr lang="en-US" sz="1500" dirty="0"/>
          </a:p>
        </p:txBody>
      </p:sp>
      <p:sp>
        <p:nvSpPr>
          <p:cNvPr id="11" name="uses-card"/>
          <p:cNvSpPr/>
          <p:nvPr/>
        </p:nvSpPr>
        <p:spPr>
          <a:xfrm>
            <a:off x="5989320" y="1691640"/>
            <a:ext cx="5596128" cy="4297680"/>
          </a:xfrm>
          <a:prstGeom prst="rect">
            <a:avLst/>
          </a:prstGeom>
          <a:solidFill>
            <a:schemeClr val="accent5"/>
          </a:solidFill>
          <a:ln w="12700">
            <a:solidFill>
              <a:schemeClr val="accent5"/>
            </a:solidFill>
            <a:prstDash val="solid"/>
          </a:ln>
        </p:spPr>
      </p:sp>
      <p:sp>
        <p:nvSpPr>
          <p:cNvPr id="12" name="Text 9"/>
          <p:cNvSpPr txBox="1"/>
          <p:nvPr/>
        </p:nvSpPr>
        <p:spPr>
          <a:xfrm>
            <a:off x="6309360" y="1874520"/>
            <a:ext cx="4956048" cy="411480"/>
          </a:xfrm>
          <a:prstGeom prst="rect">
            <a:avLst/>
          </a:prstGeom>
          <a:noFill/>
          <a:ln/>
        </p:spPr>
        <p:txBody>
          <a:bodyPr wrap="square" lIns="0" tIns="0" rIns="0" bIns="0" rtlCol="0" anchor="t"/>
          <a:lstStyle/>
          <a:p>
            <a:pPr indent="0" marL="0">
              <a:buNone/>
            </a:pPr>
            <a:r>
              <a:rPr lang="en-US" sz="2000" b="1" dirty="0">
                <a:solidFill>
                  <a:schemeClr val="bg1"/>
                </a:solidFill>
              </a:rPr>
              <a:t>Where the data helps now</a:t>
            </a:r>
            <a:endParaRPr lang="en-US" sz="2000" dirty="0"/>
          </a:p>
        </p:txBody>
      </p:sp>
      <p:sp>
        <p:nvSpPr>
          <p:cNvPr id="13" name="use-1-badge"/>
          <p:cNvSpPr/>
          <p:nvPr/>
        </p:nvSpPr>
        <p:spPr>
          <a:xfrm>
            <a:off x="6309360" y="2468880"/>
            <a:ext cx="384048" cy="384048"/>
          </a:xfrm>
          <a:prstGeom prst="ellipse">
            <a:avLst/>
          </a:prstGeom>
          <a:solidFill>
            <a:schemeClr val="bg1"/>
          </a:solidFill>
          <a:ln w="12700">
            <a:solidFill>
              <a:schemeClr val="bg1"/>
            </a:solidFill>
            <a:prstDash val="solid"/>
          </a:ln>
        </p:spPr>
      </p:sp>
      <p:sp>
        <p:nvSpPr>
          <p:cNvPr id="14" name="Text 11"/>
          <p:cNvSpPr txBox="1"/>
          <p:nvPr/>
        </p:nvSpPr>
        <p:spPr>
          <a:xfrm>
            <a:off x="6309360" y="246888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15" name="Text 12"/>
          <p:cNvSpPr txBox="1"/>
          <p:nvPr/>
        </p:nvSpPr>
        <p:spPr>
          <a:xfrm>
            <a:off x="6858000" y="2423160"/>
            <a:ext cx="4407408" cy="777240"/>
          </a:xfrm>
          <a:prstGeom prst="rect">
            <a:avLst/>
          </a:prstGeom>
          <a:noFill/>
          <a:ln/>
        </p:spPr>
        <p:txBody>
          <a:bodyPr wrap="square" lIns="0" tIns="0" rIns="0" bIns="0" rtlCol="0" anchor="t"/>
          <a:lstStyle/>
          <a:p>
            <a:pPr indent="0" marL="0">
              <a:buNone/>
            </a:pPr>
            <a:r>
              <a:rPr lang="en-US" sz="1400" b="1" dirty="0">
                <a:solidFill>
                  <a:schemeClr val="bg1"/>
                </a:solidFill>
              </a:rPr>
              <a:t>Best execution</a:t>
            </a:r>
            <a:endParaRPr lang="en-US" sz="1400" dirty="0"/>
          </a:p>
          <a:p>
            <a:pPr indent="0" marL="0">
              <a:buNone/>
            </a:pPr>
            <a:r>
              <a:rPr lang="en-US" sz="1400" dirty="0">
                <a:solidFill>
                  <a:schemeClr val="accent6"/>
                </a:solidFill>
              </a:rPr>
              <a:t>Live spread, depth, freshness and latency per venue (MiCA Art. 78).</a:t>
            </a:r>
            <a:endParaRPr lang="en-US" sz="1400" dirty="0"/>
          </a:p>
        </p:txBody>
      </p:sp>
      <p:sp>
        <p:nvSpPr>
          <p:cNvPr id="16" name="use-2-badge"/>
          <p:cNvSpPr/>
          <p:nvPr/>
        </p:nvSpPr>
        <p:spPr>
          <a:xfrm>
            <a:off x="6309360" y="3337560"/>
            <a:ext cx="384048" cy="384048"/>
          </a:xfrm>
          <a:prstGeom prst="ellipse">
            <a:avLst/>
          </a:prstGeom>
          <a:solidFill>
            <a:schemeClr val="bg1"/>
          </a:solidFill>
          <a:ln w="12700">
            <a:solidFill>
              <a:schemeClr val="bg1"/>
            </a:solidFill>
            <a:prstDash val="solid"/>
          </a:ln>
        </p:spPr>
      </p:sp>
      <p:sp>
        <p:nvSpPr>
          <p:cNvPr id="17" name="Text 14"/>
          <p:cNvSpPr txBox="1"/>
          <p:nvPr/>
        </p:nvSpPr>
        <p:spPr>
          <a:xfrm>
            <a:off x="6309360" y="333756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8" name="Text 15"/>
          <p:cNvSpPr txBox="1"/>
          <p:nvPr/>
        </p:nvSpPr>
        <p:spPr>
          <a:xfrm>
            <a:off x="6858000" y="3291840"/>
            <a:ext cx="4407408" cy="777240"/>
          </a:xfrm>
          <a:prstGeom prst="rect">
            <a:avLst/>
          </a:prstGeom>
          <a:noFill/>
          <a:ln/>
        </p:spPr>
        <p:txBody>
          <a:bodyPr wrap="square" lIns="0" tIns="0" rIns="0" bIns="0" rtlCol="0" anchor="t"/>
          <a:lstStyle/>
          <a:p>
            <a:pPr indent="0" marL="0">
              <a:buNone/>
            </a:pPr>
            <a:r>
              <a:rPr lang="en-US" sz="1400" b="1" dirty="0">
                <a:solidFill>
                  <a:schemeClr val="bg1"/>
                </a:solidFill>
              </a:rPr>
              <a:t>Euro stablecoins</a:t>
            </a:r>
            <a:endParaRPr lang="en-US" sz="1400" dirty="0"/>
          </a:p>
          <a:p>
            <a:pPr indent="0" marL="0">
              <a:buNone/>
            </a:pPr>
            <a:r>
              <a:rPr lang="en-US" sz="1400" dirty="0">
                <a:solidFill>
                  <a:schemeClr val="accent6"/>
                </a:solidFill>
              </a:rPr>
              <a:t>EURC traded below 0.9925 on 28 of 366 days on Bitvavo.</a:t>
            </a:r>
            <a:endParaRPr lang="en-US" sz="1400" dirty="0"/>
          </a:p>
        </p:txBody>
      </p:sp>
      <p:sp>
        <p:nvSpPr>
          <p:cNvPr id="19" name="use-3-badge"/>
          <p:cNvSpPr/>
          <p:nvPr/>
        </p:nvSpPr>
        <p:spPr>
          <a:xfrm>
            <a:off x="6309360" y="4206240"/>
            <a:ext cx="384048" cy="384048"/>
          </a:xfrm>
          <a:prstGeom prst="ellipse">
            <a:avLst/>
          </a:prstGeom>
          <a:solidFill>
            <a:schemeClr val="bg1"/>
          </a:solidFill>
          <a:ln w="12700">
            <a:solidFill>
              <a:schemeClr val="bg1"/>
            </a:solidFill>
            <a:prstDash val="solid"/>
          </a:ln>
        </p:spPr>
      </p:sp>
      <p:sp>
        <p:nvSpPr>
          <p:cNvPr id="20" name="Text 17"/>
          <p:cNvSpPr txBox="1"/>
          <p:nvPr/>
        </p:nvSpPr>
        <p:spPr>
          <a:xfrm>
            <a:off x="6309360" y="420624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21" name="Text 18"/>
          <p:cNvSpPr txBox="1"/>
          <p:nvPr/>
        </p:nvSpPr>
        <p:spPr>
          <a:xfrm>
            <a:off x="6858000" y="4160520"/>
            <a:ext cx="4407408" cy="777240"/>
          </a:xfrm>
          <a:prstGeom prst="rect">
            <a:avLst/>
          </a:prstGeom>
          <a:noFill/>
          <a:ln/>
        </p:spPr>
        <p:txBody>
          <a:bodyPr wrap="square" lIns="0" tIns="0" rIns="0" bIns="0" rtlCol="0" anchor="t"/>
          <a:lstStyle/>
          <a:p>
            <a:pPr indent="0" marL="0">
              <a:buNone/>
            </a:pPr>
            <a:r>
              <a:rPr lang="en-US" sz="1400" b="1" dirty="0">
                <a:solidFill>
                  <a:schemeClr val="bg1"/>
                </a:solidFill>
              </a:rPr>
              <a:t>Model validation</a:t>
            </a:r>
            <a:endParaRPr lang="en-US" sz="1400" dirty="0"/>
          </a:p>
          <a:p>
            <a:pPr indent="0" marL="0">
              <a:buNone/>
            </a:pPr>
            <a:r>
              <a:rPr lang="en-US" sz="1400" dirty="0">
                <a:solidFill>
                  <a:schemeClr val="accent6"/>
                </a:solidFill>
              </a:rPr>
              <a:t>A checklist of the errors that made losses look like profit.</a:t>
            </a:r>
            <a:endParaRPr lang="en-US" sz="1400" dirty="0"/>
          </a:p>
        </p:txBody>
      </p:sp>
      <p:sp>
        <p:nvSpPr>
          <p:cNvPr id="22" name="use-4-badge"/>
          <p:cNvSpPr/>
          <p:nvPr/>
        </p:nvSpPr>
        <p:spPr>
          <a:xfrm>
            <a:off x="6309360" y="5074920"/>
            <a:ext cx="384048" cy="384048"/>
          </a:xfrm>
          <a:prstGeom prst="ellipse">
            <a:avLst/>
          </a:prstGeom>
          <a:solidFill>
            <a:schemeClr val="bg1"/>
          </a:solidFill>
          <a:ln w="12700">
            <a:solidFill>
              <a:schemeClr val="bg1"/>
            </a:solidFill>
            <a:prstDash val="solid"/>
          </a:ln>
        </p:spPr>
      </p:sp>
      <p:sp>
        <p:nvSpPr>
          <p:cNvPr id="23" name="Text 20"/>
          <p:cNvSpPr txBox="1"/>
          <p:nvPr/>
        </p:nvSpPr>
        <p:spPr>
          <a:xfrm>
            <a:off x="6309360" y="507492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24" name="Text 21"/>
          <p:cNvSpPr txBox="1"/>
          <p:nvPr/>
        </p:nvSpPr>
        <p:spPr>
          <a:xfrm>
            <a:off x="6858000" y="5029200"/>
            <a:ext cx="4407408" cy="777240"/>
          </a:xfrm>
          <a:prstGeom prst="rect">
            <a:avLst/>
          </a:prstGeom>
          <a:noFill/>
          <a:ln/>
        </p:spPr>
        <p:txBody>
          <a:bodyPr wrap="square" lIns="0" tIns="0" rIns="0" bIns="0" rtlCol="0" anchor="t"/>
          <a:lstStyle/>
          <a:p>
            <a:pPr indent="0" marL="0">
              <a:buNone/>
            </a:pPr>
            <a:r>
              <a:rPr lang="en-US" sz="1400" b="1" dirty="0">
                <a:solidFill>
                  <a:schemeClr val="bg1"/>
                </a:solidFill>
              </a:rPr>
              <a:t>Next test worth running</a:t>
            </a:r>
            <a:endParaRPr lang="en-US" sz="1400" dirty="0"/>
          </a:p>
          <a:p>
            <a:pPr indent="0" marL="0">
              <a:buNone/>
            </a:pPr>
            <a:r>
              <a:rPr lang="en-US" sz="1400" dirty="0">
                <a:solidFill>
                  <a:schemeClr val="accent6"/>
                </a:solidFill>
              </a:rPr>
              <a:t>Passive quotes with a near-free internal hedge, at real institutional fees.</a:t>
            </a:r>
            <a:endParaRPr lang="en-US" sz="1400" dirty="0"/>
          </a:p>
        </p:txBody>
      </p:sp>
      <p:sp>
        <p:nvSpPr>
          <p:cNvPr id="25" name="Slide Number Placeholder 0"/>
          <p:cNvSpPr>
            <a:spLocks noGrp="1"/>
          </p:cNvSpPr>
          <p:nvPr>
            <p:ph type="sldNum" sz="quarter" idx="4294967295"/>
          </p:nvPr>
        </p:nvSpPr>
        <p:spPr>
          <a:xfrm>
            <a:off x="11128248" y="6272784"/>
            <a:ext cx="45720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EUR Crypto Arbitrage Briefing">
  <a:themeElements>
    <a:clrScheme name="EUR Crypto Arbitrage Briefing">
      <a:dk1>
        <a:srgbClr val="18313B"/>
      </a:dk1>
      <a:lt1>
        <a:srgbClr val="FFFFFF"/>
      </a:lt1>
      <a:dk2>
        <a:srgbClr val="173C4A"/>
      </a:dk2>
      <a:lt2>
        <a:srgbClr val="EDF3F4"/>
      </a:lt2>
      <a:accent1>
        <a:srgbClr val="347A78"/>
      </a:accent1>
      <a:accent2>
        <a:srgbClr val="A33639"/>
      </a:accent2>
      <a:accent3>
        <a:srgbClr val="53656D"/>
      </a:accent3>
      <a:accent4>
        <a:srgbClr val="D6DFE2"/>
      </a:accent4>
      <a:accent5>
        <a:srgbClr val="24525F"/>
      </a:accent5>
      <a:accent6>
        <a:srgbClr val="C9D8DC"/>
      </a:accent6>
      <a:hlink>
        <a:srgbClr val="347A78"/>
      </a:hlink>
      <a:folHlink>
        <a:srgbClr val="53656D"/>
      </a:folHlink>
    </a:clrScheme>
    <a:fontScheme name="EUR Crypto Arbitrage Brief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EUR crypto arbitrage: one year of testing</dc:title>
  <dc:subject>PptxGenJS Presentation</dc:subject>
  <dc:creator>Syed Zee Waqar Hussain</dc:creator>
  <cp:lastModifiedBy>Syed Zee Waqar Hussain</cp:lastModifiedBy>
  <cp:revision>1</cp:revision>
  <dcterms:created xsi:type="dcterms:W3CDTF">2026-10-23T13:32:37Z</dcterms:created>
  <dcterms:modified xsi:type="dcterms:W3CDTF">2026-10-23T13:32:37Z</dcterms:modified>
</cp:coreProperties>
</file>
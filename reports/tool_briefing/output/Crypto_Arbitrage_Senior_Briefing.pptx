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23dfdff3794a87" /><Relationship Type="http://schemas.openxmlformats.org/officeDocument/2006/relationships/extended-properties" Target="/docProps/app.xml" Id="Recb95d0cd55d494f" /><Relationship Type="http://schemas.openxmlformats.org/officeDocument/2006/relationships/officeDocument" Target="/ppt/presentation.xml" Id="Rde62d402b97a4c05" /></Relationships>
</file>

<file path=ppt/presentation.xml><?xml version="1.0" encoding="utf-8"?>
<p:presentation xmlns:p="http://schemas.openxmlformats.org/presentationml/2006/main">
  <p:sldMasterIdLst>
    <p:sldMasterId xmlns:r="http://schemas.openxmlformats.org/officeDocument/2006/relationships" id="2147483648" r:id="R8a92cb1587f74da3"/>
  </p:sldMasterIdLst>
  <p:notesMasterIdLst>
    <p:notesMasterId xmlns:r="http://schemas.openxmlformats.org/officeDocument/2006/relationships" r:id="R0c19df8c644f4c6c"/>
  </p:notesMasterIdLst>
  <p:sldIdLst>
    <p:sldId xmlns:r="http://schemas.openxmlformats.org/officeDocument/2006/relationships" id="256" r:id="Rc86c158d9f334355"/>
    <p:sldId xmlns:r="http://schemas.openxmlformats.org/officeDocument/2006/relationships" id="257" r:id="Rda1ab5bdbc4541cb"/>
    <p:sldId xmlns:r="http://schemas.openxmlformats.org/officeDocument/2006/relationships" id="258" r:id="Rf1648299ed77459d"/>
    <p:sldId xmlns:r="http://schemas.openxmlformats.org/officeDocument/2006/relationships" id="259" r:id="R3326b8bfbd5f4ec0"/>
    <p:sldId xmlns:r="http://schemas.openxmlformats.org/officeDocument/2006/relationships" id="260" r:id="R7391d27058c74f6c"/>
    <p:sldId xmlns:r="http://schemas.openxmlformats.org/officeDocument/2006/relationships" id="261" r:id="Rf9d7e66d2d6b4f5f"/>
    <p:sldId xmlns:r="http://schemas.openxmlformats.org/officeDocument/2006/relationships" id="262" r:id="Rf7e9205ad36e4ea7"/>
    <p:sldId xmlns:r="http://schemas.openxmlformats.org/officeDocument/2006/relationships" id="263" r:id="R6231b2bb5d5d4a7d"/>
    <p:sldId xmlns:r="http://schemas.openxmlformats.org/officeDocument/2006/relationships" id="264" r:id="R9a1009e18fa244f8"/>
    <p:sldId xmlns:r="http://schemas.openxmlformats.org/officeDocument/2006/relationships" id="265" r:id="Ra8feeb1757744989"/>
    <p:sldId xmlns:r="http://schemas.openxmlformats.org/officeDocument/2006/relationships" id="266" r:id="R8cae90b37fbb4e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152922c32d47d6" /><Relationship Type="http://schemas.openxmlformats.org/officeDocument/2006/relationships/slideMaster" Target="/ppt/slideMasters/slideMaster1.xml" Id="R8a92cb1587f74da3" /><Relationship Type="http://schemas.openxmlformats.org/officeDocument/2006/relationships/notesMaster" Target="/ppt/notesMasters/notesMaster1.xml" Id="R0c19df8c644f4c6c" /><Relationship Type="http://schemas.openxmlformats.org/officeDocument/2006/relationships/presProps" Target="/ppt/presProps.xml" Id="R3222c5c354264098" /><Relationship Type="http://schemas.openxmlformats.org/officeDocument/2006/relationships/tableStyles" Target="/ppt/tableStyles.xml" Id="R196f6ca1739b430a" /><Relationship Type="http://schemas.openxmlformats.org/officeDocument/2006/relationships/slide" Target="/ppt/slides/slide1.xml" Id="Rc86c158d9f334355" /><Relationship Type="http://schemas.openxmlformats.org/officeDocument/2006/relationships/slide" Target="/ppt/slides/slide2.xml" Id="Rda1ab5bdbc4541cb" /><Relationship Type="http://schemas.openxmlformats.org/officeDocument/2006/relationships/slide" Target="/ppt/slides/slide3.xml" Id="Rf1648299ed77459d" /><Relationship Type="http://schemas.openxmlformats.org/officeDocument/2006/relationships/slide" Target="/ppt/slides/slide4.xml" Id="R3326b8bfbd5f4ec0" /><Relationship Type="http://schemas.openxmlformats.org/officeDocument/2006/relationships/slide" Target="/ppt/slides/slide5.xml" Id="R7391d27058c74f6c" /><Relationship Type="http://schemas.openxmlformats.org/officeDocument/2006/relationships/slide" Target="/ppt/slides/slide6.xml" Id="Rf9d7e66d2d6b4f5f" /><Relationship Type="http://schemas.openxmlformats.org/officeDocument/2006/relationships/slide" Target="/ppt/slides/slide7.xml" Id="Rf7e9205ad36e4ea7" /><Relationship Type="http://schemas.openxmlformats.org/officeDocument/2006/relationships/slide" Target="/ppt/slides/slide8.xml" Id="R6231b2bb5d5d4a7d" /><Relationship Type="http://schemas.openxmlformats.org/officeDocument/2006/relationships/slide" Target="/ppt/slides/slide9.xml" Id="R9a1009e18fa244f8" /><Relationship Type="http://schemas.openxmlformats.org/officeDocument/2006/relationships/slide" Target="/ppt/slides/slide10.xml" Id="Ra8feeb1757744989" /><Relationship Type="http://schemas.openxmlformats.org/officeDocument/2006/relationships/slide" Target="/ppt/slides/slide11.xml" Id="R8cae90b37fbb4e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3ac1319c644b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6876822dd442f9" /><Relationship Type="http://schemas.openxmlformats.org/officeDocument/2006/relationships/notesMaster" Target="/ppt/notesMasters/notesMaster1.xml" Id="Rcb7bdd07711c43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2a9537c4f646a6" /><Relationship Type="http://schemas.openxmlformats.org/officeDocument/2006/relationships/notesMaster" Target="/ppt/notesMasters/notesMaster1.xml" Id="R22ef509da1a84d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c33d36040f4b4a" /><Relationship Type="http://schemas.openxmlformats.org/officeDocument/2006/relationships/notesMaster" Target="/ppt/notesMasters/notesMaster1.xml" Id="R8c0faba48fe444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cd3237477141e8" /><Relationship Type="http://schemas.openxmlformats.org/officeDocument/2006/relationships/notesMaster" Target="/ppt/notesMasters/notesMaster1.xml" Id="R55535e409c764b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35911624b64cca" /><Relationship Type="http://schemas.openxmlformats.org/officeDocument/2006/relationships/notesMaster" Target="/ppt/notesMasters/notesMaster1.xml" Id="Rd309dc23529747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8928bb4769456e" /><Relationship Type="http://schemas.openxmlformats.org/officeDocument/2006/relationships/notesMaster" Target="/ppt/notesMasters/notesMaster1.xml" Id="R65f86d729bb742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07c3a6d19c47cf" /><Relationship Type="http://schemas.openxmlformats.org/officeDocument/2006/relationships/notesMaster" Target="/ppt/notesMasters/notesMaster1.xml" Id="R28fe4e4ae3174b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07b40eb1d34b26" /><Relationship Type="http://schemas.openxmlformats.org/officeDocument/2006/relationships/notesMaster" Target="/ppt/notesMasters/notesMaster1.xml" Id="Raaba9c70b54f47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5c0d6a9fa846f8" /><Relationship Type="http://schemas.openxmlformats.org/officeDocument/2006/relationships/notesMaster" Target="/ppt/notesMasters/notesMaster1.xml" Id="Rf15fe0c4ab2644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40da9f131f4970" /><Relationship Type="http://schemas.openxmlformats.org/officeDocument/2006/relationships/notesMaster" Target="/ppt/notesMasters/notesMaster1.xml" Id="R2429ffe93bba41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63538548c24571" /><Relationship Type="http://schemas.openxmlformats.org/officeDocument/2006/relationships/notesMaster" Target="/ppt/notesMasters/notesMaster1.xml" Id="Rae706034194347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current local workspace, BSDEX vs World paper engine. Active price feed is Bitstamp plus Binance crypto and EURUSDT; LMAX is a fee proxy. No real orders submitted by this strategy. Current evidence is a 19.35-minute quote file and a documented corrected seven-day candle test, not audited trading P&amp;L. The local backend was unavailable during review.</a:t>
            </a:r>
          </a:p>
          <a:p xmlns:a="http://schemas.openxmlformats.org/drawingml/2006/main">
            <a:r>
              <a:t>Project sources: bsdex_strategy.py, config.py, enhanced_signals.py, simulation.py, bsdex_historical_bt.py, docs/engine-integrity.md, ENGINE_INTEGRITY_FIXES.md; data/quotes/2026-10-11.csv.gz.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full-depth path uses Bitstamp BTC/EUR and ETH/EUR; the World path uses Binance BTC/USDT and ETH/USDT converted with fresh EURUSDT bid/ask. BSDEX and LMAX labels should not be mistaken for actual execution venues. LMAX fees are configured assumptions applied to Binance-derived prices. The simulator buys and sells the same fixed coin quantity; it does not wait for mean reversion after entry. Prefunding requires both cash and inventory. No actual FX execution, balance debit, partial fill inventory or rebalancing is implemented. Selling USDT proceeds divides by EURUSDT ask; buying divides by bid. Source: bsdex_strategy.py _process_market, _binance_book_usdt_to_eur; simulation.py simulate_arbitrage_trade.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data/quotes/2026-10-11.csv.gz, immutable build snapshot SHA256 64d534f97673d7044588578a7ad645a744a750fddf2134664c6e8d9cfcb6f82d. Period 2026-10-11 21:14:33.880 to 21:33:55.149 UTC, 19.35448 minutes. 1,077 snapshots per market. For each snapshot, size is 1,000/Bitstamp mid; require fresh, sufficient top-five depth for full-size VWAP and compute each direction's (sell-buy)/mean*10,000. Diagnostic takes better of both directions; it is not the exact live direction selector. BTC usable 1,049, mean -0.21974754 bps, maximum 1.5996329. ETH usable 988, mean -0.09362273, maximum 2.1950310. Remaining snapshots lack full depth. All usable observations are below 9 and 17 bps; even maxima are below aspirational 7 bps. These are snapshot-weighted means, not trade-weighted averages or long-run estimates. Chart compares maxima with approximate configured fee gates; exact gate uses euro after-fee proceeds.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bp = 0.01%; at 100,000 EUR, 1 bp = 10 EUR. Exact signal gate compares sale price*(1-sell fee) against buy price*(1+buy fee)+FX cost per coin. FX_COST_BPS=1 is applied once on actual USDT-leg EUR notional. Configured fee tiers: retail &lt;5M 40+6+1=47; &gt;5M 12+6+1=19; &gt;20M default 10+6+1=17; &gt;50M 8+6+1=15; &gt;100M 6+4+1=11; &gt;200M 6+3+1=10; &gt;250M 5+3+1=9; &gt;1B aspirational 3+3+1=7. These are not verified contractual prices. VWAP already includes spread/depth; do not add the candle execution model to quote replay. Conservative candle costs: half-spreads 5+1.5 bps, slippage 2*(capital/100000) bps each leg. At 100k and &gt;250M, approximate mid-price hurdle 9+6.5+4=19.5 bps. Carry=capital*4*.025*hours/8760; four funding pools are an assumption, not regulatory capital. ECB DFR 2.5% effective 16 Sep 2026: https://www.ecb.europa.eu/press/pr/date/2026/html/ecb.mp260910~314e508016.en.html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z-score is the current spread minus its recent average, divided by its standard deviation: z = (s − μ) / σ. It describes an unusual observation, not the probability of profit. The live series is Bitstamp bid minus converted Binance ask in EUR per coin; execution direction is selected separately.</a:t>
            </a:r>
          </a:p>
          <a:p xmlns:a="http://schemas.openxmlformats.org/drawingml/2006/main">
            <a:r>
              <a:t>The live threshold is θ = clip[0.4 × (1 + 0.05v) × 1/(1 + ln(2)) × (1 + 0.1|m|), 0.3, 2.0]. v is the standard deviation of spread changes divided by that of spread levels. m is the sum of the latest five spread changes. Volume is supplied as constant 1, making its factor 0.5906; the time factor is 1. Configured windows are 10, 30 and 5 samples, so the processor retains 30. Statistics begin after two observations and include the current observation. The correlation output is unused. Raw EUR momentum is sensitive to the price scale of each coin. These choices need validation.</a:t>
            </a:r>
          </a:p>
          <a:p xmlns:a="http://schemas.openxmlformats.org/drawingml/2006/main">
            <a:r>
              <a:t>Sources: enhanced_signals.py; config.py ENHANCED_SIGNAL_SETTINGS; bsdex_strategy.py.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loop evaluates approximately every 50 milliseconds and updates statistical signals approximately once per second. Both crypto books and the EURUSDT book must be no more than five seconds old by local receipt time. The z-score, expected net profit and full-depth gates must pass. Quantity is set from capital divided by the Bitstamp mid at signal time.</a:t>
            </a:r>
          </a:p>
          <a:p xmlns:a="http://schemas.openxmlformats.org/drawingml/2006/main">
            <a:r>
              <a:t>There is a 30-second cooldown and only one pending order per market. The first eligible evaluation after 300 milliseconds uses current full-size VWAP. Stale or shallow books cause an explicit failure. A negative realized price outcome remains a completed losing trade. This does not model partial leg exposure. The cooldown implies a theoretical ceiling near 120 signals per hour per market, not an expected trade rate. The documented candle run completed seven trades over seven days. No current live-session frequency was available.</a:t>
            </a:r>
          </a:p>
          <a:p xmlns:a="http://schemas.openxmlformats.org/drawingml/2006/main">
            <a:r>
              <a:t>Sources: bsdex_strategy.py; enhanced_signals.py; simulation.py.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arithmetic, not a recorded trade. Assume prefunded cash and coin, one BTC, Bitstamp fee 5 bps, World fee 3 bps and FX cost 1 bp. At the signal, buy at €100,000 and sell at €100,150 after conversion. For example, 112,168 USDT divided by the EURUSDT ask of 1.12 equals €100,150. Fees are €50 + €30.045 + €10.015 = €90.06, leaving expected net profit of €59.94.</a:t>
            </a:r>
          </a:p>
          <a:p xmlns:a="http://schemas.openxmlformats.org/drawingml/2006/main">
            <a:r>
              <a:t>If all gates qualify, freeze quantity and direction. At delayed execution, buy at €100,040 and sell at €100,020. Gross loss is €20. Fees are €50.02 + €30.006 + €10.002 = €90.028. Net loss is €110.028, rounded on the slide to €110.03. Signal and fill spreads are about +14.99 and −2.00 bps. Carry and rebalancing are excluded. In a real operation, reconcile and restore inventories after the fill; current simulation omits those actions. A losing fill must not be retrospectively removed.</a:t>
            </a:r>
          </a:p>
          <a:p xmlns:a="http://schemas.openxmlformats.org/drawingml/2006/main">
            <a:r>
              <a:t>Sources: simulation.py; bsdex_strategy.py; 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documented corrected public-data run from 11 October 2026, not a new test or account statement. Period: 24 September–1 October 2026 UTC, BTC/EUR, €100,000 per leg, &gt; $250M fee tier, conservative execution costs. Seven trades; no winners. Gross after model execution prices is −€918.4255. Venue and FX fees total €629.5510, including €69.9898 of FX cost. Net is −€1,547.9764. Carry is €191.7808; net after carry is −€1,739.7572. Maximum drawdown is €1,547.9764. Display rounding explains the tiny arithmetic difference.</a:t>
            </a:r>
          </a:p>
          <a:p xmlns:a="http://schemas.openxmlformats.org/drawingml/2006/main">
            <a:r>
              <a:t>The old future-fill profitability gate filtered losses and invalidated earlier 100% win-rate claims. Negative gross means removing fees alone cannot make this particular fixed trade set profitable. Different fees could change trade selection. Candle fills use a one-minute lag and model execution costs, so they do not predict a live 300 ms fill exactly. Sharpe is suppressed below 30 trades or 20 days; daily returns include idle days and annualise by √365.</a:t>
            </a:r>
          </a:p>
          <a:p xmlns:a="http://schemas.openxmlformats.org/drawingml/2006/main">
            <a:r>
              <a:t>Sources: docs/engine-integrity.md; ENGINE_INTEGRITY_FIXES.md; bsdex_historical_bt.py.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model retains up to 30 samples, normally around 30 seconds, and includes the current sample. Candle and quote backtests use earlier observations over 60 minutes. Their threshold is fixed at 1.5 and cooldown at 30 minutes, compared with an adaptive 0.3–2.0 threshold and 30-second live cooldown.</a:t>
            </a:r>
          </a:p>
          <a:p xmlns:a="http://schemas.openxmlformats.org/drawingml/2006/main">
            <a:r>
              <a:t>Live fills use the first evaluation after 300 ms. Candles use the next bar; quote replay uses the first later snapshot at or after the selected latency, normally one second later with current recording cadence. Quote replay reports missing depth, stale books and excessive gaps as failures. Live sizing is capital divided by Bitstamp mid at signal time; quote sizing uses the signal buy ask; candles use the fill buy price. Quotes preserve top-five depth, while live uses full books. The saved 19.35-minute file is too short for the quote backtest window. It supports spread diagnostics only.</a:t>
            </a:r>
          </a:p>
          <a:p xmlns:a="http://schemas.openxmlformats.org/drawingml/2006/main">
            <a:r>
              <a:t>Sources: enhanced_signals.py; bsdex_historical_bt.py; bsdex_strategy.py; quote_recorder.py.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proposals, not verified bank arrangements. Digital assets and electronic execution can provide contracted fees, direct quotes and measured latency, rejects and one-leg exposure. FX can price executable conversion, net flows and assess native-EUR routes where available. EUR/USD does not equal EUR/USDT: stablecoin basis and counterparty risks remain. Treasury and money markets can pool funding and assign real internal transfer prices and balance-sheet charges. Financing and hedging desks can investigate permitted inventory borrow or approved hedges, with residual basis, funding and slippage. Custody, operations and risk must handle reconciliation, transfers, venue limits and kill switches.</a:t>
            </a:r>
          </a:p>
          <a:p xmlns:a="http://schemas.openxmlformats.org/drawingml/2006/main">
            <a:r>
              <a:t>BIS guidance supports payment versus payment where practicable and management of remaining settlement exposure. It does not imply that crypto or USDT trades qualify for conventional FX settlement services. The ECB rate supports the model opportunity-cost reference, not a bank borrowing quote.</a:t>
            </a:r>
          </a:p>
          <a:p xmlns:a="http://schemas.openxmlformats.org/drawingml/2006/main">
            <a:r>
              <a:t>Sources: project constraints; https://www.bis.org/publ/bcbs241.pdf ; https://www.ecb.europa.eu/press/pr/date/2026/html/ecb.mp260910~314e508016.en.html ; https://www.lmaxdigital.com/trading/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next step is a controlled paper pilot because the available evidence does not demonstrate profitability. Confirm actual venue and FX fees, funding, inventory and rebalancing costs. Align warm-up, thresholds, sizing, cooldown and latency across live and replay. Collect a longer quote history with checks for gaps, at a cadence appropriate for the intended execution delay. Measure deterioration between signal and fill. Add partial fills, inventory limits, settlement and kill switches.</a:t>
            </a:r>
          </a:p>
          <a:p xmlns:a="http://schemas.openxmlformats.org/drawingml/2006/main">
            <a:r>
              <a:t>Proceed only if results remain positive out of sample after all costs and within acceptable loss and failed-fill limits. In the observed quote sample, maxima of 1.60–2.20 bps cannot cover a 9–17 bps fee hurdle. Lowering the z-score threshold cannot create an economic edge. The companion guide contains the full formula, configured fee tiers and funding caveats.</a:t>
            </a:r>
          </a:p>
          <a:p xmlns:a="http://schemas.openxmlformats.org/drawingml/2006/main">
            <a:r>
              <a:t>Sources: synthesis of current code, data/quotes/2026-10-11.csv.gz and docs/engine-integrity.md.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cd1955591947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50bf215d9743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729f55ae414c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37fc9f994649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35a3734d6746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34c28882374b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4B8349-AE7B-4C70-BD6F-EDA43C03771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174C52-A85C-4310-B363-8F762030BB9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5285948-DD86-44FF-8511-F41ECAD963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3C45A5-AA04-426E-90DD-29D66218CC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0451816-763A-4BAE-81CB-8B2203C13F4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8FF87D-1250-4B17-813D-223B2476B7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FB450C-33D8-4B02-856A-E2CCB04D7B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B87B02D-6150-4398-9E5E-BB8AC56DE5D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F1DBE5-0F84-4F6D-8D68-ACEC010FD7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AACA5E-618C-4888-8F5D-9B07BD2F1A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cdc48c68554190" /><Relationship Type="http://schemas.openxmlformats.org/officeDocument/2006/relationships/slideLayout" Target="/ppt/slideLayouts/slideLayout1.xml" Id="R40a815b9785d4a8c" /><Relationship Type="http://schemas.openxmlformats.org/officeDocument/2006/relationships/slideLayout" Target="/ppt/slideLayouts/slideLayout2.xml" Id="R20597f1f35974ed7" /><Relationship Type="http://schemas.openxmlformats.org/officeDocument/2006/relationships/slideLayout" Target="/ppt/slideLayouts/slideLayout3.xml" Id="R64b918fd18bb41f4" /><Relationship Type="http://schemas.openxmlformats.org/officeDocument/2006/relationships/slideLayout" Target="/ppt/slideLayouts/slideLayout4.xml" Id="R15e60dd7dd964f9f" /><Relationship Type="http://schemas.openxmlformats.org/officeDocument/2006/relationships/slideLayout" Target="/ppt/slideLayouts/slideLayout5.xml" Id="R0d6768bdb20a4cf6" /><Relationship Type="http://schemas.openxmlformats.org/officeDocument/2006/relationships/slideLayout" Target="/ppt/slideLayouts/slideLayout6.xml" Id="Rec5bb494442743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a815b9785d4a8c"/>
    <p:sldLayoutId xmlns:r="http://schemas.openxmlformats.org/officeDocument/2006/relationships" id="2147483650" r:id="R20597f1f35974ed7"/>
    <p:sldLayoutId xmlns:r="http://schemas.openxmlformats.org/officeDocument/2006/relationships" id="2147483651" r:id="R64b918fd18bb41f4"/>
    <p:sldLayoutId xmlns:r="http://schemas.openxmlformats.org/officeDocument/2006/relationships" id="2147483652" r:id="R15e60dd7dd964f9f"/>
    <p:sldLayoutId xmlns:r="http://schemas.openxmlformats.org/officeDocument/2006/relationships" id="2147483653" r:id="R0d6768bdb20a4cf6"/>
    <p:sldLayoutId xmlns:r="http://schemas.openxmlformats.org/officeDocument/2006/relationships" id="2147483654" r:id="Rec5bb494442743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bd28ce256f42d7" /><Relationship Type="http://schemas.openxmlformats.org/officeDocument/2006/relationships/notesSlide" Target="/ppt/notesSlides/notesSlide1.xml" Id="R54426d42d36145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085afacec840f1" /><Relationship Type="http://schemas.openxmlformats.org/officeDocument/2006/relationships/notesSlide" Target="/ppt/notesSlides/notesSlide2.xml" Id="Rdb96065dc73540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d83612e16564a60" /><Relationship Type="http://schemas.openxmlformats.org/officeDocument/2006/relationships/chart" Target="/ppt/slides/charts/chart1.xml" Id="R7384887db3ef406e" /><Relationship Type="http://schemas.openxmlformats.org/officeDocument/2006/relationships/notesSlide" Target="/ppt/notesSlides/notesSlide3.xml" Id="R476ee0f1d0f746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a85c527b7d4def" /><Relationship Type="http://schemas.openxmlformats.org/officeDocument/2006/relationships/notesSlide" Target="/ppt/notesSlides/notesSlide4.xml" Id="R0cdf88d813884e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c3319d410d74d8c" /><Relationship Type="http://schemas.openxmlformats.org/officeDocument/2006/relationships/notesSlide" Target="/ppt/notesSlides/notesSlide5.xml" Id="R684d348660e64c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94ad82a4024190" /><Relationship Type="http://schemas.openxmlformats.org/officeDocument/2006/relationships/notesSlide" Target="/ppt/notesSlides/notesSlide6.xml" Id="R7f115f4dad7b41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4803052389a415c" /><Relationship Type="http://schemas.openxmlformats.org/officeDocument/2006/relationships/notesSlide" Target="/ppt/notesSlides/notesSlide7.xml" Id="R126c5ecf08604b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a640a7456f473f" /><Relationship Type="http://schemas.openxmlformats.org/officeDocument/2006/relationships/notesSlide" Target="/ppt/notesSlides/notesSlide8.xml" Id="Rd12e0c61162d46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587e4308c744dcc" /><Relationship Type="http://schemas.openxmlformats.org/officeDocument/2006/relationships/notesSlide" Target="/ppt/notesSlides/notesSlide9.xml" Id="R737d740c093445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14c95c57364446f" /><Relationship Type="http://schemas.openxmlformats.org/officeDocument/2006/relationships/notesSlide" Target="/ppt/notesSlides/notesSlide10.xml" Id="R33f2a845fe7d48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ed9686d55924d48" /><Relationship Type="http://schemas.openxmlformats.org/officeDocument/2006/relationships/notesSlide" Target="/ppt/notesSlides/notesSlide11.xml" Id="Rb6f38c79f7cc446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Basis points</c:v>
          </c:tx>
          <c:spPr>
            <a:solidFill xmlns:a="http://schemas.openxmlformats.org/drawingml/2006/main">
              <a:srgbClr val="347A78"/>
            </a:solidFill>
          </c:spPr>
          <c:invertIfNegative val="0"/>
          <c:dPt>
            <c:idx val="2"/>
            <c:invertIfNegative val="0"/>
            <c:spPr>
              <a:solidFill xmlns:a="http://schemas.openxmlformats.org/drawingml/2006/main">
                <a:srgbClr val="A33639"/>
              </a:solidFill>
            </c:spPr>
          </c:dPt>
          <c:dPt>
            <c:idx val="3"/>
            <c:invertIfNegative val="0"/>
            <c:spPr>
              <a:solidFill xmlns:a="http://schemas.openxmlformats.org/drawingml/2006/main">
                <a:srgbClr val="A33639"/>
              </a:solidFill>
            </c:spPr>
          </c:dPt>
          <c:cat>
            <c:strRef>
              <c:f>'Chart Data'!$A$2:$A$5</c:f>
              <c:strCache>
                <c:ptCount val="4"/>
                <c:pt idx="0">
                  <c:v>BTC maximum</c:v>
                </c:pt>
                <c:pt idx="1">
                  <c:v>ETH maximum</c:v>
                </c:pt>
                <c:pt idx="2">
                  <c:v>&gt; $250M cost gate</c:v>
                </c:pt>
                <c:pt idx="3">
                  <c:v>Default cost gate</c:v>
                </c:pt>
              </c:strCache>
            </c:strRef>
          </c:cat>
          <c:val>
            <c:numRef>
              <c:f>'Chart Data'!$B$2:$B$5</c:f>
              <c:numCache>
                <c:formatCode>0</c:formatCode>
                <c:ptCount val="4"/>
                <c:pt idx="0">
                  <c:v>1.5996329</c:v>
                </c:pt>
                <c:pt idx="1">
                  <c:v>2.195031</c:v>
                </c:pt>
                <c:pt idx="2">
                  <c:v>9</c:v>
                </c:pt>
                <c:pt idx="3">
                  <c:v>17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18313B"/>
                  </a:solidFill>
                  <a:latin typeface="Arial"/>
                  <a:ea typeface="Arial"/>
                  <a:cs typeface="Arial"/>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8313B"/>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6DFE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6D"/>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1ABACB-614F-4DEA-8B7A-9D527E80CB6B}"/>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SENIOR BRIEFING · 12 OCTOBER 2026</a:t>
            </a:r>
          </a:p>
        </p:txBody>
      </p:sp>
      <p:sp>
        <p:nvSpPr>
          <p:cNvPr id="2" name="">
            <a:extLst xmlns:a="http://schemas.openxmlformats.org/drawingml/2006/main">
              <a:ext uri="{FF2B5EF4-FFF2-40B4-BE49-F238E27FC236}">
                <a16:creationId xmlns:a16="http://schemas.microsoft.com/office/drawing/2014/main" id="{D2357AD5-2BBC-4F08-963B-1354842EF897}"/>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Crypto arbitrage tool</a:t>
            </a:r>
          </a:p>
        </p:txBody>
      </p:sp>
      <p:sp>
        <p:nvSpPr>
          <p:cNvPr id="3" name="">
            <a:extLst xmlns:a="http://schemas.openxmlformats.org/drawingml/2006/main">
              <a:ext uri="{FF2B5EF4-FFF2-40B4-BE49-F238E27FC236}">
                <a16:creationId xmlns:a16="http://schemas.microsoft.com/office/drawing/2014/main" id="{06DD5993-BE52-49B3-ABAE-93BBB92DDCE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121B23D-6EA0-4580-86E8-6B09E57F7329}"/>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Current code and saved evidence reviewed on 12 October 2026. Sources and caveats in speaker notes.</a:t>
            </a:r>
          </a:p>
        </p:txBody>
      </p:sp>
      <p:sp>
        <p:nvSpPr>
          <p:cNvPr id="5" name="">
            <a:extLst xmlns:a="http://schemas.openxmlformats.org/drawingml/2006/main">
              <a:ext uri="{FF2B5EF4-FFF2-40B4-BE49-F238E27FC236}">
                <a16:creationId xmlns:a16="http://schemas.microsoft.com/office/drawing/2014/main" id="{A8833690-5E0B-4FE6-A51C-38F16D5849B8}"/>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0951E43-DF86-4F33-B5AC-0CFFF370C97F}"/>
              </a:ext>
            </a:extLst>
          </p:cNvPr>
          <p:cNvSpPr>
            <a:spLocks xmlns:a="http://schemas.openxmlformats.org/drawingml/2006/main" noGrp="1"/>
          </p:cNvSpPr>
          <p:nvPr/>
        </p:nvSpPr>
        <p:spPr>
          <a:xfrm xmlns:a="http://schemas.openxmlformats.org/drawingml/2006/main">
            <a:off x="609600" y="185737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53656D"/>
                </a:solidFill>
                <a:latin typeface="Arial"/>
                <a:ea typeface="Arial"/>
                <a:cs typeface="Arial"/>
              </a:defRPr>
            </a:defPPr>
          </a:lstStyle>
          <a:p xmlns:a="http://schemas.openxmlformats.org/drawingml/2006/main">
            <a:pPr>
              <a:defRPr sz="2400" b="0">
                <a:solidFill>
                  <a:srgbClr val="53656D"/>
                </a:solidFill>
                <a:latin typeface="Arial"/>
                <a:ea typeface="Arial"/>
                <a:cs typeface="Arial"/>
              </a:defRPr>
            </a:pPr>
            <a:r>
              <a:rPr sz="2400" b="0">
                <a:solidFill>
                  <a:srgbClr val="53656D"/>
                </a:solidFill>
                <a:latin typeface="Arial"/>
                <a:ea typeface="Arial"/>
                <a:cs typeface="Arial"/>
              </a:rPr>
              <a:t>Economics, evidence and the role of bank desks</a:t>
            </a:r>
          </a:p>
        </p:txBody>
      </p:sp>
      <p:sp>
        <p:nvSpPr>
          <p:cNvPr id="7" name="">
            <a:extLst xmlns:a="http://schemas.openxmlformats.org/drawingml/2006/main">
              <a:ext uri="{FF2B5EF4-FFF2-40B4-BE49-F238E27FC236}">
                <a16:creationId xmlns:a16="http://schemas.microsoft.com/office/drawing/2014/main" id="{796A4006-7CF0-48C4-9E75-374A6FA7FD26}"/>
              </a:ext>
            </a:extLst>
          </p:cNvPr>
          <p:cNvSpPr>
            <a:spLocks xmlns:a="http://schemas.openxmlformats.org/drawingml/2006/main" noGrp="1"/>
          </p:cNvSpPr>
          <p:nvPr/>
        </p:nvSpPr>
        <p:spPr>
          <a:xfrm xmlns:a="http://schemas.openxmlformats.org/drawingml/2006/main">
            <a:off x="609600" y="2762250"/>
            <a:ext cx="1057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C4A"/>
                </a:solidFill>
                <a:latin typeface="Arial"/>
                <a:ea typeface="Arial"/>
                <a:cs typeface="Arial"/>
              </a:defRPr>
            </a:defPPr>
          </a:lstStyle>
          <a:p xmlns:a="http://schemas.openxmlformats.org/drawingml/2006/main">
            <a:pPr>
              <a:defRPr sz="3600" b="1">
                <a:solidFill>
                  <a:srgbClr val="173C4A"/>
                </a:solidFill>
                <a:latin typeface="Arial"/>
                <a:ea typeface="Arial"/>
                <a:cs typeface="Arial"/>
              </a:defRPr>
            </a:pPr>
            <a:r>
              <a:rPr sz="3600" b="1">
                <a:solidFill>
                  <a:srgbClr val="173C4A"/>
                </a:solidFill>
                <a:latin typeface="Arial"/>
                <a:ea typeface="Arial"/>
                <a:cs typeface="Arial"/>
              </a:rPr>
              <a:t>The current evidence does not</a:t>
            </a:r>
          </a:p>
          <a:p xmlns:a="http://schemas.openxmlformats.org/drawingml/2006/main">
            <a:pPr>
              <a:defRPr sz="3600" b="1">
                <a:solidFill>
                  <a:srgbClr val="173C4A"/>
                </a:solidFill>
                <a:latin typeface="Arial"/>
                <a:ea typeface="Arial"/>
                <a:cs typeface="Arial"/>
              </a:defRPr>
            </a:pPr>
            <a:r>
              <a:rPr sz="3600" b="1">
                <a:solidFill>
                  <a:srgbClr val="173C4A"/>
                </a:solidFill>
                <a:latin typeface="Arial"/>
                <a:ea typeface="Arial"/>
                <a:cs typeface="Arial"/>
              </a:rPr>
              <a:t>demonstrate a profitable strategy.</a:t>
            </a:r>
          </a:p>
        </p:txBody>
      </p:sp>
      <p:sp>
        <p:nvSpPr>
          <p:cNvPr id="8" name="">
            <a:extLst xmlns:a="http://schemas.openxmlformats.org/drawingml/2006/main">
              <a:ext uri="{FF2B5EF4-FFF2-40B4-BE49-F238E27FC236}">
                <a16:creationId xmlns:a16="http://schemas.microsoft.com/office/drawing/2014/main" id="{D452C399-1125-49A8-BD0E-836F80B64BCC}"/>
              </a:ext>
            </a:extLst>
          </p:cNvPr>
          <p:cNvSpPr>
            <a:spLocks xmlns:a="http://schemas.openxmlformats.org/drawingml/2006/main" noGrp="1"/>
          </p:cNvSpPr>
          <p:nvPr/>
        </p:nvSpPr>
        <p:spPr>
          <a:xfrm xmlns:a="http://schemas.openxmlformats.org/drawingml/2006/main">
            <a:off x="609600" y="4619625"/>
            <a:ext cx="1076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13B"/>
                </a:solidFill>
                <a:latin typeface="Arial"/>
                <a:ea typeface="Arial"/>
                <a:cs typeface="Arial"/>
              </a:defRPr>
            </a:defPPr>
          </a:lstStyle>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Observed spreads do not cover configured costs.</a:t>
            </a:r>
          </a:p>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A bank could reduce frictions, but must prove a persistent net edge.</a:t>
            </a:r>
          </a:p>
        </p:txBody>
      </p:sp>
    </p:spTree>
    <p:extLst>
      <p:ext uri="{BB962C8B-B14F-4D97-AF65-F5344CB8AC3E}">
        <p14:creationId xmlns:p14="http://schemas.microsoft.com/office/powerpoint/2010/main" val="5866133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331369-22AD-46AF-A361-842BD56218E0}"/>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01 · OPERATING MODEL</a:t>
            </a:r>
          </a:p>
        </p:txBody>
      </p:sp>
      <p:sp>
        <p:nvSpPr>
          <p:cNvPr id="2" name="">
            <a:extLst xmlns:a="http://schemas.openxmlformats.org/drawingml/2006/main">
              <a:ext uri="{FF2B5EF4-FFF2-40B4-BE49-F238E27FC236}">
                <a16:creationId xmlns:a16="http://schemas.microsoft.com/office/drawing/2014/main" id="{77F4864A-D12F-42CB-A9AA-E198E813E351}"/>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The model captures an immediate price difference</a:t>
            </a:r>
          </a:p>
        </p:txBody>
      </p:sp>
      <p:sp>
        <p:nvSpPr>
          <p:cNvPr id="3" name="">
            <a:extLst xmlns:a="http://schemas.openxmlformats.org/drawingml/2006/main">
              <a:ext uri="{FF2B5EF4-FFF2-40B4-BE49-F238E27FC236}">
                <a16:creationId xmlns:a16="http://schemas.microsoft.com/office/drawing/2014/main" id="{E9AEECC8-6397-48D7-B3B5-3D3865E1E79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263241-25D1-454C-8A21-8903622875AC}"/>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bsdex_strategy.py; simulation.py; config.py.</a:t>
            </a:r>
          </a:p>
        </p:txBody>
      </p:sp>
      <p:sp>
        <p:nvSpPr>
          <p:cNvPr id="5" name="">
            <a:extLst xmlns:a="http://schemas.openxmlformats.org/drawingml/2006/main">
              <a:ext uri="{FF2B5EF4-FFF2-40B4-BE49-F238E27FC236}">
                <a16:creationId xmlns:a16="http://schemas.microsoft.com/office/drawing/2014/main" id="{C92C1498-DC87-4ADD-AD43-62E92B677E32}"/>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02</a:t>
            </a:r>
          </a:p>
        </p:txBody>
      </p:sp>
      <p:graphicFrame>
        <p:nvGraphicFramePr>
          <p:cNvPr id="6" name="">
            <a:extLst xmlns:a="http://schemas.openxmlformats.org/drawingml/2006/main">
              <a:ext uri="{FF2B5EF4-FFF2-40B4-BE49-F238E27FC236}">
                <a16:creationId xmlns:a16="http://schemas.microsoft.com/office/drawing/2014/main" id="{E10FC140-C663-49A0-ACE6-1E4D8468C732}"/>
              </a:ext>
            </a:extLst>
          </p:cNvPr>
          <p:cNvGraphicFramePr/>
          <p:nvPr/>
        </p:nvGraphicFramePr>
        <p:xfrm>
          <a:off xmlns:a="http://schemas.openxmlformats.org/drawingml/2006/main" x="609600" y="1952625"/>
          <a:ext xmlns:a="http://schemas.openxmlformats.org/drawingml/2006/main" cx="10972800" cy="3238500"/>
        </p:xfrm>
        <a:graphic xmlns:a="http://schemas.openxmlformats.org/drawingml/2006/main">
          <a:graphicData uri="http://schemas.openxmlformats.org/drawingml/2006/table">
            <a:tbl>
              <a:tblPr/>
              <a:tblGrid>
                <a:gridCol w="1714500"/>
                <a:gridCol w="9258300"/>
              </a:tblGrid>
              <a:tr h="647700">
                <a:tc>
                  <a:txBody>
                    <a:bodyPr lIns="133350" tIns="95250" rIns="133350" bIns="95250"/>
                    <a:lstStyle/>
                    <a:p>
                      <a:r>
                        <a:rPr sz="1800" b="1">
                          <a:solidFill>
                            <a:srgbClr val="FFFFFF"/>
                          </a:solidFill>
                          <a:latin typeface="Arial"/>
                          <a:ea typeface="Arial"/>
                          <a:cs typeface="Arial"/>
                        </a:rPr>
                        <a:t>Stage</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Current paper model</a:t>
                      </a:r>
                    </a:p>
                  </a:txBody>
                  <a:tcPr marL="91440" marR="91440" marT="45720" marB="45720" anchor="ctr">
                    <a:solidFill>
                      <a:srgbClr val="173C4A"/>
                    </a:solidFill>
                  </a:tcPr>
                </a:tc>
              </a:tr>
              <a:tr h="647700">
                <a:tc>
                  <a:txBody>
                    <a:bodyPr lIns="133350" tIns="95250" rIns="133350" bIns="95250"/>
                    <a:lstStyle/>
                    <a:p>
                      <a:r>
                        <a:rPr sz="1800" b="0">
                          <a:solidFill>
                            <a:srgbClr val="18313B"/>
                          </a:solidFill>
                          <a:latin typeface="Arial"/>
                          <a:ea typeface="Arial"/>
                          <a:cs typeface="Arial"/>
                        </a:rPr>
                        <a:t>Compare</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Bitstamp EUR books against Binance books converted through EURUSDT</a:t>
                      </a:r>
                    </a:p>
                  </a:txBody>
                  <a:tcPr marL="91440" marR="91440" marT="45720" marB="45720" anchor="ctr">
                    <a:solidFill>
                      <a:srgbClr val="EDF3F4"/>
                    </a:solidFill>
                  </a:tcPr>
                </a:tc>
              </a:tr>
              <a:tr h="647700">
                <a:tc>
                  <a:txBody>
                    <a:bodyPr lIns="133350" tIns="95250" rIns="133350" bIns="95250"/>
                    <a:lstStyle/>
                    <a:p>
                      <a:r>
                        <a:rPr sz="1800" b="0">
                          <a:solidFill>
                            <a:srgbClr val="18313B"/>
                          </a:solidFill>
                          <a:latin typeface="Arial"/>
                          <a:ea typeface="Arial"/>
                          <a:cs typeface="Arial"/>
                        </a:rPr>
                        <a:t>Enter</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Buy the cheaper executable side; sell the dearer side</a:t>
                      </a:r>
                    </a:p>
                  </a:txBody>
                  <a:tcPr marL="91440" marR="91440" marT="45720" marB="45720" anchor="ctr">
                    <a:solidFill>
                      <a:srgbClr val="FFFFFF"/>
                    </a:solidFill>
                  </a:tcPr>
                </a:tc>
              </a:tr>
              <a:tr h="647700">
                <a:tc>
                  <a:txBody>
                    <a:bodyPr lIns="133350" tIns="95250" rIns="133350" bIns="95250"/>
                    <a:lstStyle/>
                    <a:p>
                      <a:r>
                        <a:rPr sz="1800" b="0">
                          <a:solidFill>
                            <a:srgbClr val="18313B"/>
                          </a:solidFill>
                          <a:latin typeface="Arial"/>
                          <a:ea typeface="Arial"/>
                          <a:cs typeface="Arial"/>
                        </a:rPr>
                        <a:t>Fill</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Keep the quantity fixed; reprice both legs after at least 300 ms</a:t>
                      </a:r>
                    </a:p>
                  </a:txBody>
                  <a:tcPr marL="91440" marR="91440" marT="45720" marB="45720" anchor="ctr">
                    <a:solidFill>
                      <a:srgbClr val="EDF3F4"/>
                    </a:solidFill>
                  </a:tcPr>
                </a:tc>
              </a:tr>
              <a:tr h="647700">
                <a:tc>
                  <a:txBody>
                    <a:bodyPr lIns="133350" tIns="95250" rIns="133350" bIns="95250"/>
                    <a:lstStyle/>
                    <a:p>
                      <a:r>
                        <a:rPr sz="1800" b="0">
                          <a:solidFill>
                            <a:srgbClr val="18313B"/>
                          </a:solidFill>
                          <a:latin typeface="Arial"/>
                          <a:ea typeface="Arial"/>
                          <a:cs typeface="Arial"/>
                        </a:rPr>
                        <a:t>Restore</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Real cash and coin rebalancing would be needed after execution</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7774E8D-BAD9-400C-9BC7-B5F8E48C691F}"/>
              </a:ext>
            </a:extLst>
          </p:cNvPr>
          <p:cNvSpPr>
            <a:spLocks xmlns:a="http://schemas.openxmlformats.org/drawingml/2006/main" noGrp="1"/>
          </p:cNvSpPr>
          <p:nvPr/>
        </p:nvSpPr>
        <p:spPr>
          <a:xfrm xmlns:a="http://schemas.openxmlformats.org/drawingml/2006/main">
            <a:off x="609600" y="53816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A33639"/>
                </a:solidFill>
                <a:latin typeface="Arial"/>
                <a:ea typeface="Arial"/>
                <a:cs typeface="Arial"/>
              </a:defRPr>
            </a:defPPr>
          </a:lstStyle>
          <a:p xmlns:a="http://schemas.openxmlformats.org/drawingml/2006/main">
            <a:pPr>
              <a:defRPr sz="1725" b="1">
                <a:solidFill>
                  <a:srgbClr val="A33639"/>
                </a:solidFill>
                <a:latin typeface="Arial"/>
                <a:ea typeface="Arial"/>
                <a:cs typeface="Arial"/>
              </a:defRPr>
            </a:pPr>
            <a:r>
              <a:rPr sz="1725" b="1">
                <a:solidFill>
                  <a:srgbClr val="A33639"/>
                </a:solidFill>
                <a:latin typeface="Arial"/>
                <a:ea typeface="Arial"/>
                <a:cs typeface="Arial"/>
              </a:rPr>
              <a:t>“BSDEX / LMAX” are labels and fee assumptions. The active price feeds are Bitstamp and Binance.</a:t>
            </a:r>
          </a:p>
        </p:txBody>
      </p:sp>
    </p:spTree>
    <p:extLst>
      <p:ext uri="{BB962C8B-B14F-4D97-AF65-F5344CB8AC3E}">
        <p14:creationId xmlns:p14="http://schemas.microsoft.com/office/powerpoint/2010/main" val="13589819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3B29A0-574B-45C9-8254-0CE10D68912C}"/>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02 · SAVED QUOTE EVIDENCE</a:t>
            </a:r>
          </a:p>
        </p:txBody>
      </p:sp>
      <p:sp>
        <p:nvSpPr>
          <p:cNvPr id="2" name="">
            <a:extLst xmlns:a="http://schemas.openxmlformats.org/drawingml/2006/main">
              <a:ext uri="{FF2B5EF4-FFF2-40B4-BE49-F238E27FC236}">
                <a16:creationId xmlns:a16="http://schemas.microsoft.com/office/drawing/2014/main" id="{1E2959E3-32CC-4C3B-AC6E-56EF41637238}"/>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Even the best observed spreads are below costs</a:t>
            </a:r>
          </a:p>
        </p:txBody>
      </p:sp>
      <p:sp>
        <p:nvSpPr>
          <p:cNvPr id="3" name="">
            <a:extLst xmlns:a="http://schemas.openxmlformats.org/drawingml/2006/main">
              <a:ext uri="{FF2B5EF4-FFF2-40B4-BE49-F238E27FC236}">
                <a16:creationId xmlns:a16="http://schemas.microsoft.com/office/drawing/2014/main" id="{A81A810D-52E0-426F-8C0E-FC2E646BB5B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BF2CAF2-A494-41AA-B44D-BC5AD4691E78}"/>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 11 Oct quote file; full-size VWAP calculations. About €1,000 per leg; before fees.</a:t>
            </a:r>
          </a:p>
        </p:txBody>
      </p:sp>
      <p:sp>
        <p:nvSpPr>
          <p:cNvPr id="5" name="">
            <a:extLst xmlns:a="http://schemas.openxmlformats.org/drawingml/2006/main">
              <a:ext uri="{FF2B5EF4-FFF2-40B4-BE49-F238E27FC236}">
                <a16:creationId xmlns:a16="http://schemas.microsoft.com/office/drawing/2014/main" id="{704259CE-DC48-4B4D-BD56-75A75BF8BD37}"/>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75245F51-6CAD-4FCF-B954-90EDF1EF4180}"/>
              </a:ext>
            </a:extLst>
          </p:cNvPr>
          <p:cNvSpPr>
            <a:spLocks xmlns:a="http://schemas.openxmlformats.org/drawingml/2006/main" noGrp="1"/>
          </p:cNvSpPr>
          <p:nvPr/>
        </p:nvSpPr>
        <p:spPr>
          <a:xfrm xmlns:a="http://schemas.openxmlformats.org/drawingml/2006/main">
            <a:off x="609600" y="1790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C4A"/>
                </a:solidFill>
                <a:latin typeface="Arial"/>
                <a:ea typeface="Arial"/>
                <a:cs typeface="Arial"/>
              </a:defRPr>
            </a:defPPr>
          </a:lstStyle>
          <a:p xmlns:a="http://schemas.openxmlformats.org/drawingml/2006/main">
            <a:pPr>
              <a:defRPr sz="1950" b="1">
                <a:solidFill>
                  <a:srgbClr val="173C4A"/>
                </a:solidFill>
                <a:latin typeface="Arial"/>
                <a:ea typeface="Arial"/>
                <a:cs typeface="Arial"/>
              </a:defRPr>
            </a:pPr>
            <a:r>
              <a:rPr sz="1950" b="1">
                <a:solidFill>
                  <a:srgbClr val="173C4A"/>
                </a:solidFill>
                <a:latin typeface="Arial"/>
                <a:ea typeface="Arial"/>
                <a:cs typeface="Arial"/>
              </a:rPr>
              <a:t>Average best executable spread: BTC −0.22 bps  |  ETH −0.09 bps</a:t>
            </a:r>
          </a:p>
        </p:txBody>
      </p:sp>
      <p:graphicFrame>
        <p:nvGraphicFramePr>
          <p:cNvPr id="7" name="Chart">
            <a:extLst xmlns:a="http://schemas.openxmlformats.org/drawingml/2006/main">
              <a:ext uri="{FF2B5EF4-FFF2-40B4-BE49-F238E27FC236}">
                <a16:creationId xmlns:a16="http://schemas.microsoft.com/office/drawing/2014/main" id="{1D38C2AE-4621-4B05-89DC-A33CD44EBE80}"/>
              </a:ext>
            </a:extLst>
          </p:cNvPr>
          <p:cNvGraphicFramePr/>
          <p:nvPr/>
        </p:nvGraphicFramePr>
        <p:xfrm>
          <a:off xmlns:a="http://schemas.openxmlformats.org/drawingml/2006/main" x="619125" y="2333625"/>
          <a:ext xmlns:a="http://schemas.openxmlformats.org/drawingml/2006/main" cx="10953750" cy="2905125"/>
        </p:xfrm>
        <a:graphic xmlns:a="http://schemas.openxmlformats.org/drawingml/2006/main">
          <a:graphicData uri="http://schemas.openxmlformats.org/drawingml/2006/chart">
            <c:chart xmlns:r="http://schemas.openxmlformats.org/officeDocument/2006/relationships" xmlns:c="http://schemas.openxmlformats.org/drawingml/2006/chart" r:id="R7384887db3ef406e"/>
          </a:graphicData>
        </a:graphic>
      </p:graphicFrame>
      <p:sp>
        <p:nvSpPr>
          <p:cNvPr id="8" name="">
            <a:extLst xmlns:a="http://schemas.openxmlformats.org/drawingml/2006/main">
              <a:ext uri="{FF2B5EF4-FFF2-40B4-BE49-F238E27FC236}">
                <a16:creationId xmlns:a16="http://schemas.microsoft.com/office/drawing/2014/main" id="{F728C642-108C-47D4-B6F7-887E7E3B8A11}"/>
              </a:ext>
            </a:extLst>
          </p:cNvPr>
          <p:cNvSpPr>
            <a:spLocks xmlns:a="http://schemas.openxmlformats.org/drawingml/2006/main" noGrp="1"/>
          </p:cNvSpPr>
          <p:nvPr/>
        </p:nvSpPr>
        <p:spPr>
          <a:xfrm xmlns:a="http://schemas.openxmlformats.org/drawingml/2006/main">
            <a:off x="609600" y="55626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8313B"/>
                </a:solidFill>
                <a:latin typeface="Arial"/>
                <a:ea typeface="Arial"/>
                <a:cs typeface="Arial"/>
              </a:defRPr>
            </a:defPPr>
          </a:lstStyle>
          <a:p xmlns:a="http://schemas.openxmlformats.org/drawingml/2006/main">
            <a:pPr>
              <a:defRPr sz="1800" b="0">
                <a:solidFill>
                  <a:srgbClr val="18313B"/>
                </a:solidFill>
                <a:latin typeface="Arial"/>
                <a:ea typeface="Arial"/>
                <a:cs typeface="Arial"/>
              </a:defRPr>
            </a:pPr>
            <a:r>
              <a:rPr sz="1800" b="0">
                <a:solidFill>
                  <a:srgbClr val="18313B"/>
                </a:solidFill>
                <a:latin typeface="Arial"/>
                <a:ea typeface="Arial"/>
                <a:cs typeface="Arial"/>
              </a:rPr>
              <a:t>Only 19.35 minutes of data. No qualifying economic opportunity in the usable snapshots.</a:t>
            </a:r>
          </a:p>
        </p:txBody>
      </p:sp>
    </p:spTree>
    <p:extLst>
      <p:ext uri="{BB962C8B-B14F-4D97-AF65-F5344CB8AC3E}">
        <p14:creationId xmlns:p14="http://schemas.microsoft.com/office/powerpoint/2010/main" val="18652155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578429-C880-455D-97F1-A9932F7B7DA2}"/>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03 · COSTS IN BASIS POINTS</a:t>
            </a:r>
          </a:p>
        </p:txBody>
      </p:sp>
      <p:sp>
        <p:nvSpPr>
          <p:cNvPr id="2" name="">
            <a:extLst xmlns:a="http://schemas.openxmlformats.org/drawingml/2006/main">
              <a:ext uri="{FF2B5EF4-FFF2-40B4-BE49-F238E27FC236}">
                <a16:creationId xmlns:a16="http://schemas.microsoft.com/office/drawing/2014/main" id="{0ABC5BB7-19E0-427B-A826-4B8A76F3B56F}"/>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Break even depends on the full execution cost</a:t>
            </a:r>
          </a:p>
        </p:txBody>
      </p:sp>
      <p:sp>
        <p:nvSpPr>
          <p:cNvPr id="3" name="">
            <a:extLst xmlns:a="http://schemas.openxmlformats.org/drawingml/2006/main">
              <a:ext uri="{FF2B5EF4-FFF2-40B4-BE49-F238E27FC236}">
                <a16:creationId xmlns:a16="http://schemas.microsoft.com/office/drawing/2014/main" id="{6D28F60E-F54F-4D04-A9FC-2BBEE6C892B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CCB14E-FEAA-4B71-A45A-EDB2FA5A2176}"/>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config.py; bsdex_historical_bt.py. Fee tiers are assumptions, not verified account quotes.</a:t>
            </a:r>
          </a:p>
        </p:txBody>
      </p:sp>
      <p:sp>
        <p:nvSpPr>
          <p:cNvPr id="5" name="">
            <a:extLst xmlns:a="http://schemas.openxmlformats.org/drawingml/2006/main">
              <a:ext uri="{FF2B5EF4-FFF2-40B4-BE49-F238E27FC236}">
                <a16:creationId xmlns:a16="http://schemas.microsoft.com/office/drawing/2014/main" id="{7FD59E2F-A8C6-4817-A742-875A89D33D43}"/>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B00BA2D3-AF37-4AD9-B4DC-39501C6E5E96}"/>
              </a:ext>
            </a:extLst>
          </p:cNvPr>
          <p:cNvSpPr>
            <a:spLocks xmlns:a="http://schemas.openxmlformats.org/drawingml/2006/main" noGrp="1"/>
          </p:cNvSpPr>
          <p:nvPr/>
        </p:nvSpPr>
        <p:spPr>
          <a:xfrm xmlns:a="http://schemas.openxmlformats.org/drawingml/2006/main">
            <a:off x="609600" y="1790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8313B"/>
                </a:solidFill>
                <a:latin typeface="Arial"/>
                <a:ea typeface="Arial"/>
                <a:cs typeface="Arial"/>
              </a:defRPr>
            </a:defPPr>
          </a:lstStyle>
          <a:p xmlns:a="http://schemas.openxmlformats.org/drawingml/2006/main">
            <a:pPr>
              <a:defRPr sz="1950" b="0">
                <a:solidFill>
                  <a:srgbClr val="18313B"/>
                </a:solidFill>
                <a:latin typeface="Arial"/>
                <a:ea typeface="Arial"/>
                <a:cs typeface="Arial"/>
              </a:defRPr>
            </a:pPr>
            <a:r>
              <a:rPr sz="1950" b="0">
                <a:solidFill>
                  <a:srgbClr val="18313B"/>
                </a:solidFill>
                <a:latin typeface="Arial"/>
                <a:ea typeface="Arial"/>
                <a:cs typeface="Arial"/>
              </a:rPr>
              <a:t>1 bp = 0.01% = €10 on a €100,000 leg</a:t>
            </a:r>
          </a:p>
        </p:txBody>
      </p:sp>
      <p:graphicFrame>
        <p:nvGraphicFramePr>
          <p:cNvPr id="7" name="">
            <a:extLst xmlns:a="http://schemas.openxmlformats.org/drawingml/2006/main">
              <a:ext uri="{FF2B5EF4-FFF2-40B4-BE49-F238E27FC236}">
                <a16:creationId xmlns:a16="http://schemas.microsoft.com/office/drawing/2014/main" id="{C9659FCD-346F-4097-9B68-94D1154CD4FD}"/>
              </a:ext>
            </a:extLst>
          </p:cNvPr>
          <p:cNvGraphicFramePr/>
          <p:nvPr/>
        </p:nvGraphicFramePr>
        <p:xfrm>
          <a:off xmlns:a="http://schemas.openxmlformats.org/drawingml/2006/main" x="609600" y="2352675"/>
          <a:ext xmlns:a="http://schemas.openxmlformats.org/drawingml/2006/main" cx="10972800" cy="2324100"/>
        </p:xfrm>
        <a:graphic xmlns:a="http://schemas.openxmlformats.org/drawingml/2006/main">
          <a:graphicData uri="http://schemas.openxmlformats.org/drawingml/2006/table">
            <a:tbl>
              <a:tblPr/>
              <a:tblGrid>
                <a:gridCol w="3524250"/>
                <a:gridCol w="1905000"/>
                <a:gridCol w="2190750"/>
                <a:gridCol w="1333500"/>
                <a:gridCol w="2019300"/>
              </a:tblGrid>
              <a:tr h="581025">
                <a:tc>
                  <a:txBody>
                    <a:bodyPr lIns="133350" tIns="95250" rIns="133350" bIns="95250"/>
                    <a:lstStyle/>
                    <a:p>
                      <a:r>
                        <a:rPr sz="1800" b="1">
                          <a:solidFill>
                            <a:srgbClr val="FFFFFF"/>
                          </a:solidFill>
                          <a:latin typeface="Arial"/>
                          <a:ea typeface="Arial"/>
                          <a:cs typeface="Arial"/>
                        </a:rPr>
                        <a:t>Configured tier</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Bitstamp</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World proxy</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FX</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Total</a:t>
                      </a:r>
                    </a:p>
                  </a:txBody>
                  <a:tcPr marL="91440" marR="91440" marT="45720" marB="45720" anchor="ctr">
                    <a:solidFill>
                      <a:srgbClr val="173C4A"/>
                    </a:solidFill>
                  </a:tcPr>
                </a:tc>
              </a:tr>
              <a:tr h="581025">
                <a:tc>
                  <a:txBody>
                    <a:bodyPr lIns="133350" tIns="95250" rIns="133350" bIns="95250"/>
                    <a:lstStyle/>
                    <a:p>
                      <a:r>
                        <a:rPr sz="1800" b="0">
                          <a:solidFill>
                            <a:srgbClr val="18313B"/>
                          </a:solidFill>
                          <a:latin typeface="Arial"/>
                          <a:ea typeface="Arial"/>
                          <a:cs typeface="Arial"/>
                        </a:rPr>
                        <a:t>Default &gt; $20M</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10 bps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6 bps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 bp</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17 bps</a:t>
                      </a:r>
                    </a:p>
                  </a:txBody>
                  <a:tcPr marL="91440" marR="91440" marT="45720" marB="45720" anchor="ctr">
                    <a:solidFill>
                      <a:srgbClr val="EDF3F4"/>
                    </a:solidFill>
                  </a:tcPr>
                </a:tc>
              </a:tr>
              <a:tr h="581025">
                <a:tc>
                  <a:txBody>
                    <a:bodyPr lIns="133350" tIns="95250" rIns="133350" bIns="95250"/>
                    <a:lstStyle/>
                    <a:p>
                      <a:r>
                        <a:rPr sz="1800" b="0">
                          <a:solidFill>
                            <a:srgbClr val="18313B"/>
                          </a:solidFill>
                          <a:latin typeface="Arial"/>
                          <a:ea typeface="Arial"/>
                          <a:cs typeface="Arial"/>
                        </a:rPr>
                        <a:t>&gt; $250M</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5 bps</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3 bps</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1 bp</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9 bps</a:t>
                      </a:r>
                    </a:p>
                  </a:txBody>
                  <a:tcPr marL="91440" marR="91440" marT="45720" marB="45720" anchor="ctr">
                    <a:solidFill>
                      <a:srgbClr val="FFFFFF"/>
                    </a:solidFill>
                  </a:tcPr>
                </a:tc>
              </a:tr>
              <a:tr h="581025">
                <a:tc>
                  <a:txBody>
                    <a:bodyPr lIns="133350" tIns="95250" rIns="133350" bIns="95250"/>
                    <a:lstStyle/>
                    <a:p>
                      <a:r>
                        <a:rPr sz="1800" b="0">
                          <a:solidFill>
                            <a:srgbClr val="18313B"/>
                          </a:solidFill>
                          <a:latin typeface="Arial"/>
                          <a:ea typeface="Arial"/>
                          <a:cs typeface="Arial"/>
                        </a:rPr>
                        <a:t>&gt; $1B aspirational</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3 bps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3 bps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 bp</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7 bps</a:t>
                      </a:r>
                    </a:p>
                  </a:txBody>
                  <a:tcPr marL="91440" marR="91440" marT="45720" marB="45720" anchor="ctr">
                    <a:solidFill>
                      <a:srgbClr val="EDF3F4"/>
                    </a:solidFill>
                  </a:tcPr>
                </a:tc>
              </a:tr>
            </a:tbl>
          </a:graphicData>
        </a:graphic>
      </p:graphicFrame>
      <p:sp>
        <p:nvSpPr>
          <p:cNvPr id="8" name="">
            <a:extLst xmlns:a="http://schemas.openxmlformats.org/drawingml/2006/main">
              <a:ext uri="{FF2B5EF4-FFF2-40B4-BE49-F238E27FC236}">
                <a16:creationId xmlns:a16="http://schemas.microsoft.com/office/drawing/2014/main" id="{424DAC02-3184-4462-9BF9-52151F829A06}"/>
              </a:ext>
            </a:extLst>
          </p:cNvPr>
          <p:cNvSpPr>
            <a:spLocks xmlns:a="http://schemas.openxmlformats.org/drawingml/2006/main" noGrp="1"/>
          </p:cNvSpPr>
          <p:nvPr/>
        </p:nvSpPr>
        <p:spPr>
          <a:xfrm xmlns:a="http://schemas.openxmlformats.org/drawingml/2006/main">
            <a:off x="609600" y="49339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C4A"/>
                </a:solidFill>
                <a:latin typeface="Arial"/>
                <a:ea typeface="Arial"/>
                <a:cs typeface="Arial"/>
              </a:defRPr>
            </a:defPPr>
          </a:lstStyle>
          <a:p xmlns:a="http://schemas.openxmlformats.org/drawingml/2006/main">
            <a:pPr>
              <a:defRPr sz="1875" b="1">
                <a:solidFill>
                  <a:srgbClr val="173C4A"/>
                </a:solidFill>
                <a:latin typeface="Arial"/>
                <a:ea typeface="Arial"/>
                <a:cs typeface="Arial"/>
              </a:defRPr>
            </a:pPr>
            <a:r>
              <a:rPr sz="1875" b="1">
                <a:solidFill>
                  <a:srgbClr val="173C4A"/>
                </a:solidFill>
                <a:latin typeface="Arial"/>
                <a:ea typeface="Arial"/>
                <a:cs typeface="Arial"/>
              </a:rPr>
              <a:t>At €100k, the conservative candle hurdle rises to 19.5 bps</a:t>
            </a:r>
          </a:p>
          <a:p xmlns:a="http://schemas.openxmlformats.org/drawingml/2006/main">
            <a:pPr>
              <a:defRPr sz="1875" b="1">
                <a:solidFill>
                  <a:srgbClr val="173C4A"/>
                </a:solidFill>
                <a:latin typeface="Arial"/>
                <a:ea typeface="Arial"/>
                <a:cs typeface="Arial"/>
              </a:defRPr>
            </a:pPr>
            <a:r>
              <a:rPr sz="1875" b="1">
                <a:solidFill>
                  <a:srgbClr val="173C4A"/>
                </a:solidFill>
                <a:latin typeface="Arial"/>
                <a:ea typeface="Arial"/>
                <a:cs typeface="Arial"/>
              </a:rPr>
              <a:t>using the &gt; $250M tier, model spread and slippage.</a:t>
            </a:r>
          </a:p>
        </p:txBody>
      </p:sp>
      <p:sp>
        <p:nvSpPr>
          <p:cNvPr id="9" name="">
            <a:extLst xmlns:a="http://schemas.openxmlformats.org/drawingml/2006/main">
              <a:ext uri="{FF2B5EF4-FFF2-40B4-BE49-F238E27FC236}">
                <a16:creationId xmlns:a16="http://schemas.microsoft.com/office/drawing/2014/main" id="{56D74B5C-B1E1-46A2-B565-99A219C87AD6}"/>
              </a:ext>
            </a:extLst>
          </p:cNvPr>
          <p:cNvSpPr>
            <a:spLocks xmlns:a="http://schemas.openxmlformats.org/drawingml/2006/main" noGrp="1"/>
          </p:cNvSpPr>
          <p:nvPr/>
        </p:nvSpPr>
        <p:spPr>
          <a:xfrm xmlns:a="http://schemas.openxmlformats.org/drawingml/2006/main">
            <a:off x="609600" y="57816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6D"/>
                </a:solidFill>
                <a:latin typeface="Arial"/>
                <a:ea typeface="Arial"/>
                <a:cs typeface="Arial"/>
              </a:defRPr>
            </a:defPPr>
          </a:lstStyle>
          <a:p xmlns:a="http://schemas.openxmlformats.org/drawingml/2006/main">
            <a:pPr>
              <a:defRPr sz="1650" b="0">
                <a:solidFill>
                  <a:srgbClr val="53656D"/>
                </a:solidFill>
                <a:latin typeface="Arial"/>
                <a:ea typeface="Arial"/>
                <a:cs typeface="Arial"/>
              </a:defRPr>
            </a:pPr>
            <a:r>
              <a:rPr sz="1650" b="0">
                <a:solidFill>
                  <a:srgbClr val="53656D"/>
                </a:solidFill>
                <a:latin typeface="Arial"/>
                <a:ea typeface="Arial"/>
                <a:cs typeface="Arial"/>
              </a:rPr>
              <a:t>Carry is additional: four pools × 2.50% annually in the current model.</a:t>
            </a:r>
          </a:p>
        </p:txBody>
      </p:sp>
    </p:spTree>
    <p:extLst>
      <p:ext uri="{BB962C8B-B14F-4D97-AF65-F5344CB8AC3E}">
        <p14:creationId xmlns:p14="http://schemas.microsoft.com/office/powerpoint/2010/main" val="13933058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EA3493A-628C-4028-B58A-FC6EF7CCC2FA}"/>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04 · QUANTITATIVE FRAMEWORK</a:t>
            </a:r>
          </a:p>
        </p:txBody>
      </p:sp>
      <p:sp>
        <p:nvSpPr>
          <p:cNvPr id="2" name="">
            <a:extLst xmlns:a="http://schemas.openxmlformats.org/drawingml/2006/main">
              <a:ext uri="{FF2B5EF4-FFF2-40B4-BE49-F238E27FC236}">
                <a16:creationId xmlns:a16="http://schemas.microsoft.com/office/drawing/2014/main" id="{72917244-3832-47D5-8533-7885D5835C0D}"/>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The z-score finds unusual spreads, not profits</a:t>
            </a:r>
          </a:p>
        </p:txBody>
      </p:sp>
      <p:sp>
        <p:nvSpPr>
          <p:cNvPr id="3" name="">
            <a:extLst xmlns:a="http://schemas.openxmlformats.org/drawingml/2006/main">
              <a:ext uri="{FF2B5EF4-FFF2-40B4-BE49-F238E27FC236}">
                <a16:creationId xmlns:a16="http://schemas.microsoft.com/office/drawing/2014/main" id="{771C95B7-A12C-48C4-8DF3-08CEB2B7662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008251-E423-4B3D-824F-DEB9645CCAE7}"/>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enhanced_signals.py; config.py; bsdex_strategy.py. Full formula is in the guide.</a:t>
            </a:r>
          </a:p>
        </p:txBody>
      </p:sp>
      <p:sp>
        <p:nvSpPr>
          <p:cNvPr id="5" name="">
            <a:extLst xmlns:a="http://schemas.openxmlformats.org/drawingml/2006/main">
              <a:ext uri="{FF2B5EF4-FFF2-40B4-BE49-F238E27FC236}">
                <a16:creationId xmlns:a16="http://schemas.microsoft.com/office/drawing/2014/main" id="{51A95C21-0E05-47F1-A104-CB5BC2C0A45F}"/>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91E4A1DA-B2A0-4362-9597-818FF46B8065}"/>
              </a:ext>
            </a:extLst>
          </p:cNvPr>
          <p:cNvSpPr>
            <a:spLocks xmlns:a="http://schemas.openxmlformats.org/drawingml/2006/main" noGrp="1"/>
          </p:cNvSpPr>
          <p:nvPr/>
        </p:nvSpPr>
        <p:spPr>
          <a:xfrm xmlns:a="http://schemas.openxmlformats.org/drawingml/2006/main">
            <a:off x="609600" y="189547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C4A"/>
                </a:solidFill>
                <a:latin typeface="Arial"/>
                <a:ea typeface="Arial"/>
                <a:cs typeface="Arial"/>
              </a:defRPr>
            </a:defPPr>
          </a:lstStyle>
          <a:p xmlns:a="http://schemas.openxmlformats.org/drawingml/2006/main">
            <a:pPr>
              <a:defRPr sz="3300" b="1">
                <a:solidFill>
                  <a:srgbClr val="173C4A"/>
                </a:solidFill>
                <a:latin typeface="Arial"/>
                <a:ea typeface="Arial"/>
                <a:cs typeface="Arial"/>
              </a:defRPr>
            </a:pPr>
            <a:r>
              <a:rPr sz="3300" b="1">
                <a:solidFill>
                  <a:srgbClr val="173C4A"/>
                </a:solidFill>
                <a:latin typeface="Arial"/>
                <a:ea typeface="Arial"/>
                <a:cs typeface="Arial"/>
              </a:rPr>
              <a:t>z = (s − μ) / σ</a:t>
            </a:r>
          </a:p>
        </p:txBody>
      </p:sp>
      <p:sp>
        <p:nvSpPr>
          <p:cNvPr id="7" name="">
            <a:extLst xmlns:a="http://schemas.openxmlformats.org/drawingml/2006/main">
              <a:ext uri="{FF2B5EF4-FFF2-40B4-BE49-F238E27FC236}">
                <a16:creationId xmlns:a16="http://schemas.microsoft.com/office/drawing/2014/main" id="{17AFB438-8AAF-4381-B985-6D036FB98B8A}"/>
              </a:ext>
            </a:extLst>
          </p:cNvPr>
          <p:cNvSpPr>
            <a:spLocks xmlns:a="http://schemas.openxmlformats.org/drawingml/2006/main" noGrp="1"/>
          </p:cNvSpPr>
          <p:nvPr/>
        </p:nvSpPr>
        <p:spPr>
          <a:xfrm xmlns:a="http://schemas.openxmlformats.org/drawingml/2006/main">
            <a:off x="609600" y="2809875"/>
            <a:ext cx="4667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13B"/>
                </a:solidFill>
                <a:latin typeface="Arial"/>
                <a:ea typeface="Arial"/>
                <a:cs typeface="Arial"/>
              </a:defRPr>
            </a:defPPr>
          </a:lstStyle>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s  = current spread</a:t>
            </a:r>
          </a:p>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μ = recent average spread</a:t>
            </a:r>
          </a:p>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σ = typical spread variation</a:t>
            </a:r>
          </a:p>
        </p:txBody>
      </p:sp>
      <p:sp>
        <p:nvSpPr>
          <p:cNvPr id="8" name="">
            <a:extLst xmlns:a="http://schemas.openxmlformats.org/drawingml/2006/main">
              <a:ext uri="{FF2B5EF4-FFF2-40B4-BE49-F238E27FC236}">
                <a16:creationId xmlns:a16="http://schemas.microsoft.com/office/drawing/2014/main" id="{DDBCACC5-9BCE-4709-90F5-E5918AA33167}"/>
              </a:ext>
            </a:extLst>
          </p:cNvPr>
          <p:cNvSpPr>
            <a:spLocks xmlns:a="http://schemas.openxmlformats.org/drawingml/2006/main" noGrp="1"/>
          </p:cNvSpPr>
          <p:nvPr/>
        </p:nvSpPr>
        <p:spPr>
          <a:xfrm xmlns:a="http://schemas.openxmlformats.org/drawingml/2006/main">
            <a:off x="609600" y="4533900"/>
            <a:ext cx="476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313B"/>
                </a:solidFill>
                <a:latin typeface="Arial"/>
                <a:ea typeface="Arial"/>
                <a:cs typeface="Arial"/>
              </a:defRPr>
            </a:defPPr>
          </a:lstStyle>
          <a:p xmlns:a="http://schemas.openxmlformats.org/drawingml/2006/main">
            <a:pPr>
              <a:defRPr sz="1875" b="0">
                <a:solidFill>
                  <a:srgbClr val="18313B"/>
                </a:solidFill>
                <a:latin typeface="Arial"/>
                <a:ea typeface="Arial"/>
                <a:cs typeface="Arial"/>
              </a:defRPr>
            </a:pPr>
            <a:r>
              <a:rPr sz="1875" b="0">
                <a:solidFill>
                  <a:srgbClr val="18313B"/>
                </a:solidFill>
                <a:latin typeface="Arial"/>
                <a:ea typeface="Arial"/>
                <a:cs typeface="Arial"/>
              </a:rPr>
              <a:t>Example: (€5 − €1) / €2 = 2</a:t>
            </a:r>
          </a:p>
          <a:p xmlns:a="http://schemas.openxmlformats.org/drawingml/2006/main">
            <a:pPr>
              <a:defRPr sz="1875" b="0">
                <a:solidFill>
                  <a:srgbClr val="18313B"/>
                </a:solidFill>
                <a:latin typeface="Arial"/>
                <a:ea typeface="Arial"/>
                <a:cs typeface="Arial"/>
              </a:defRPr>
            </a:pPr>
            <a:r>
              <a:rPr sz="1875" b="0">
                <a:solidFill>
                  <a:srgbClr val="18313B"/>
                </a:solidFill>
                <a:latin typeface="Arial"/>
                <a:ea typeface="Arial"/>
                <a:cs typeface="Arial"/>
              </a:rPr>
              <a:t>The spread is two standard deviations</a:t>
            </a:r>
          </a:p>
          <a:p xmlns:a="http://schemas.openxmlformats.org/drawingml/2006/main">
            <a:pPr>
              <a:defRPr sz="1875" b="0">
                <a:solidFill>
                  <a:srgbClr val="18313B"/>
                </a:solidFill>
                <a:latin typeface="Arial"/>
                <a:ea typeface="Arial"/>
                <a:cs typeface="Arial"/>
              </a:defRPr>
            </a:pPr>
            <a:r>
              <a:rPr sz="1875" b="0">
                <a:solidFill>
                  <a:srgbClr val="18313B"/>
                </a:solidFill>
                <a:latin typeface="Arial"/>
                <a:ea typeface="Arial"/>
                <a:cs typeface="Arial"/>
              </a:rPr>
              <a:t>above its recent average.</a:t>
            </a:r>
          </a:p>
        </p:txBody>
      </p:sp>
      <p:sp>
        <p:nvSpPr>
          <p:cNvPr id="9" name="">
            <a:extLst xmlns:a="http://schemas.openxmlformats.org/drawingml/2006/main">
              <a:ext uri="{FF2B5EF4-FFF2-40B4-BE49-F238E27FC236}">
                <a16:creationId xmlns:a16="http://schemas.microsoft.com/office/drawing/2014/main" id="{EFE47EAF-0421-4D9A-8916-E07A2B6A84D3}"/>
              </a:ext>
            </a:extLst>
          </p:cNvPr>
          <p:cNvSpPr>
            <a:spLocks xmlns:a="http://schemas.openxmlformats.org/drawingml/2006/main" noGrp="1"/>
          </p:cNvSpPr>
          <p:nvPr/>
        </p:nvSpPr>
        <p:spPr>
          <a:xfrm xmlns:a="http://schemas.openxmlformats.org/drawingml/2006/main">
            <a:off x="6334125" y="191452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4A"/>
                </a:solidFill>
                <a:latin typeface="Arial"/>
                <a:ea typeface="Arial"/>
                <a:cs typeface="Arial"/>
              </a:defRPr>
            </a:defPPr>
          </a:lstStyle>
          <a:p xmlns:a="http://schemas.openxmlformats.org/drawingml/2006/main">
            <a:pPr>
              <a:defRPr sz="2250" b="1">
                <a:solidFill>
                  <a:srgbClr val="173C4A"/>
                </a:solidFill>
                <a:latin typeface="Arial"/>
                <a:ea typeface="Arial"/>
                <a:cs typeface="Arial"/>
              </a:defRPr>
            </a:pPr>
            <a:r>
              <a:rPr sz="2250" b="1">
                <a:solidFill>
                  <a:srgbClr val="173C4A"/>
                </a:solidFill>
                <a:latin typeface="Arial"/>
                <a:ea typeface="Arial"/>
                <a:cs typeface="Arial"/>
              </a:rPr>
              <a:t>Why adjust the entry threshold?</a:t>
            </a:r>
          </a:p>
        </p:txBody>
      </p:sp>
      <p:sp>
        <p:nvSpPr>
          <p:cNvPr id="10" name="">
            <a:extLst xmlns:a="http://schemas.openxmlformats.org/drawingml/2006/main">
              <a:ext uri="{FF2B5EF4-FFF2-40B4-BE49-F238E27FC236}">
                <a16:creationId xmlns:a16="http://schemas.microsoft.com/office/drawing/2014/main" id="{A697638A-49D6-4CA1-BB7D-BC25A5E160B9}"/>
              </a:ext>
            </a:extLst>
          </p:cNvPr>
          <p:cNvSpPr>
            <a:spLocks xmlns:a="http://schemas.openxmlformats.org/drawingml/2006/main" noGrp="1"/>
          </p:cNvSpPr>
          <p:nvPr/>
        </p:nvSpPr>
        <p:spPr>
          <a:xfrm xmlns:a="http://schemas.openxmlformats.org/drawingml/2006/main">
            <a:off x="6334125" y="2705100"/>
            <a:ext cx="5191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The intended response is to demand a more unusual signal when spread volatility or momentum rises.</a:t>
            </a:r>
          </a:p>
        </p:txBody>
      </p:sp>
      <p:sp>
        <p:nvSpPr>
          <p:cNvPr id="11" name="">
            <a:extLst xmlns:a="http://schemas.openxmlformats.org/drawingml/2006/main">
              <a:ext uri="{FF2B5EF4-FFF2-40B4-BE49-F238E27FC236}">
                <a16:creationId xmlns:a16="http://schemas.microsoft.com/office/drawing/2014/main" id="{54778792-94F3-44CA-B02A-27314B381C13}"/>
              </a:ext>
            </a:extLst>
          </p:cNvPr>
          <p:cNvSpPr>
            <a:spLocks xmlns:a="http://schemas.openxmlformats.org/drawingml/2006/main" noGrp="1"/>
          </p:cNvSpPr>
          <p:nvPr/>
        </p:nvSpPr>
        <p:spPr>
          <a:xfrm xmlns:a="http://schemas.openxmlformats.org/drawingml/2006/main">
            <a:off x="6334125" y="3943350"/>
            <a:ext cx="5191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Live threshold: 0.3–2.0</a:t>
            </a:r>
          </a:p>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Base value: 0.4</a:t>
            </a:r>
          </a:p>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History: up to 30 recent samples</a:t>
            </a:r>
          </a:p>
        </p:txBody>
      </p:sp>
      <p:sp>
        <p:nvSpPr>
          <p:cNvPr id="12" name="">
            <a:extLst xmlns:a="http://schemas.openxmlformats.org/drawingml/2006/main">
              <a:ext uri="{FF2B5EF4-FFF2-40B4-BE49-F238E27FC236}">
                <a16:creationId xmlns:a16="http://schemas.microsoft.com/office/drawing/2014/main" id="{28BDDA24-3F96-427C-8045-10E5665117C8}"/>
              </a:ext>
            </a:extLst>
          </p:cNvPr>
          <p:cNvSpPr>
            <a:spLocks xmlns:a="http://schemas.openxmlformats.org/drawingml/2006/main" noGrp="1"/>
          </p:cNvSpPr>
          <p:nvPr/>
        </p:nvSpPr>
        <p:spPr>
          <a:xfrm xmlns:a="http://schemas.openxmlformats.org/drawingml/2006/main">
            <a:off x="6334125" y="5267325"/>
            <a:ext cx="5191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33639"/>
                </a:solidFill>
                <a:latin typeface="Arial"/>
                <a:ea typeface="Arial"/>
                <a:cs typeface="Arial"/>
              </a:defRPr>
            </a:defPPr>
          </a:lstStyle>
          <a:p xmlns:a="http://schemas.openxmlformats.org/drawingml/2006/main">
            <a:pPr>
              <a:defRPr sz="1800" b="0">
                <a:solidFill>
                  <a:srgbClr val="A33639"/>
                </a:solidFill>
                <a:latin typeface="Arial"/>
                <a:ea typeface="Arial"/>
                <a:cs typeface="Arial"/>
              </a:defRPr>
            </a:pPr>
            <a:r>
              <a:rPr sz="1800" b="0">
                <a:solidFill>
                  <a:srgbClr val="A33639"/>
                </a:solidFill>
                <a:latin typeface="Arial"/>
                <a:ea typeface="Arial"/>
                <a:cs typeface="Arial"/>
              </a:rPr>
              <a:t>Limits: volume input is constant; momentum is in raw EUR; predictive value is unproven.</a:t>
            </a:r>
          </a:p>
        </p:txBody>
      </p:sp>
    </p:spTree>
    <p:extLst>
      <p:ext uri="{BB962C8B-B14F-4D97-AF65-F5344CB8AC3E}">
        <p14:creationId xmlns:p14="http://schemas.microsoft.com/office/powerpoint/2010/main" val="2823967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BBA095-C2C3-4AB5-9E0B-4C78A7A43ECC}"/>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05 · ENTRY CONTROLS AND FREQUENCY</a:t>
            </a:r>
          </a:p>
        </p:txBody>
      </p:sp>
      <p:sp>
        <p:nvSpPr>
          <p:cNvPr id="2" name="">
            <a:extLst xmlns:a="http://schemas.openxmlformats.org/drawingml/2006/main">
              <a:ext uri="{FF2B5EF4-FFF2-40B4-BE49-F238E27FC236}">
                <a16:creationId xmlns:a16="http://schemas.microsoft.com/office/drawing/2014/main" id="{DA7D1FC4-93AB-451C-916D-BE00429AB33D}"/>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Every signal must pass several gates</a:t>
            </a:r>
          </a:p>
        </p:txBody>
      </p:sp>
      <p:sp>
        <p:nvSpPr>
          <p:cNvPr id="3" name="">
            <a:extLst xmlns:a="http://schemas.openxmlformats.org/drawingml/2006/main">
              <a:ext uri="{FF2B5EF4-FFF2-40B4-BE49-F238E27FC236}">
                <a16:creationId xmlns:a16="http://schemas.microsoft.com/office/drawing/2014/main" id="{757C5C32-897F-46A6-B6D2-FEFC1DAD005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84802E-B2DB-46DA-B343-923346600172}"/>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bsdex_strategy.py; enhanced_signals.py; simulation.py.</a:t>
            </a:r>
          </a:p>
        </p:txBody>
      </p:sp>
      <p:sp>
        <p:nvSpPr>
          <p:cNvPr id="5" name="">
            <a:extLst xmlns:a="http://schemas.openxmlformats.org/drawingml/2006/main">
              <a:ext uri="{FF2B5EF4-FFF2-40B4-BE49-F238E27FC236}">
                <a16:creationId xmlns:a16="http://schemas.microsoft.com/office/drawing/2014/main" id="{CB644547-CA35-4338-BFC4-04CA239FC8A6}"/>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06</a:t>
            </a:r>
          </a:p>
        </p:txBody>
      </p:sp>
      <p:graphicFrame>
        <p:nvGraphicFramePr>
          <p:cNvPr id="6" name="">
            <a:extLst xmlns:a="http://schemas.openxmlformats.org/drawingml/2006/main">
              <a:ext uri="{FF2B5EF4-FFF2-40B4-BE49-F238E27FC236}">
                <a16:creationId xmlns:a16="http://schemas.microsoft.com/office/drawing/2014/main" id="{3907C3DF-ABF0-4B37-86C1-B141EFB7CE07}"/>
              </a:ext>
            </a:extLst>
          </p:cNvPr>
          <p:cNvGraphicFramePr/>
          <p:nvPr/>
        </p:nvGraphicFramePr>
        <p:xfrm>
          <a:off xmlns:a="http://schemas.openxmlformats.org/drawingml/2006/main" x="609600" y="1790700"/>
          <a:ext xmlns:a="http://schemas.openxmlformats.org/drawingml/2006/main" cx="10972800" cy="3657600"/>
        </p:xfrm>
        <a:graphic xmlns:a="http://schemas.openxmlformats.org/drawingml/2006/main">
          <a:graphicData uri="http://schemas.openxmlformats.org/drawingml/2006/table">
            <a:tbl>
              <a:tblPr/>
              <a:tblGrid>
                <a:gridCol w="2476500"/>
                <a:gridCol w="8496300"/>
              </a:tblGrid>
              <a:tr h="609600">
                <a:tc>
                  <a:txBody>
                    <a:bodyPr lIns="133350" tIns="95250" rIns="133350" bIns="95250"/>
                    <a:lstStyle/>
                    <a:p>
                      <a:r>
                        <a:rPr sz="1800" b="1">
                          <a:solidFill>
                            <a:srgbClr val="FFFFFF"/>
                          </a:solidFill>
                          <a:latin typeface="Arial"/>
                          <a:ea typeface="Arial"/>
                          <a:cs typeface="Arial"/>
                        </a:rPr>
                        <a:t>Gate</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Required condition</a:t>
                      </a:r>
                    </a:p>
                  </a:txBody>
                  <a:tcPr marL="91440" marR="91440" marT="45720" marB="45720" anchor="ctr">
                    <a:solidFill>
                      <a:srgbClr val="173C4A"/>
                    </a:solidFill>
                  </a:tcPr>
                </a:tc>
              </a:tr>
              <a:tr h="609600">
                <a:tc>
                  <a:txBody>
                    <a:bodyPr lIns="133350" tIns="95250" rIns="133350" bIns="95250"/>
                    <a:lstStyle/>
                    <a:p>
                      <a:r>
                        <a:rPr sz="1800" b="0">
                          <a:solidFill>
                            <a:srgbClr val="18313B"/>
                          </a:solidFill>
                          <a:latin typeface="Arial"/>
                          <a:ea typeface="Arial"/>
                          <a:cs typeface="Arial"/>
                        </a:rPr>
                        <a:t>Freshness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Both crypto books and the EURUSDT book are no older than 5 seconds</a:t>
                      </a:r>
                    </a:p>
                  </a:txBody>
                  <a:tcPr marL="91440" marR="91440" marT="45720" marB="45720" anchor="ctr">
                    <a:solidFill>
                      <a:srgbClr val="EDF3F4"/>
                    </a:solidFill>
                  </a:tcPr>
                </a:tc>
              </a:tr>
              <a:tr h="609600">
                <a:tc>
                  <a:txBody>
                    <a:bodyPr lIns="133350" tIns="95250" rIns="133350" bIns="95250"/>
                    <a:lstStyle/>
                    <a:p>
                      <a:r>
                        <a:rPr sz="1800" b="0">
                          <a:solidFill>
                            <a:srgbClr val="18313B"/>
                          </a:solidFill>
                          <a:latin typeface="Arial"/>
                          <a:ea typeface="Arial"/>
                          <a:cs typeface="Arial"/>
                        </a:rPr>
                        <a:t>Signal and economics</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|z| reaches the threshold; expected net profit after fees is positive</a:t>
                      </a:r>
                    </a:p>
                  </a:txBody>
                  <a:tcPr marL="91440" marR="91440" marT="45720" marB="45720" anchor="ctr">
                    <a:solidFill>
                      <a:srgbClr val="FFFFFF"/>
                    </a:solidFill>
                  </a:tcPr>
                </a:tc>
              </a:tr>
              <a:tr h="609600">
                <a:tc>
                  <a:txBody>
                    <a:bodyPr lIns="133350" tIns="95250" rIns="133350" bIns="95250"/>
                    <a:lstStyle/>
                    <a:p>
                      <a:r>
                        <a:rPr sz="1800" b="0">
                          <a:solidFill>
                            <a:srgbClr val="18313B"/>
                          </a:solidFill>
                          <a:latin typeface="Arial"/>
                          <a:ea typeface="Arial"/>
                          <a:cs typeface="Arial"/>
                        </a:rPr>
                        <a:t>Depth</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Both sides have enough visible quantity for the whole trade</a:t>
                      </a:r>
                    </a:p>
                  </a:txBody>
                  <a:tcPr marL="91440" marR="91440" marT="45720" marB="45720" anchor="ctr">
                    <a:solidFill>
                      <a:srgbClr val="EDF3F4"/>
                    </a:solidFill>
                  </a:tcPr>
                </a:tc>
              </a:tr>
              <a:tr h="609600">
                <a:tc>
                  <a:txBody>
                    <a:bodyPr lIns="133350" tIns="95250" rIns="133350" bIns="95250"/>
                    <a:lstStyle/>
                    <a:p>
                      <a:r>
                        <a:rPr sz="1800" b="0">
                          <a:solidFill>
                            <a:srgbClr val="18313B"/>
                          </a:solidFill>
                          <a:latin typeface="Arial"/>
                          <a:ea typeface="Arial"/>
                          <a:cs typeface="Arial"/>
                        </a:rPr>
                        <a:t>Rate control</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30-second live cooldown; one pending order per market</a:t>
                      </a:r>
                    </a:p>
                  </a:txBody>
                  <a:tcPr marL="91440" marR="91440" marT="45720" marB="45720" anchor="ctr">
                    <a:solidFill>
                      <a:srgbClr val="FFFFFF"/>
                    </a:solidFill>
                  </a:tcPr>
                </a:tc>
              </a:tr>
              <a:tr h="609600">
                <a:tc>
                  <a:txBody>
                    <a:bodyPr lIns="133350" tIns="95250" rIns="133350" bIns="95250"/>
                    <a:lstStyle/>
                    <a:p>
                      <a:r>
                        <a:rPr sz="1800" b="0">
                          <a:solidFill>
                            <a:srgbClr val="18313B"/>
                          </a:solidFill>
                          <a:latin typeface="Arial"/>
                          <a:ea typeface="Arial"/>
                          <a:cs typeface="Arial"/>
                        </a:rPr>
                        <a:t>Delayed fill</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At least 300 ms; retain losses and explicitly count failed fills</a:t>
                      </a:r>
                    </a:p>
                  </a:txBody>
                  <a:tcPr marL="91440" marR="91440" marT="45720" marB="45720" anchor="ctr">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234C3056-6E7F-4466-890F-BE34BA87FBF5}"/>
              </a:ext>
            </a:extLst>
          </p:cNvPr>
          <p:cNvSpPr>
            <a:spLocks xmlns:a="http://schemas.openxmlformats.org/drawingml/2006/main" noGrp="1"/>
          </p:cNvSpPr>
          <p:nvPr/>
        </p:nvSpPr>
        <p:spPr>
          <a:xfrm xmlns:a="http://schemas.openxmlformats.org/drawingml/2006/main">
            <a:off x="609600" y="56292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6D"/>
                </a:solidFill>
                <a:latin typeface="Arial"/>
                <a:ea typeface="Arial"/>
                <a:cs typeface="Arial"/>
              </a:defRPr>
            </a:defPPr>
          </a:lstStyle>
          <a:p xmlns:a="http://schemas.openxmlformats.org/drawingml/2006/main">
            <a:pPr>
              <a:defRPr sz="1650" b="0">
                <a:solidFill>
                  <a:srgbClr val="53656D"/>
                </a:solidFill>
                <a:latin typeface="Arial"/>
                <a:ea typeface="Arial"/>
                <a:cs typeface="Arial"/>
              </a:defRPr>
            </a:pPr>
            <a:r>
              <a:rPr sz="1650" b="0">
                <a:solidFill>
                  <a:srgbClr val="53656D"/>
                </a:solidFill>
                <a:latin typeface="Arial"/>
                <a:ea typeface="Arial"/>
                <a:cs typeface="Arial"/>
              </a:rPr>
              <a:t>Live ceiling: about 120 signals/hour per market, not a forecast.</a:t>
            </a:r>
          </a:p>
          <a:p xmlns:a="http://schemas.openxmlformats.org/drawingml/2006/main">
            <a:pPr>
              <a:defRPr sz="1650" b="0">
                <a:solidFill>
                  <a:srgbClr val="53656D"/>
                </a:solidFill>
                <a:latin typeface="Arial"/>
                <a:ea typeface="Arial"/>
                <a:cs typeface="Arial"/>
              </a:defRPr>
            </a:pPr>
            <a:r>
              <a:rPr sz="1650" b="0">
                <a:solidFill>
                  <a:srgbClr val="53656D"/>
                </a:solidFill>
                <a:latin typeface="Arial"/>
                <a:ea typeface="Arial"/>
                <a:cs typeface="Arial"/>
              </a:rPr>
              <a:t>The documented candle test averaged one completed trade per day.</a:t>
            </a:r>
          </a:p>
        </p:txBody>
      </p:sp>
    </p:spTree>
    <p:extLst>
      <p:ext uri="{BB962C8B-B14F-4D97-AF65-F5344CB8AC3E}">
        <p14:creationId xmlns:p14="http://schemas.microsoft.com/office/powerpoint/2010/main" val="8083519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63C758-EA3E-424E-9D5C-6C2592F17C77}"/>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06 · FULL CYCLE EXAMPLE · ILLUSTRATIVE, NOT A RECORDED TRADE</a:t>
            </a:r>
          </a:p>
        </p:txBody>
      </p:sp>
      <p:sp>
        <p:nvSpPr>
          <p:cNvPr id="2" name="">
            <a:extLst xmlns:a="http://schemas.openxmlformats.org/drawingml/2006/main">
              <a:ext uri="{FF2B5EF4-FFF2-40B4-BE49-F238E27FC236}">
                <a16:creationId xmlns:a16="http://schemas.microsoft.com/office/drawing/2014/main" id="{A7F3917E-58B9-4364-8AF7-F15AFD8BF6D8}"/>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A valid signal can become a losing fill</a:t>
            </a:r>
          </a:p>
        </p:txBody>
      </p:sp>
      <p:sp>
        <p:nvSpPr>
          <p:cNvPr id="3" name="">
            <a:extLst xmlns:a="http://schemas.openxmlformats.org/drawingml/2006/main">
              <a:ext uri="{FF2B5EF4-FFF2-40B4-BE49-F238E27FC236}">
                <a16:creationId xmlns:a16="http://schemas.microsoft.com/office/drawing/2014/main" id="{078A699A-CF4D-4275-A14C-E6D5543F988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19F5B6-9442-4956-879C-4F82C220A960}"/>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 current fee and latency model. Example uses 1 BTC, &gt; $250M tier; excludes carry and rebalancing.</a:t>
            </a:r>
          </a:p>
        </p:txBody>
      </p:sp>
      <p:sp>
        <p:nvSpPr>
          <p:cNvPr id="5" name="">
            <a:extLst xmlns:a="http://schemas.openxmlformats.org/drawingml/2006/main">
              <a:ext uri="{FF2B5EF4-FFF2-40B4-BE49-F238E27FC236}">
                <a16:creationId xmlns:a16="http://schemas.microsoft.com/office/drawing/2014/main" id="{7ECB9B54-C193-4929-968B-844B863E308E}"/>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07</a:t>
            </a:r>
          </a:p>
        </p:txBody>
      </p:sp>
      <p:graphicFrame>
        <p:nvGraphicFramePr>
          <p:cNvPr id="6" name="">
            <a:extLst xmlns:a="http://schemas.openxmlformats.org/drawingml/2006/main">
              <a:ext uri="{FF2B5EF4-FFF2-40B4-BE49-F238E27FC236}">
                <a16:creationId xmlns:a16="http://schemas.microsoft.com/office/drawing/2014/main" id="{08AC13F6-08A3-4D43-89B4-597272A1E8F3}"/>
              </a:ext>
            </a:extLst>
          </p:cNvPr>
          <p:cNvGraphicFramePr/>
          <p:nvPr/>
        </p:nvGraphicFramePr>
        <p:xfrm>
          <a:off xmlns:a="http://schemas.openxmlformats.org/drawingml/2006/main" x="609600" y="1800225"/>
          <a:ext xmlns:a="http://schemas.openxmlformats.org/drawingml/2006/main" cx="10972800" cy="3600450"/>
        </p:xfrm>
        <a:graphic xmlns:a="http://schemas.openxmlformats.org/drawingml/2006/main">
          <a:graphicData uri="http://schemas.openxmlformats.org/drawingml/2006/table">
            <a:tbl>
              <a:tblPr/>
              <a:tblGrid>
                <a:gridCol w="4114800"/>
                <a:gridCol w="3429000"/>
                <a:gridCol w="3429000"/>
              </a:tblGrid>
              <a:tr h="600075">
                <a:tc>
                  <a:txBody>
                    <a:bodyPr lIns="133350" tIns="95250" rIns="133350" bIns="95250"/>
                    <a:lstStyle/>
                    <a:p>
                      <a:r>
                        <a:rPr sz="1875" b="1">
                          <a:solidFill>
                            <a:srgbClr val="FFFFFF"/>
                          </a:solidFill>
                          <a:latin typeface="Arial"/>
                          <a:ea typeface="Arial"/>
                          <a:cs typeface="Arial"/>
                        </a:rPr>
                        <a:t>One BTC</a:t>
                      </a:r>
                    </a:p>
                  </a:txBody>
                  <a:tcPr marL="91440" marR="91440" marT="45720" marB="45720" anchor="ctr">
                    <a:solidFill>
                      <a:srgbClr val="173C4A"/>
                    </a:solidFill>
                  </a:tcPr>
                </a:tc>
                <a:tc>
                  <a:txBody>
                    <a:bodyPr lIns="133350" tIns="95250" rIns="133350" bIns="95250"/>
                    <a:lstStyle/>
                    <a:p>
                      <a:r>
                        <a:rPr sz="1875" b="1">
                          <a:solidFill>
                            <a:srgbClr val="FFFFFF"/>
                          </a:solidFill>
                          <a:latin typeface="Arial"/>
                          <a:ea typeface="Arial"/>
                          <a:cs typeface="Arial"/>
                        </a:rPr>
                        <a:t>Signal expectation</a:t>
                      </a:r>
                    </a:p>
                  </a:txBody>
                  <a:tcPr marL="91440" marR="91440" marT="45720" marB="45720" anchor="ctr">
                    <a:solidFill>
                      <a:srgbClr val="173C4A"/>
                    </a:solidFill>
                  </a:tcPr>
                </a:tc>
                <a:tc>
                  <a:txBody>
                    <a:bodyPr lIns="133350" tIns="95250" rIns="133350" bIns="95250"/>
                    <a:lstStyle/>
                    <a:p>
                      <a:r>
                        <a:rPr sz="1875" b="1">
                          <a:solidFill>
                            <a:srgbClr val="FFFFFF"/>
                          </a:solidFill>
                          <a:latin typeface="Arial"/>
                          <a:ea typeface="Arial"/>
                          <a:cs typeface="Arial"/>
                        </a:rPr>
                        <a:t>Delayed execution</a:t>
                      </a:r>
                    </a:p>
                  </a:txBody>
                  <a:tcPr marL="91440" marR="91440" marT="45720" marB="45720" anchor="ctr">
                    <a:solidFill>
                      <a:srgbClr val="173C4A"/>
                    </a:solidFill>
                  </a:tcPr>
                </a:tc>
              </a:tr>
              <a:tr h="600075">
                <a:tc>
                  <a:txBody>
                    <a:bodyPr lIns="133350" tIns="95250" rIns="133350" bIns="95250"/>
                    <a:lstStyle/>
                    <a:p>
                      <a:r>
                        <a:rPr sz="1875" b="0">
                          <a:solidFill>
                            <a:srgbClr val="18313B"/>
                          </a:solidFill>
                          <a:latin typeface="Arial"/>
                          <a:ea typeface="Arial"/>
                          <a:cs typeface="Arial"/>
                        </a:rPr>
                        <a:t>Buy on Bitstamp</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€100,000</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€100,040</a:t>
                      </a:r>
                    </a:p>
                  </a:txBody>
                  <a:tcPr marL="91440" marR="91440" marT="45720" marB="45720" anchor="ctr">
                    <a:solidFill>
                      <a:srgbClr val="EDF3F4"/>
                    </a:solidFill>
                  </a:tcPr>
                </a:tc>
              </a:tr>
              <a:tr h="600075">
                <a:tc>
                  <a:txBody>
                    <a:bodyPr lIns="133350" tIns="95250" rIns="133350" bIns="95250"/>
                    <a:lstStyle/>
                    <a:p>
                      <a:r>
                        <a:rPr sz="1875" b="0">
                          <a:solidFill>
                            <a:srgbClr val="18313B"/>
                          </a:solidFill>
                          <a:latin typeface="Arial"/>
                          <a:ea typeface="Arial"/>
                          <a:cs typeface="Arial"/>
                        </a:rPr>
                        <a:t>Sell after FX conversion</a:t>
                      </a:r>
                    </a:p>
                  </a:txBody>
                  <a:tcPr marL="91440" marR="91440" marT="45720" marB="45720" anchor="ctr">
                    <a:solidFill>
                      <a:srgbClr val="FFFFFF"/>
                    </a:solidFill>
                  </a:tcPr>
                </a:tc>
                <a:tc>
                  <a:txBody>
                    <a:bodyPr lIns="133350" tIns="95250" rIns="133350" bIns="95250"/>
                    <a:lstStyle/>
                    <a:p>
                      <a:r>
                        <a:rPr sz="1875" b="0">
                          <a:solidFill>
                            <a:srgbClr val="18313B"/>
                          </a:solidFill>
                          <a:latin typeface="Arial"/>
                          <a:ea typeface="Arial"/>
                          <a:cs typeface="Arial"/>
                        </a:rPr>
                        <a:t>€100,150</a:t>
                      </a:r>
                    </a:p>
                  </a:txBody>
                  <a:tcPr marL="91440" marR="91440" marT="45720" marB="45720" anchor="ctr">
                    <a:solidFill>
                      <a:srgbClr val="FFFFFF"/>
                    </a:solidFill>
                  </a:tcPr>
                </a:tc>
                <a:tc>
                  <a:txBody>
                    <a:bodyPr lIns="133350" tIns="95250" rIns="133350" bIns="95250"/>
                    <a:lstStyle/>
                    <a:p>
                      <a:r>
                        <a:rPr sz="1875" b="0">
                          <a:solidFill>
                            <a:srgbClr val="18313B"/>
                          </a:solidFill>
                          <a:latin typeface="Arial"/>
                          <a:ea typeface="Arial"/>
                          <a:cs typeface="Arial"/>
                        </a:rPr>
                        <a:t>€100,020</a:t>
                      </a:r>
                    </a:p>
                  </a:txBody>
                  <a:tcPr marL="91440" marR="91440" marT="45720" marB="45720" anchor="ctr">
                    <a:solidFill>
                      <a:srgbClr val="FFFFFF"/>
                    </a:solidFill>
                  </a:tcPr>
                </a:tc>
              </a:tr>
              <a:tr h="600075">
                <a:tc>
                  <a:txBody>
                    <a:bodyPr lIns="133350" tIns="95250" rIns="133350" bIns="95250"/>
                    <a:lstStyle/>
                    <a:p>
                      <a:r>
                        <a:rPr sz="1875" b="0">
                          <a:solidFill>
                            <a:srgbClr val="18313B"/>
                          </a:solidFill>
                          <a:latin typeface="Arial"/>
                          <a:ea typeface="Arial"/>
                          <a:cs typeface="Arial"/>
                        </a:rPr>
                        <a:t>Gross difference</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+€150.00</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−€20.00</a:t>
                      </a:r>
                    </a:p>
                  </a:txBody>
                  <a:tcPr marL="91440" marR="91440" marT="45720" marB="45720" anchor="ctr">
                    <a:solidFill>
                      <a:srgbClr val="EDF3F4"/>
                    </a:solidFill>
                  </a:tcPr>
                </a:tc>
              </a:tr>
              <a:tr h="600075">
                <a:tc>
                  <a:txBody>
                    <a:bodyPr lIns="133350" tIns="95250" rIns="133350" bIns="95250"/>
                    <a:lstStyle/>
                    <a:p>
                      <a:r>
                        <a:rPr sz="1875" b="0">
                          <a:solidFill>
                            <a:srgbClr val="18313B"/>
                          </a:solidFill>
                          <a:latin typeface="Arial"/>
                          <a:ea typeface="Arial"/>
                          <a:cs typeface="Arial"/>
                        </a:rPr>
                        <a:t>Fees and FX cost</a:t>
                      </a:r>
                    </a:p>
                  </a:txBody>
                  <a:tcPr marL="91440" marR="91440" marT="45720" marB="45720" anchor="ctr">
                    <a:solidFill>
                      <a:srgbClr val="FFFFFF"/>
                    </a:solidFill>
                  </a:tcPr>
                </a:tc>
                <a:tc>
                  <a:txBody>
                    <a:bodyPr lIns="133350" tIns="95250" rIns="133350" bIns="95250"/>
                    <a:lstStyle/>
                    <a:p>
                      <a:r>
                        <a:rPr sz="1875" b="0">
                          <a:solidFill>
                            <a:srgbClr val="18313B"/>
                          </a:solidFill>
                          <a:latin typeface="Arial"/>
                          <a:ea typeface="Arial"/>
                          <a:cs typeface="Arial"/>
                        </a:rPr>
                        <a:t>€90.06</a:t>
                      </a:r>
                    </a:p>
                  </a:txBody>
                  <a:tcPr marL="91440" marR="91440" marT="45720" marB="45720" anchor="ctr">
                    <a:solidFill>
                      <a:srgbClr val="FFFFFF"/>
                    </a:solidFill>
                  </a:tcPr>
                </a:tc>
                <a:tc>
                  <a:txBody>
                    <a:bodyPr lIns="133350" tIns="95250" rIns="133350" bIns="95250"/>
                    <a:lstStyle/>
                    <a:p>
                      <a:r>
                        <a:rPr sz="1875" b="0">
                          <a:solidFill>
                            <a:srgbClr val="18313B"/>
                          </a:solidFill>
                          <a:latin typeface="Arial"/>
                          <a:ea typeface="Arial"/>
                          <a:cs typeface="Arial"/>
                        </a:rPr>
                        <a:t>€90.03</a:t>
                      </a:r>
                    </a:p>
                  </a:txBody>
                  <a:tcPr marL="91440" marR="91440" marT="45720" marB="45720" anchor="ctr">
                    <a:solidFill>
                      <a:srgbClr val="FFFFFF"/>
                    </a:solidFill>
                  </a:tcPr>
                </a:tc>
              </a:tr>
              <a:tr h="600075">
                <a:tc>
                  <a:txBody>
                    <a:bodyPr lIns="133350" tIns="95250" rIns="133350" bIns="95250"/>
                    <a:lstStyle/>
                    <a:p>
                      <a:r>
                        <a:rPr sz="1875" b="0">
                          <a:solidFill>
                            <a:srgbClr val="18313B"/>
                          </a:solidFill>
                          <a:latin typeface="Arial"/>
                          <a:ea typeface="Arial"/>
                          <a:cs typeface="Arial"/>
                        </a:rPr>
                        <a:t>Net before carry</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+€59.94</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−€110.03</a:t>
                      </a:r>
                    </a:p>
                  </a:txBody>
                  <a:tcPr marL="91440" marR="91440" marT="45720" marB="45720" anchor="ctr">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8B6DF68B-8497-4B3F-A74E-EDDFE2797F74}"/>
              </a:ext>
            </a:extLst>
          </p:cNvPr>
          <p:cNvSpPr>
            <a:spLocks xmlns:a="http://schemas.openxmlformats.org/drawingml/2006/main" noGrp="1"/>
          </p:cNvSpPr>
          <p:nvPr/>
        </p:nvSpPr>
        <p:spPr>
          <a:xfrm xmlns:a="http://schemas.openxmlformats.org/drawingml/2006/main">
            <a:off x="609600" y="57435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C4A"/>
                </a:solidFill>
                <a:latin typeface="Arial"/>
                <a:ea typeface="Arial"/>
                <a:cs typeface="Arial"/>
              </a:defRPr>
            </a:defPPr>
          </a:lstStyle>
          <a:p xmlns:a="http://schemas.openxmlformats.org/drawingml/2006/main">
            <a:pPr>
              <a:defRPr sz="1875" b="1">
                <a:solidFill>
                  <a:srgbClr val="173C4A"/>
                </a:solidFill>
                <a:latin typeface="Arial"/>
                <a:ea typeface="Arial"/>
                <a:cs typeface="Arial"/>
              </a:defRPr>
            </a:pPr>
            <a:r>
              <a:rPr sz="1875" b="1">
                <a:solidFill>
                  <a:srgbClr val="173C4A"/>
                </a:solidFill>
                <a:latin typeface="Arial"/>
                <a:ea typeface="Arial"/>
                <a:cs typeface="Arial"/>
              </a:rPr>
              <a:t>Prefund → identify → fix quantity → fill both legs → reconcile and rebalance</a:t>
            </a:r>
          </a:p>
        </p:txBody>
      </p:sp>
    </p:spTree>
    <p:extLst>
      <p:ext uri="{BB962C8B-B14F-4D97-AF65-F5344CB8AC3E}">
        <p14:creationId xmlns:p14="http://schemas.microsoft.com/office/powerpoint/2010/main" val="6657282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974F49-5376-4BE4-AD30-838046D07EDF}"/>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07 · DOCUMENTED BACKTEST RESULT</a:t>
            </a:r>
          </a:p>
        </p:txBody>
      </p:sp>
      <p:sp>
        <p:nvSpPr>
          <p:cNvPr id="2" name="">
            <a:extLst xmlns:a="http://schemas.openxmlformats.org/drawingml/2006/main">
              <a:ext uri="{FF2B5EF4-FFF2-40B4-BE49-F238E27FC236}">
                <a16:creationId xmlns:a16="http://schemas.microsoft.com/office/drawing/2014/main" id="{4AEC8008-C200-4DA2-8AC1-A5E85DCDC9D8}"/>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The corrected candle test lost money</a:t>
            </a:r>
          </a:p>
        </p:txBody>
      </p:sp>
      <p:sp>
        <p:nvSpPr>
          <p:cNvPr id="3" name="">
            <a:extLst xmlns:a="http://schemas.openxmlformats.org/drawingml/2006/main">
              <a:ext uri="{FF2B5EF4-FFF2-40B4-BE49-F238E27FC236}">
                <a16:creationId xmlns:a16="http://schemas.microsoft.com/office/drawing/2014/main" id="{1DE2D98B-21B3-440B-A5E0-35C6D4E3551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FB00FA1-9556-4BD4-8A67-C975C6CCBA91}"/>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 docs/engine-integrity.md, verification dated 11 October 2026; model result, not account P&amp;L.</a:t>
            </a:r>
          </a:p>
        </p:txBody>
      </p:sp>
      <p:sp>
        <p:nvSpPr>
          <p:cNvPr id="5" name="">
            <a:extLst xmlns:a="http://schemas.openxmlformats.org/drawingml/2006/main">
              <a:ext uri="{FF2B5EF4-FFF2-40B4-BE49-F238E27FC236}">
                <a16:creationId xmlns:a16="http://schemas.microsoft.com/office/drawing/2014/main" id="{02E088E8-A10B-4EAC-BBDA-D58A3212AC97}"/>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ABB6F6DD-5607-4AF9-8374-D842BCAD908B}"/>
              </a:ext>
            </a:extLst>
          </p:cNvPr>
          <p:cNvSpPr>
            <a:spLocks xmlns:a="http://schemas.openxmlformats.org/drawingml/2006/main" noGrp="1"/>
          </p:cNvSpPr>
          <p:nvPr/>
        </p:nvSpPr>
        <p:spPr>
          <a:xfrm xmlns:a="http://schemas.openxmlformats.org/drawingml/2006/main">
            <a:off x="609600" y="17526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33639"/>
                </a:solidFill>
                <a:latin typeface="Arial"/>
                <a:ea typeface="Arial"/>
                <a:cs typeface="Arial"/>
              </a:defRPr>
            </a:defPPr>
          </a:lstStyle>
          <a:p xmlns:a="http://schemas.openxmlformats.org/drawingml/2006/main">
            <a:pPr>
              <a:defRPr sz="2475" b="1">
                <a:solidFill>
                  <a:srgbClr val="A33639"/>
                </a:solidFill>
                <a:latin typeface="Arial"/>
                <a:ea typeface="Arial"/>
                <a:cs typeface="Arial"/>
              </a:defRPr>
            </a:pPr>
            <a:r>
              <a:rPr sz="2475" b="1">
                <a:solidFill>
                  <a:srgbClr val="A33639"/>
                </a:solidFill>
                <a:latin typeface="Arial"/>
                <a:ea typeface="Arial"/>
                <a:cs typeface="Arial"/>
              </a:rPr>
              <a:t>7 trades  ·  0 winners  ·  7 losses</a:t>
            </a:r>
          </a:p>
        </p:txBody>
      </p:sp>
      <p:graphicFrame>
        <p:nvGraphicFramePr>
          <p:cNvPr id="7" name="">
            <a:extLst xmlns:a="http://schemas.openxmlformats.org/drawingml/2006/main">
              <a:ext uri="{FF2B5EF4-FFF2-40B4-BE49-F238E27FC236}">
                <a16:creationId xmlns:a16="http://schemas.microsoft.com/office/drawing/2014/main" id="{519D41BF-83C5-4E69-AF2C-5FCFB63F7C9E}"/>
              </a:ext>
            </a:extLst>
          </p:cNvPr>
          <p:cNvGraphicFramePr/>
          <p:nvPr/>
        </p:nvGraphicFramePr>
        <p:xfrm>
          <a:off xmlns:a="http://schemas.openxmlformats.org/drawingml/2006/main" x="609600" y="2409825"/>
          <a:ext xmlns:a="http://schemas.openxmlformats.org/drawingml/2006/main" cx="10972800" cy="3028950"/>
        </p:xfrm>
        <a:graphic xmlns:a="http://schemas.openxmlformats.org/drawingml/2006/main">
          <a:graphicData uri="http://schemas.openxmlformats.org/drawingml/2006/table">
            <a:tbl>
              <a:tblPr/>
              <a:tblGrid>
                <a:gridCol w="7734300"/>
                <a:gridCol w="3238500"/>
              </a:tblGrid>
              <a:tr h="504825">
                <a:tc>
                  <a:txBody>
                    <a:bodyPr lIns="133350" tIns="95250" rIns="133350" bIns="95250"/>
                    <a:lstStyle/>
                    <a:p>
                      <a:r>
                        <a:rPr sz="1800" b="1">
                          <a:solidFill>
                            <a:srgbClr val="FFFFFF"/>
                          </a:solidFill>
                          <a:latin typeface="Arial"/>
                          <a:ea typeface="Arial"/>
                          <a:cs typeface="Arial"/>
                        </a:rPr>
                        <a:t>Component</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Seven-day result</a:t>
                      </a:r>
                    </a:p>
                  </a:txBody>
                  <a:tcPr marL="91440" marR="91440" marT="45720" marB="45720" anchor="ctr">
                    <a:solidFill>
                      <a:srgbClr val="173C4A"/>
                    </a:solidFill>
                  </a:tcPr>
                </a:tc>
              </a:tr>
              <a:tr h="504825">
                <a:tc>
                  <a:txBody>
                    <a:bodyPr lIns="133350" tIns="95250" rIns="133350" bIns="95250"/>
                    <a:lstStyle/>
                    <a:p>
                      <a:r>
                        <a:rPr sz="1800" b="0">
                          <a:solidFill>
                            <a:srgbClr val="18313B"/>
                          </a:solidFill>
                          <a:latin typeface="Arial"/>
                          <a:ea typeface="Arial"/>
                          <a:cs typeface="Arial"/>
                        </a:rPr>
                        <a:t>Gross after model execution prices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−€918.43</a:t>
                      </a:r>
                    </a:p>
                  </a:txBody>
                  <a:tcPr marL="91440" marR="91440" marT="45720" marB="45720" anchor="ctr">
                    <a:solidFill>
                      <a:srgbClr val="EDF3F4"/>
                    </a:solidFill>
                  </a:tcPr>
                </a:tc>
              </a:tr>
              <a:tr h="504825">
                <a:tc>
                  <a:txBody>
                    <a:bodyPr lIns="133350" tIns="95250" rIns="133350" bIns="95250"/>
                    <a:lstStyle/>
                    <a:p>
                      <a:r>
                        <a:rPr sz="1800" b="0">
                          <a:solidFill>
                            <a:srgbClr val="18313B"/>
                          </a:solidFill>
                          <a:latin typeface="Arial"/>
                          <a:ea typeface="Arial"/>
                          <a:cs typeface="Arial"/>
                        </a:rPr>
                        <a:t>Venue fees and FX cost</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−€629.55</a:t>
                      </a:r>
                    </a:p>
                  </a:txBody>
                  <a:tcPr marL="91440" marR="91440" marT="45720" marB="45720" anchor="ctr">
                    <a:solidFill>
                      <a:srgbClr val="FFFFFF"/>
                    </a:solidFill>
                  </a:tcPr>
                </a:tc>
              </a:tr>
              <a:tr h="504825">
                <a:tc>
                  <a:txBody>
                    <a:bodyPr lIns="133350" tIns="95250" rIns="133350" bIns="95250"/>
                    <a:lstStyle/>
                    <a:p>
                      <a:r>
                        <a:rPr sz="1800" b="0">
                          <a:solidFill>
                            <a:srgbClr val="18313B"/>
                          </a:solidFill>
                          <a:latin typeface="Arial"/>
                          <a:ea typeface="Arial"/>
                          <a:cs typeface="Arial"/>
                        </a:rPr>
                        <a:t>Net before carry</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−€1,547.98</a:t>
                      </a:r>
                    </a:p>
                  </a:txBody>
                  <a:tcPr marL="91440" marR="91440" marT="45720" marB="45720" anchor="ctr">
                    <a:solidFill>
                      <a:srgbClr val="EDF3F4"/>
                    </a:solidFill>
                  </a:tcPr>
                </a:tc>
              </a:tr>
              <a:tr h="504825">
                <a:tc>
                  <a:txBody>
                    <a:bodyPr lIns="133350" tIns="95250" rIns="133350" bIns="95250"/>
                    <a:lstStyle/>
                    <a:p>
                      <a:r>
                        <a:rPr sz="1800" b="0">
                          <a:solidFill>
                            <a:srgbClr val="18313B"/>
                          </a:solidFill>
                          <a:latin typeface="Arial"/>
                          <a:ea typeface="Arial"/>
                          <a:cs typeface="Arial"/>
                        </a:rPr>
                        <a:t>Carry</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−€191.78</a:t>
                      </a:r>
                    </a:p>
                  </a:txBody>
                  <a:tcPr marL="91440" marR="91440" marT="45720" marB="45720" anchor="ctr">
                    <a:solidFill>
                      <a:srgbClr val="FFFFFF"/>
                    </a:solidFill>
                  </a:tcPr>
                </a:tc>
              </a:tr>
              <a:tr h="504825">
                <a:tc>
                  <a:txBody>
                    <a:bodyPr lIns="133350" tIns="95250" rIns="133350" bIns="95250"/>
                    <a:lstStyle/>
                    <a:p>
                      <a:r>
                        <a:rPr sz="1800" b="0">
                          <a:solidFill>
                            <a:srgbClr val="18313B"/>
                          </a:solidFill>
                          <a:latin typeface="Arial"/>
                          <a:ea typeface="Arial"/>
                          <a:cs typeface="Arial"/>
                        </a:rPr>
                        <a:t>Net after carry</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−€1,739.76</a:t>
                      </a:r>
                    </a:p>
                  </a:txBody>
                  <a:tcPr marL="91440" marR="91440" marT="45720" marB="45720" anchor="ctr">
                    <a:solidFill>
                      <a:srgbClr val="EDF3F4"/>
                    </a:solidFill>
                  </a:tcPr>
                </a:tc>
              </a:tr>
            </a:tbl>
          </a:graphicData>
        </a:graphic>
      </p:graphicFrame>
      <p:sp>
        <p:nvSpPr>
          <p:cNvPr id="8" name="">
            <a:extLst xmlns:a="http://schemas.openxmlformats.org/drawingml/2006/main">
              <a:ext uri="{FF2B5EF4-FFF2-40B4-BE49-F238E27FC236}">
                <a16:creationId xmlns:a16="http://schemas.microsoft.com/office/drawing/2014/main" id="{89C1885C-ED8C-4C58-9C76-53D91EA9D6A8}"/>
              </a:ext>
            </a:extLst>
          </p:cNvPr>
          <p:cNvSpPr>
            <a:spLocks xmlns:a="http://schemas.openxmlformats.org/drawingml/2006/main" noGrp="1"/>
          </p:cNvSpPr>
          <p:nvPr/>
        </p:nvSpPr>
        <p:spPr>
          <a:xfrm xmlns:a="http://schemas.openxmlformats.org/drawingml/2006/main">
            <a:off x="609600" y="57054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56D"/>
                </a:solidFill>
                <a:latin typeface="Arial"/>
                <a:ea typeface="Arial"/>
                <a:cs typeface="Arial"/>
              </a:defRPr>
            </a:def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BTC · 24 Sep–1 Oct 2026 · €100k per leg · &gt; $250M tier · conservative costs</a:t>
            </a:r>
          </a:p>
        </p:txBody>
      </p:sp>
    </p:spTree>
    <p:extLst>
      <p:ext uri="{BB962C8B-B14F-4D97-AF65-F5344CB8AC3E}">
        <p14:creationId xmlns:p14="http://schemas.microsoft.com/office/powerpoint/2010/main" val="16152506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D52676-862B-4771-A2D7-24A4DE42DDC1}"/>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08 · MODEL DIFFERENCES AND EVIDENCE LIMITS</a:t>
            </a:r>
          </a:p>
        </p:txBody>
      </p:sp>
      <p:sp>
        <p:nvSpPr>
          <p:cNvPr id="2" name="">
            <a:extLst xmlns:a="http://schemas.openxmlformats.org/drawingml/2006/main">
              <a:ext uri="{FF2B5EF4-FFF2-40B4-BE49-F238E27FC236}">
                <a16:creationId xmlns:a16="http://schemas.microsoft.com/office/drawing/2014/main" id="{E4F98303-51F8-4585-B9A3-67E8AAF5DEDC}"/>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Replay must match live before it predicts live</a:t>
            </a:r>
          </a:p>
        </p:txBody>
      </p:sp>
      <p:sp>
        <p:nvSpPr>
          <p:cNvPr id="3" name="">
            <a:extLst xmlns:a="http://schemas.openxmlformats.org/drawingml/2006/main">
              <a:ext uri="{FF2B5EF4-FFF2-40B4-BE49-F238E27FC236}">
                <a16:creationId xmlns:a16="http://schemas.microsoft.com/office/drawing/2014/main" id="{8C7FCAC8-7A22-4F11-A2A5-C59FE454706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4ED5AF-19D5-4E84-AFEA-F724F373E221}"/>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enhanced_signals.py; bsdex_historical_bt.py; quote_recorder.py.</a:t>
            </a:r>
          </a:p>
        </p:txBody>
      </p:sp>
      <p:sp>
        <p:nvSpPr>
          <p:cNvPr id="5" name="">
            <a:extLst xmlns:a="http://schemas.openxmlformats.org/drawingml/2006/main">
              <a:ext uri="{FF2B5EF4-FFF2-40B4-BE49-F238E27FC236}">
                <a16:creationId xmlns:a16="http://schemas.microsoft.com/office/drawing/2014/main" id="{EE652A49-5658-4C80-8C68-CAB48F1147BA}"/>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09</a:t>
            </a:r>
          </a:p>
        </p:txBody>
      </p:sp>
      <p:graphicFrame>
        <p:nvGraphicFramePr>
          <p:cNvPr id="6" name="">
            <a:extLst xmlns:a="http://schemas.openxmlformats.org/drawingml/2006/main">
              <a:ext uri="{FF2B5EF4-FFF2-40B4-BE49-F238E27FC236}">
                <a16:creationId xmlns:a16="http://schemas.microsoft.com/office/drawing/2014/main" id="{78810124-39EF-45C5-84BF-11B2EAA96DD2}"/>
              </a:ext>
            </a:extLst>
          </p:cNvPr>
          <p:cNvGraphicFramePr/>
          <p:nvPr/>
        </p:nvGraphicFramePr>
        <p:xfrm>
          <a:off xmlns:a="http://schemas.openxmlformats.org/drawingml/2006/main" x="609600" y="1790700"/>
          <a:ext xmlns:a="http://schemas.openxmlformats.org/drawingml/2006/main" cx="10972800" cy="3600450"/>
        </p:xfrm>
        <a:graphic xmlns:a="http://schemas.openxmlformats.org/drawingml/2006/main">
          <a:graphicData uri="http://schemas.openxmlformats.org/drawingml/2006/table">
            <a:tbl>
              <a:tblPr/>
              <a:tblGrid>
                <a:gridCol w="2400300"/>
                <a:gridCol w="2571750"/>
                <a:gridCol w="2571750"/>
                <a:gridCol w="3429000"/>
              </a:tblGrid>
              <a:tr h="600075">
                <a:tc>
                  <a:txBody>
                    <a:bodyPr lIns="133350" tIns="95250" rIns="133350" bIns="95250"/>
                    <a:lstStyle/>
                    <a:p>
                      <a:r>
                        <a:rPr sz="1725" b="1">
                          <a:solidFill>
                            <a:srgbClr val="FFFFFF"/>
                          </a:solidFill>
                          <a:latin typeface="Arial"/>
                          <a:ea typeface="Arial"/>
                          <a:cs typeface="Arial"/>
                        </a:rPr>
                        <a:t>Setting</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Live paper</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Candle replay</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Quote replay</a:t>
                      </a:r>
                    </a:p>
                  </a:txBody>
                  <a:tcPr marL="91440" marR="91440" marT="45720" marB="45720" anchor="ctr">
                    <a:solidFill>
                      <a:srgbClr val="173C4A"/>
                    </a:solidFill>
                  </a:tcPr>
                </a:tc>
              </a:tr>
              <a:tr h="600075">
                <a:tc>
                  <a:txBody>
                    <a:bodyPr lIns="133350" tIns="95250" rIns="133350" bIns="95250"/>
                    <a:lstStyle/>
                    <a:p>
                      <a:r>
                        <a:rPr sz="1725" b="0">
                          <a:solidFill>
                            <a:srgbClr val="18313B"/>
                          </a:solidFill>
                          <a:latin typeface="Arial"/>
                          <a:ea typeface="Arial"/>
                          <a:cs typeface="Arial"/>
                        </a:rPr>
                        <a:t>Signal history</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~30 seconds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60 minutes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60 minutes</a:t>
                      </a:r>
                    </a:p>
                  </a:txBody>
                  <a:tcPr marL="91440" marR="91440" marT="45720" marB="45720" anchor="ctr">
                    <a:solidFill>
                      <a:srgbClr val="EDF3F4"/>
                    </a:solidFill>
                  </a:tcPr>
                </a:tc>
              </a:tr>
              <a:tr h="600075">
                <a:tc>
                  <a:txBody>
                    <a:bodyPr lIns="133350" tIns="95250" rIns="133350" bIns="95250"/>
                    <a:lstStyle/>
                    <a:p>
                      <a:r>
                        <a:rPr sz="1725" b="0">
                          <a:solidFill>
                            <a:srgbClr val="18313B"/>
                          </a:solidFill>
                          <a:latin typeface="Arial"/>
                          <a:ea typeface="Arial"/>
                          <a:cs typeface="Arial"/>
                        </a:rPr>
                        <a:t>Entry threshold</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Adaptive 0.3–2.0</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Fixed 1.5</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Fixed 1.5</a:t>
                      </a:r>
                    </a:p>
                  </a:txBody>
                  <a:tcPr marL="91440" marR="91440" marT="45720" marB="45720" anchor="ctr">
                    <a:solidFill>
                      <a:srgbClr val="FFFFFF"/>
                    </a:solidFill>
                  </a:tcPr>
                </a:tc>
              </a:tr>
              <a:tr h="600075">
                <a:tc>
                  <a:txBody>
                    <a:bodyPr lIns="133350" tIns="95250" rIns="133350" bIns="95250"/>
                    <a:lstStyle/>
                    <a:p>
                      <a:r>
                        <a:rPr sz="1725" b="0">
                          <a:solidFill>
                            <a:srgbClr val="18313B"/>
                          </a:solidFill>
                          <a:latin typeface="Arial"/>
                          <a:ea typeface="Arial"/>
                          <a:cs typeface="Arial"/>
                        </a:rPr>
                        <a:t>Cooldown</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30 seconds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30 minutes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30 minutes</a:t>
                      </a:r>
                    </a:p>
                  </a:txBody>
                  <a:tcPr marL="91440" marR="91440" marT="45720" marB="45720" anchor="ctr">
                    <a:solidFill>
                      <a:srgbClr val="EDF3F4"/>
                    </a:solidFill>
                  </a:tcPr>
                </a:tc>
              </a:tr>
              <a:tr h="600075">
                <a:tc>
                  <a:txBody>
                    <a:bodyPr lIns="133350" tIns="95250" rIns="133350" bIns="95250"/>
                    <a:lstStyle/>
                    <a:p>
                      <a:r>
                        <a:rPr sz="1725" b="0">
                          <a:solidFill>
                            <a:srgbClr val="18313B"/>
                          </a:solidFill>
                          <a:latin typeface="Arial"/>
                          <a:ea typeface="Arial"/>
                          <a:cs typeface="Arial"/>
                        </a:rPr>
                        <a:t>Fill timing</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First tick ≥300 ms</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Next minute</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Next eligible snapshot</a:t>
                      </a:r>
                    </a:p>
                  </a:txBody>
                  <a:tcPr marL="91440" marR="91440" marT="45720" marB="45720" anchor="ctr">
                    <a:solidFill>
                      <a:srgbClr val="FFFFFF"/>
                    </a:solidFill>
                  </a:tcPr>
                </a:tc>
              </a:tr>
              <a:tr h="600075">
                <a:tc>
                  <a:txBody>
                    <a:bodyPr lIns="133350" tIns="95250" rIns="133350" bIns="95250"/>
                    <a:lstStyle/>
                    <a:p>
                      <a:r>
                        <a:rPr sz="1725" b="0">
                          <a:solidFill>
                            <a:srgbClr val="18313B"/>
                          </a:solidFill>
                          <a:latin typeface="Arial"/>
                          <a:ea typeface="Arial"/>
                          <a:cs typeface="Arial"/>
                        </a:rPr>
                        <a:t>Prices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Book VWAP</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Closes + cost model</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Recorded top-five VWAP</a:t>
                      </a:r>
                    </a:p>
                  </a:txBody>
                  <a:tcPr marL="91440" marR="91440" marT="45720" marB="45720" anchor="ctr">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0EBDEB50-824D-4151-9350-231DFE18B489}"/>
              </a:ext>
            </a:extLst>
          </p:cNvPr>
          <p:cNvSpPr>
            <a:spLocks xmlns:a="http://schemas.openxmlformats.org/drawingml/2006/main" noGrp="1"/>
          </p:cNvSpPr>
          <p:nvPr/>
        </p:nvSpPr>
        <p:spPr>
          <a:xfrm xmlns:a="http://schemas.openxmlformats.org/drawingml/2006/main">
            <a:off x="609600" y="5581650"/>
            <a:ext cx="10858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33639"/>
                </a:solidFill>
                <a:latin typeface="Arial"/>
                <a:ea typeface="Arial"/>
                <a:cs typeface="Arial"/>
              </a:defRPr>
            </a:defPPr>
          </a:lstStyle>
          <a:p xmlns:a="http://schemas.openxmlformats.org/drawingml/2006/main">
            <a:pPr>
              <a:defRPr sz="1800" b="0">
                <a:solidFill>
                  <a:srgbClr val="A33639"/>
                </a:solidFill>
                <a:latin typeface="Arial"/>
                <a:ea typeface="Arial"/>
                <a:cs typeface="Arial"/>
              </a:defRPr>
            </a:pPr>
            <a:r>
              <a:rPr sz="1800" b="0">
                <a:solidFill>
                  <a:srgbClr val="A33639"/>
                </a:solidFill>
                <a:latin typeface="Arial"/>
                <a:ea typeface="Arial"/>
                <a:cs typeface="Arial"/>
              </a:rPr>
              <a:t>One-second recording cannot resolve a 300 ms fill path. The saved 19-minute sample is too short for the quote model’s 60-minute signal window.</a:t>
            </a:r>
          </a:p>
        </p:txBody>
      </p:sp>
    </p:spTree>
    <p:extLst>
      <p:ext uri="{BB962C8B-B14F-4D97-AF65-F5344CB8AC3E}">
        <p14:creationId xmlns:p14="http://schemas.microsoft.com/office/powerpoint/2010/main" val="5928629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C0F07A-1F7B-4FC9-8F81-4437E655717A}"/>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09 · CONDITIONAL INSTITUTIONAL IMPROVEMENTS</a:t>
            </a:r>
          </a:p>
        </p:txBody>
      </p:sp>
      <p:sp>
        <p:nvSpPr>
          <p:cNvPr id="2" name="">
            <a:extLst xmlns:a="http://schemas.openxmlformats.org/drawingml/2006/main">
              <a:ext uri="{FF2B5EF4-FFF2-40B4-BE49-F238E27FC236}">
                <a16:creationId xmlns:a16="http://schemas.microsoft.com/office/drawing/2014/main" id="{F01A259C-9118-4FEB-B3CA-7D909B842AE0}"/>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Bank desks can reduce specific frictions</a:t>
            </a:r>
          </a:p>
        </p:txBody>
      </p:sp>
      <p:sp>
        <p:nvSpPr>
          <p:cNvPr id="3" name="">
            <a:extLst xmlns:a="http://schemas.openxmlformats.org/drawingml/2006/main">
              <a:ext uri="{FF2B5EF4-FFF2-40B4-BE49-F238E27FC236}">
                <a16:creationId xmlns:a16="http://schemas.microsoft.com/office/drawing/2014/main" id="{FCF7D75D-72AC-48EF-82C8-B8654E724C9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3ED326-D54D-483C-977B-DBF21224BDC7}"/>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project constraints; ECB and BIS guidance. These are proposals, not secured arrangements.</a:t>
            </a:r>
          </a:p>
        </p:txBody>
      </p:sp>
      <p:sp>
        <p:nvSpPr>
          <p:cNvPr id="5" name="">
            <a:extLst xmlns:a="http://schemas.openxmlformats.org/drawingml/2006/main">
              <a:ext uri="{FF2B5EF4-FFF2-40B4-BE49-F238E27FC236}">
                <a16:creationId xmlns:a16="http://schemas.microsoft.com/office/drawing/2014/main" id="{C9E551FD-CE67-44A2-A116-0F04FEB65DAB}"/>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10</a:t>
            </a:r>
          </a:p>
        </p:txBody>
      </p:sp>
      <p:graphicFrame>
        <p:nvGraphicFramePr>
          <p:cNvPr id="6" name="">
            <a:extLst xmlns:a="http://schemas.openxmlformats.org/drawingml/2006/main">
              <a:ext uri="{FF2B5EF4-FFF2-40B4-BE49-F238E27FC236}">
                <a16:creationId xmlns:a16="http://schemas.microsoft.com/office/drawing/2014/main" id="{5ECFF5C1-1FE6-42F8-B061-3D6EA9A19062}"/>
              </a:ext>
            </a:extLst>
          </p:cNvPr>
          <p:cNvGraphicFramePr/>
          <p:nvPr/>
        </p:nvGraphicFramePr>
        <p:xfrm>
          <a:off xmlns:a="http://schemas.openxmlformats.org/drawingml/2006/main" x="609600" y="1809750"/>
          <a:ext xmlns:a="http://schemas.openxmlformats.org/drawingml/2006/main" cx="10972800" cy="4000500"/>
        </p:xfrm>
        <a:graphic xmlns:a="http://schemas.openxmlformats.org/drawingml/2006/main">
          <a:graphicData uri="http://schemas.openxmlformats.org/drawingml/2006/table">
            <a:tbl>
              <a:tblPr/>
              <a:tblGrid>
                <a:gridCol w="3181350"/>
                <a:gridCol w="4248150"/>
                <a:gridCol w="3543300"/>
              </a:tblGrid>
              <a:tr h="666750">
                <a:tc>
                  <a:txBody>
                    <a:bodyPr lIns="133350" tIns="95250" rIns="133350" bIns="95250"/>
                    <a:lstStyle/>
                    <a:p>
                      <a:r>
                        <a:rPr sz="1725" b="1">
                          <a:solidFill>
                            <a:srgbClr val="FFFFFF"/>
                          </a:solidFill>
                          <a:latin typeface="Arial"/>
                          <a:ea typeface="Arial"/>
                          <a:cs typeface="Arial"/>
                        </a:rPr>
                        <a:t>Desk</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Potential benefit</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Residual constraint</a:t>
                      </a:r>
                    </a:p>
                  </a:txBody>
                  <a:tcPr marL="91440" marR="91440" marT="45720" marB="45720" anchor="ctr">
                    <a:solidFill>
                      <a:srgbClr val="173C4A"/>
                    </a:solidFill>
                  </a:tcPr>
                </a:tc>
              </a:tr>
              <a:tr h="666750">
                <a:tc>
                  <a:txBody>
                    <a:bodyPr lIns="133350" tIns="95250" rIns="133350" bIns="95250"/>
                    <a:lstStyle/>
                    <a:p>
                      <a:r>
                        <a:rPr sz="1725" b="0">
                          <a:solidFill>
                            <a:srgbClr val="18313B"/>
                          </a:solidFill>
                          <a:latin typeface="Arial"/>
                          <a:ea typeface="Arial"/>
                          <a:cs typeface="Arial"/>
                        </a:rPr>
                        <a:t>Digital assets / execution</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Actual fees, direct feeds, lower latency</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An edge may still be absent</a:t>
                      </a:r>
                    </a:p>
                  </a:txBody>
                  <a:tcPr marL="91440" marR="91440" marT="45720" marB="45720" anchor="ctr">
                    <a:solidFill>
                      <a:srgbClr val="EDF3F4"/>
                    </a:solidFill>
                  </a:tcPr>
                </a:tc>
              </a:tr>
              <a:tr h="666750">
                <a:tc>
                  <a:txBody>
                    <a:bodyPr lIns="133350" tIns="95250" rIns="133350" bIns="95250"/>
                    <a:lstStyle/>
                    <a:p>
                      <a:r>
                        <a:rPr sz="1725" b="0">
                          <a:solidFill>
                            <a:srgbClr val="18313B"/>
                          </a:solidFill>
                          <a:latin typeface="Arial"/>
                          <a:ea typeface="Arial"/>
                          <a:cs typeface="Arial"/>
                        </a:rPr>
                        <a:t>FX</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Executable conversion; net flows</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USDT basis and liquidity</a:t>
                      </a:r>
                    </a:p>
                  </a:txBody>
                  <a:tcPr marL="91440" marR="91440" marT="45720" marB="45720" anchor="ctr">
                    <a:solidFill>
                      <a:srgbClr val="FFFFFF"/>
                    </a:solidFill>
                  </a:tcPr>
                </a:tc>
              </a:tr>
              <a:tr h="666750">
                <a:tc>
                  <a:txBody>
                    <a:bodyPr lIns="133350" tIns="95250" rIns="133350" bIns="95250"/>
                    <a:lstStyle/>
                    <a:p>
                      <a:r>
                        <a:rPr sz="1725" b="0">
                          <a:solidFill>
                            <a:srgbClr val="18313B"/>
                          </a:solidFill>
                          <a:latin typeface="Arial"/>
                          <a:ea typeface="Arial"/>
                          <a:cs typeface="Arial"/>
                        </a:rPr>
                        <a:t>Treasury / money markets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Shared funding and cash buffers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Funding and capital charges</a:t>
                      </a:r>
                    </a:p>
                  </a:txBody>
                  <a:tcPr marL="91440" marR="91440" marT="45720" marB="45720" anchor="ctr">
                    <a:solidFill>
                      <a:srgbClr val="EDF3F4"/>
                    </a:solidFill>
                  </a:tcPr>
                </a:tc>
              </a:tr>
              <a:tr h="666750">
                <a:tc>
                  <a:txBody>
                    <a:bodyPr lIns="133350" tIns="95250" rIns="133350" bIns="95250"/>
                    <a:lstStyle/>
                    <a:p>
                      <a:r>
                        <a:rPr sz="1725" b="0">
                          <a:solidFill>
                            <a:srgbClr val="18313B"/>
                          </a:solidFill>
                          <a:latin typeface="Arial"/>
                          <a:ea typeface="Arial"/>
                          <a:cs typeface="Arial"/>
                        </a:rPr>
                        <a:t>Financing / hedging</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Inventory access; approved hedges</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Borrow cost, basis and slippage</a:t>
                      </a:r>
                    </a:p>
                  </a:txBody>
                  <a:tcPr marL="91440" marR="91440" marT="45720" marB="45720" anchor="ctr">
                    <a:solidFill>
                      <a:srgbClr val="FFFFFF"/>
                    </a:solidFill>
                  </a:tcPr>
                </a:tc>
              </a:tr>
              <a:tr h="666750">
                <a:tc>
                  <a:txBody>
                    <a:bodyPr lIns="133350" tIns="95250" rIns="133350" bIns="95250"/>
                    <a:lstStyle/>
                    <a:p>
                      <a:r>
                        <a:rPr sz="1725" b="0">
                          <a:solidFill>
                            <a:srgbClr val="18313B"/>
                          </a:solidFill>
                          <a:latin typeface="Arial"/>
                          <a:ea typeface="Arial"/>
                          <a:cs typeface="Arial"/>
                        </a:rPr>
                        <a:t>Custody / operations / risk</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Rebalancing, limits and reconciliation</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Venue and settlement risk</a:t>
                      </a:r>
                    </a:p>
                  </a:txBody>
                  <a:tcPr marL="91440" marR="91440" marT="45720" marB="45720" anchor="ctr">
                    <a:solidFill>
                      <a:srgbClr val="EDF3F4"/>
                    </a:solidFill>
                  </a:tcPr>
                </a:tc>
              </a:tr>
            </a:tbl>
          </a:graphicData>
        </a:graphic>
      </p:graphicFrame>
    </p:spTree>
    <p:extLst>
      <p:ext uri="{BB962C8B-B14F-4D97-AF65-F5344CB8AC3E}">
        <p14:creationId xmlns:p14="http://schemas.microsoft.com/office/powerpoint/2010/main" val="9081794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2E0F8BC-D533-4676-99A3-EB0934ADCE28}"/>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10 · DECISION AND NEXT EVIDENCE</a:t>
            </a:r>
          </a:p>
        </p:txBody>
      </p:sp>
      <p:sp>
        <p:nvSpPr>
          <p:cNvPr id="2" name="">
            <a:extLst xmlns:a="http://schemas.openxmlformats.org/drawingml/2006/main">
              <a:ext uri="{FF2B5EF4-FFF2-40B4-BE49-F238E27FC236}">
                <a16:creationId xmlns:a16="http://schemas.microsoft.com/office/drawing/2014/main" id="{9B3416DC-D855-4931-9B5F-011EB38E95DD}"/>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Continue as a measured paper pilot</a:t>
            </a:r>
          </a:p>
        </p:txBody>
      </p:sp>
      <p:sp>
        <p:nvSpPr>
          <p:cNvPr id="3" name="">
            <a:extLst xmlns:a="http://schemas.openxmlformats.org/drawingml/2006/main">
              <a:ext uri="{FF2B5EF4-FFF2-40B4-BE49-F238E27FC236}">
                <a16:creationId xmlns:a16="http://schemas.microsoft.com/office/drawing/2014/main" id="{C677B89F-9E81-4B2A-8291-3C0BC4BC432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B3BD510-6C9F-4098-8B6C-C9E9559EA374}"/>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synthesis of code review and saved results. Further investment depends on measured net economics.</a:t>
            </a:r>
          </a:p>
        </p:txBody>
      </p:sp>
      <p:sp>
        <p:nvSpPr>
          <p:cNvPr id="5" name="">
            <a:extLst xmlns:a="http://schemas.openxmlformats.org/drawingml/2006/main">
              <a:ext uri="{FF2B5EF4-FFF2-40B4-BE49-F238E27FC236}">
                <a16:creationId xmlns:a16="http://schemas.microsoft.com/office/drawing/2014/main" id="{BB5B6D48-B47C-4586-8F6D-A1EC5875E6D0}"/>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0A356947-E98A-4E24-A948-76E666DF7343}"/>
              </a:ext>
            </a:extLst>
          </p:cNvPr>
          <p:cNvSpPr>
            <a:spLocks xmlns:a="http://schemas.openxmlformats.org/drawingml/2006/main" noGrp="1"/>
          </p:cNvSpPr>
          <p:nvPr/>
        </p:nvSpPr>
        <p:spPr>
          <a:xfrm xmlns:a="http://schemas.openxmlformats.org/drawingml/2006/main">
            <a:off x="609600" y="1885950"/>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47A78"/>
                </a:solidFill>
                <a:latin typeface="Arial"/>
                <a:ea typeface="Arial"/>
                <a:cs typeface="Arial"/>
              </a:defRPr>
            </a:defPPr>
          </a:lstStyle>
          <a:p xmlns:a="http://schemas.openxmlformats.org/drawingml/2006/main">
            <a:pPr>
              <a:defRPr sz="2700" b="1">
                <a:solidFill>
                  <a:srgbClr val="347A78"/>
                </a:solidFill>
                <a:latin typeface="Arial"/>
                <a:ea typeface="Arial"/>
                <a:cs typeface="Arial"/>
              </a:defRPr>
            </a:pPr>
            <a:r>
              <a:rPr sz="2700" b="1">
                <a:solidFill>
                  <a:srgbClr val="347A78"/>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AA9AB5EE-CDEF-481A-A934-72EDC6222ABE}"/>
              </a:ext>
            </a:extLst>
          </p:cNvPr>
          <p:cNvSpPr>
            <a:spLocks xmlns:a="http://schemas.openxmlformats.org/drawingml/2006/main" noGrp="1"/>
          </p:cNvSpPr>
          <p:nvPr/>
        </p:nvSpPr>
        <p:spPr>
          <a:xfrm xmlns:a="http://schemas.openxmlformats.org/drawingml/2006/main">
            <a:off x="1257300" y="188595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4A"/>
                </a:solidFill>
                <a:latin typeface="Arial"/>
                <a:ea typeface="Arial"/>
                <a:cs typeface="Arial"/>
              </a:defRPr>
            </a:defPPr>
          </a:lstStyle>
          <a:p xmlns:a="http://schemas.openxmlformats.org/drawingml/2006/main">
            <a:pPr>
              <a:defRPr sz="2250" b="1">
                <a:solidFill>
                  <a:srgbClr val="173C4A"/>
                </a:solidFill>
                <a:latin typeface="Arial"/>
                <a:ea typeface="Arial"/>
                <a:cs typeface="Arial"/>
              </a:defRPr>
            </a:pPr>
            <a:r>
              <a:rPr sz="2250" b="1">
                <a:solidFill>
                  <a:srgbClr val="173C4A"/>
                </a:solidFill>
                <a:latin typeface="Arial"/>
                <a:ea typeface="Arial"/>
                <a:cs typeface="Arial"/>
              </a:rPr>
              <a:t>Confirm the real economics</a:t>
            </a:r>
          </a:p>
        </p:txBody>
      </p:sp>
      <p:sp>
        <p:nvSpPr>
          <p:cNvPr id="8" name="">
            <a:extLst xmlns:a="http://schemas.openxmlformats.org/drawingml/2006/main">
              <a:ext uri="{FF2B5EF4-FFF2-40B4-BE49-F238E27FC236}">
                <a16:creationId xmlns:a16="http://schemas.microsoft.com/office/drawing/2014/main" id="{3EC4B314-CB62-4E1F-B5F2-30A4123F1996}"/>
              </a:ext>
            </a:extLst>
          </p:cNvPr>
          <p:cNvSpPr>
            <a:spLocks xmlns:a="http://schemas.openxmlformats.org/drawingml/2006/main" noGrp="1"/>
          </p:cNvSpPr>
          <p:nvPr/>
        </p:nvSpPr>
        <p:spPr>
          <a:xfrm xmlns:a="http://schemas.openxmlformats.org/drawingml/2006/main">
            <a:off x="1257300" y="237172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Use contracted venue and FX prices, funding, inventory and rebalancing costs.</a:t>
            </a:r>
          </a:p>
        </p:txBody>
      </p:sp>
      <p:sp>
        <p:nvSpPr>
          <p:cNvPr id="9" name="">
            <a:extLst xmlns:a="http://schemas.openxmlformats.org/drawingml/2006/main">
              <a:ext uri="{FF2B5EF4-FFF2-40B4-BE49-F238E27FC236}">
                <a16:creationId xmlns:a16="http://schemas.microsoft.com/office/drawing/2014/main" id="{C289BBF2-841D-411A-A81E-8A2C1530DC22}"/>
              </a:ext>
            </a:extLst>
          </p:cNvPr>
          <p:cNvSpPr>
            <a:spLocks xmlns:a="http://schemas.openxmlformats.org/drawingml/2006/main" noGrp="1"/>
          </p:cNvSpPr>
          <p:nvPr/>
        </p:nvSpPr>
        <p:spPr>
          <a:xfrm xmlns:a="http://schemas.openxmlformats.org/drawingml/2006/main">
            <a:off x="609600" y="3209925"/>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47A78"/>
                </a:solidFill>
                <a:latin typeface="Arial"/>
                <a:ea typeface="Arial"/>
                <a:cs typeface="Arial"/>
              </a:defRPr>
            </a:defPPr>
          </a:lstStyle>
          <a:p xmlns:a="http://schemas.openxmlformats.org/drawingml/2006/main">
            <a:pPr>
              <a:defRPr sz="2700" b="1">
                <a:solidFill>
                  <a:srgbClr val="347A78"/>
                </a:solidFill>
                <a:latin typeface="Arial"/>
                <a:ea typeface="Arial"/>
                <a:cs typeface="Arial"/>
              </a:defRPr>
            </a:pPr>
            <a:r>
              <a:rPr sz="2700" b="1">
                <a:solidFill>
                  <a:srgbClr val="347A78"/>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A652793B-2CC5-4C7B-85AF-76FC991E94B7}"/>
              </a:ext>
            </a:extLst>
          </p:cNvPr>
          <p:cNvSpPr>
            <a:spLocks xmlns:a="http://schemas.openxmlformats.org/drawingml/2006/main" noGrp="1"/>
          </p:cNvSpPr>
          <p:nvPr/>
        </p:nvSpPr>
        <p:spPr>
          <a:xfrm xmlns:a="http://schemas.openxmlformats.org/drawingml/2006/main">
            <a:off x="1257300" y="320992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4A"/>
                </a:solidFill>
                <a:latin typeface="Arial"/>
                <a:ea typeface="Arial"/>
                <a:cs typeface="Arial"/>
              </a:defRPr>
            </a:defPPr>
          </a:lstStyle>
          <a:p xmlns:a="http://schemas.openxmlformats.org/drawingml/2006/main">
            <a:pPr>
              <a:defRPr sz="2250" b="1">
                <a:solidFill>
                  <a:srgbClr val="173C4A"/>
                </a:solidFill>
                <a:latin typeface="Arial"/>
                <a:ea typeface="Arial"/>
                <a:cs typeface="Arial"/>
              </a:defRPr>
            </a:pPr>
            <a:r>
              <a:rPr sz="2250" b="1">
                <a:solidFill>
                  <a:srgbClr val="173C4A"/>
                </a:solidFill>
                <a:latin typeface="Arial"/>
                <a:ea typeface="Arial"/>
                <a:cs typeface="Arial"/>
              </a:rPr>
              <a:t>Make live and replay comparable</a:t>
            </a:r>
          </a:p>
        </p:txBody>
      </p:sp>
      <p:sp>
        <p:nvSpPr>
          <p:cNvPr id="11" name="">
            <a:extLst xmlns:a="http://schemas.openxmlformats.org/drawingml/2006/main">
              <a:ext uri="{FF2B5EF4-FFF2-40B4-BE49-F238E27FC236}">
                <a16:creationId xmlns:a16="http://schemas.microsoft.com/office/drawing/2014/main" id="{4EF101F3-8EDD-40E3-AFBF-CA55795895DD}"/>
              </a:ext>
            </a:extLst>
          </p:cNvPr>
          <p:cNvSpPr>
            <a:spLocks xmlns:a="http://schemas.openxmlformats.org/drawingml/2006/main" noGrp="1"/>
          </p:cNvSpPr>
          <p:nvPr/>
        </p:nvSpPr>
        <p:spPr>
          <a:xfrm xmlns:a="http://schemas.openxmlformats.org/drawingml/2006/main">
            <a:off x="1257300" y="3695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Align the rules; collect longer depth history; measure signal-to-fill deterioration.</a:t>
            </a:r>
          </a:p>
        </p:txBody>
      </p:sp>
      <p:sp>
        <p:nvSpPr>
          <p:cNvPr id="12" name="">
            <a:extLst xmlns:a="http://schemas.openxmlformats.org/drawingml/2006/main">
              <a:ext uri="{FF2B5EF4-FFF2-40B4-BE49-F238E27FC236}">
                <a16:creationId xmlns:a16="http://schemas.microsoft.com/office/drawing/2014/main" id="{3F8FF113-6743-4304-9133-1D2B8C27BD3F}"/>
              </a:ext>
            </a:extLst>
          </p:cNvPr>
          <p:cNvSpPr>
            <a:spLocks xmlns:a="http://schemas.openxmlformats.org/drawingml/2006/main" noGrp="1"/>
          </p:cNvSpPr>
          <p:nvPr/>
        </p:nvSpPr>
        <p:spPr>
          <a:xfrm xmlns:a="http://schemas.openxmlformats.org/drawingml/2006/main">
            <a:off x="609600" y="4533900"/>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47A78"/>
                </a:solidFill>
                <a:latin typeface="Arial"/>
                <a:ea typeface="Arial"/>
                <a:cs typeface="Arial"/>
              </a:defRPr>
            </a:defPPr>
          </a:lstStyle>
          <a:p xmlns:a="http://schemas.openxmlformats.org/drawingml/2006/main">
            <a:pPr>
              <a:defRPr sz="2700" b="1">
                <a:solidFill>
                  <a:srgbClr val="347A78"/>
                </a:solidFill>
                <a:latin typeface="Arial"/>
                <a:ea typeface="Arial"/>
                <a:cs typeface="Arial"/>
              </a:defRPr>
            </a:pPr>
            <a:r>
              <a:rPr sz="2700" b="1">
                <a:solidFill>
                  <a:srgbClr val="347A78"/>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A47D3D61-DFCC-4482-84E4-EFBACD426687}"/>
              </a:ext>
            </a:extLst>
          </p:cNvPr>
          <p:cNvSpPr>
            <a:spLocks xmlns:a="http://schemas.openxmlformats.org/drawingml/2006/main" noGrp="1"/>
          </p:cNvSpPr>
          <p:nvPr/>
        </p:nvSpPr>
        <p:spPr>
          <a:xfrm xmlns:a="http://schemas.openxmlformats.org/drawingml/2006/main">
            <a:off x="1257300" y="453390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4A"/>
                </a:solidFill>
                <a:latin typeface="Arial"/>
                <a:ea typeface="Arial"/>
                <a:cs typeface="Arial"/>
              </a:defRPr>
            </a:defPPr>
          </a:lstStyle>
          <a:p xmlns:a="http://schemas.openxmlformats.org/drawingml/2006/main">
            <a:pPr>
              <a:defRPr sz="2250" b="1">
                <a:solidFill>
                  <a:srgbClr val="173C4A"/>
                </a:solidFill>
                <a:latin typeface="Arial"/>
                <a:ea typeface="Arial"/>
                <a:cs typeface="Arial"/>
              </a:defRPr>
            </a:pPr>
            <a:r>
              <a:rPr sz="2250" b="1">
                <a:solidFill>
                  <a:srgbClr val="173C4A"/>
                </a:solidFill>
                <a:latin typeface="Arial"/>
                <a:ea typeface="Arial"/>
                <a:cs typeface="Arial"/>
              </a:rPr>
              <a:t>Require positive results after every cost</a:t>
            </a:r>
          </a:p>
        </p:txBody>
      </p:sp>
      <p:sp>
        <p:nvSpPr>
          <p:cNvPr id="14" name="">
            <a:extLst xmlns:a="http://schemas.openxmlformats.org/drawingml/2006/main">
              <a:ext uri="{FF2B5EF4-FFF2-40B4-BE49-F238E27FC236}">
                <a16:creationId xmlns:a16="http://schemas.microsoft.com/office/drawing/2014/main" id="{87D9E9F1-92D0-449D-BB4A-4F4E8F043C73}"/>
              </a:ext>
            </a:extLst>
          </p:cNvPr>
          <p:cNvSpPr>
            <a:spLocks xmlns:a="http://schemas.openxmlformats.org/drawingml/2006/main" noGrp="1"/>
          </p:cNvSpPr>
          <p:nvPr/>
        </p:nvSpPr>
        <p:spPr>
          <a:xfrm xmlns:a="http://schemas.openxmlformats.org/drawingml/2006/main">
            <a:off x="1257300" y="501967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Test out of sample, including failed and partial fills, with clear loss limits.</a:t>
            </a:r>
          </a:p>
        </p:txBody>
      </p:sp>
    </p:spTree>
    <p:extLst>
      <p:ext uri="{BB962C8B-B14F-4D97-AF65-F5344CB8AC3E}">
        <p14:creationId xmlns:p14="http://schemas.microsoft.com/office/powerpoint/2010/main" val="12359067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2026-10-12T21:12:41.9930000Z</dcterms:created>
  <dcterms:modified xsi:type="dcterms:W3CDTF">2026-10-12T21:12:41.9930000Z</dcterms:modified>
</coreProperties>
</file>
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74e09225f904032" /><Relationship Type="http://schemas.openxmlformats.org/officeDocument/2006/relationships/extended-properties" Target="/docProps/app.xml" Id="R2896d05a3e0947f2" /><Relationship Type="http://schemas.openxmlformats.org/officeDocument/2006/relationships/officeDocument" Target="/ppt/presentation.xml" Id="Rb5c56519caa44c04" /></Relationships>
</file>

<file path=ppt/presentation.xml><?xml version="1.0" encoding="utf-8"?>
<p:presentation xmlns:p="http://schemas.openxmlformats.org/presentationml/2006/main">
  <p:sldMasterIdLst>
    <p:sldMasterId xmlns:r="http://schemas.openxmlformats.org/officeDocument/2006/relationships" id="2147483648" r:id="R19ccf6bc0a144521"/>
  </p:sldMasterIdLst>
  <p:notesMasterIdLst>
    <p:notesMasterId xmlns:r="http://schemas.openxmlformats.org/officeDocument/2006/relationships" r:id="R368466c98e59452a"/>
  </p:notesMasterIdLst>
  <p:sldIdLst>
    <p:sldId xmlns:r="http://schemas.openxmlformats.org/officeDocument/2006/relationships" id="256" r:id="R31f179ae268a487e"/>
    <p:sldId xmlns:r="http://schemas.openxmlformats.org/officeDocument/2006/relationships" id="257" r:id="R215afbff1a064962"/>
    <p:sldId xmlns:r="http://schemas.openxmlformats.org/officeDocument/2006/relationships" id="258" r:id="R53b24da31d9c4c00"/>
    <p:sldId xmlns:r="http://schemas.openxmlformats.org/officeDocument/2006/relationships" id="259" r:id="R4242cdb107e34059"/>
    <p:sldId xmlns:r="http://schemas.openxmlformats.org/officeDocument/2006/relationships" id="260" r:id="R93288eb9f5bb4806"/>
    <p:sldId xmlns:r="http://schemas.openxmlformats.org/officeDocument/2006/relationships" id="261" r:id="Rb3ba9384cea24d97"/>
    <p:sldId xmlns:r="http://schemas.openxmlformats.org/officeDocument/2006/relationships" id="262" r:id="R4d7c920028764b95"/>
    <p:sldId xmlns:r="http://schemas.openxmlformats.org/officeDocument/2006/relationships" id="263" r:id="R04c63f2632ff4a3d"/>
    <p:sldId xmlns:r="http://schemas.openxmlformats.org/officeDocument/2006/relationships" id="264" r:id="R2e2764ab38474d53"/>
    <p:sldId xmlns:r="http://schemas.openxmlformats.org/officeDocument/2006/relationships" id="265" r:id="Rd2de236ca9a2437b"/>
    <p:sldId xmlns:r="http://schemas.openxmlformats.org/officeDocument/2006/relationships" id="266" r:id="Reca11c3f5d384b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dc5a4be9ec4255" /><Relationship Type="http://schemas.openxmlformats.org/officeDocument/2006/relationships/slideMaster" Target="/ppt/slideMasters/slideMaster1.xml" Id="R19ccf6bc0a144521" /><Relationship Type="http://schemas.openxmlformats.org/officeDocument/2006/relationships/notesMaster" Target="/ppt/notesMasters/notesMaster1.xml" Id="R368466c98e59452a" /><Relationship Type="http://schemas.openxmlformats.org/officeDocument/2006/relationships/presProps" Target="/ppt/presProps.xml" Id="R52353d3bb4a242a0" /><Relationship Type="http://schemas.openxmlformats.org/officeDocument/2006/relationships/tableStyles" Target="/ppt/tableStyles.xml" Id="Rb291ba1724da4dd1" /><Relationship Type="http://schemas.openxmlformats.org/officeDocument/2006/relationships/slide" Target="/ppt/slides/slide1.xml" Id="R31f179ae268a487e" /><Relationship Type="http://schemas.openxmlformats.org/officeDocument/2006/relationships/slide" Target="/ppt/slides/slide2.xml" Id="R215afbff1a064962" /><Relationship Type="http://schemas.openxmlformats.org/officeDocument/2006/relationships/slide" Target="/ppt/slides/slide3.xml" Id="R53b24da31d9c4c00" /><Relationship Type="http://schemas.openxmlformats.org/officeDocument/2006/relationships/slide" Target="/ppt/slides/slide4.xml" Id="R4242cdb107e34059" /><Relationship Type="http://schemas.openxmlformats.org/officeDocument/2006/relationships/slide" Target="/ppt/slides/slide5.xml" Id="R93288eb9f5bb4806" /><Relationship Type="http://schemas.openxmlformats.org/officeDocument/2006/relationships/slide" Target="/ppt/slides/slide6.xml" Id="Rb3ba9384cea24d97" /><Relationship Type="http://schemas.openxmlformats.org/officeDocument/2006/relationships/slide" Target="/ppt/slides/slide7.xml" Id="R4d7c920028764b95" /><Relationship Type="http://schemas.openxmlformats.org/officeDocument/2006/relationships/slide" Target="/ppt/slides/slide8.xml" Id="R04c63f2632ff4a3d" /><Relationship Type="http://schemas.openxmlformats.org/officeDocument/2006/relationships/slide" Target="/ppt/slides/slide9.xml" Id="R2e2764ab38474d53" /><Relationship Type="http://schemas.openxmlformats.org/officeDocument/2006/relationships/slide" Target="/ppt/slides/slide10.xml" Id="Rd2de236ca9a2437b" /><Relationship Type="http://schemas.openxmlformats.org/officeDocument/2006/relationships/slide" Target="/ppt/slides/slide11.xml" Id="Reca11c3f5d384b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a401131c7244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b0ddb05d004080" /><Relationship Type="http://schemas.openxmlformats.org/officeDocument/2006/relationships/notesMaster" Target="/ppt/notesMasters/notesMaster1.xml" Id="Reb445451ee704a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0b00e920fa47f7" /><Relationship Type="http://schemas.openxmlformats.org/officeDocument/2006/relationships/notesMaster" Target="/ppt/notesMasters/notesMaster1.xml" Id="Rfda5addb167b45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4c0faacb39489a" /><Relationship Type="http://schemas.openxmlformats.org/officeDocument/2006/relationships/notesMaster" Target="/ppt/notesMasters/notesMaster1.xml" Id="Rc3f411e03f204a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624a840a9c40d9" /><Relationship Type="http://schemas.openxmlformats.org/officeDocument/2006/relationships/notesMaster" Target="/ppt/notesMasters/notesMaster1.xml" Id="Ra10e0354003647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90e92eb7ba4682" /><Relationship Type="http://schemas.openxmlformats.org/officeDocument/2006/relationships/notesMaster" Target="/ppt/notesMasters/notesMaster1.xml" Id="R59514e24019949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85128ee792470d" /><Relationship Type="http://schemas.openxmlformats.org/officeDocument/2006/relationships/notesMaster" Target="/ppt/notesMasters/notesMaster1.xml" Id="R208ea9df3a2d41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75167005f643d1" /><Relationship Type="http://schemas.openxmlformats.org/officeDocument/2006/relationships/notesMaster" Target="/ppt/notesMasters/notesMaster1.xml" Id="R8979389d37104f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4ac4e74f524959" /><Relationship Type="http://schemas.openxmlformats.org/officeDocument/2006/relationships/notesMaster" Target="/ppt/notesMasters/notesMaster1.xml" Id="R826039c95d0042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cc8174a3e94762" /><Relationship Type="http://schemas.openxmlformats.org/officeDocument/2006/relationships/notesMaster" Target="/ppt/notesMasters/notesMaster1.xml" Id="Rd73c21ff359a49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7b326dcdae44bd" /><Relationship Type="http://schemas.openxmlformats.org/officeDocument/2006/relationships/notesMaster" Target="/ppt/notesMasters/notesMaster1.xml" Id="R82148d9e7bcf4c7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acf7b7018d45b3" /><Relationship Type="http://schemas.openxmlformats.org/officeDocument/2006/relationships/notesMaster" Target="/ppt/notesMasters/notesMaster1.xml" Id="R0fcd6d62e6a046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current local workspace, BSDEX vs World paper engine. Active price feed is Bitstamp plus Binance crypto and EURUSDT; LMAX is a fee proxy. No real orders submitted by this strategy. Current evidence is a 19.35-minute quote file and a documented corrected seven-day candle test, not audited trading P&amp;L. The local backend was unavailable during review.</a:t>
            </a:r>
          </a:p>
          <a:p xmlns:a="http://schemas.openxmlformats.org/drawingml/2006/main">
            <a:r>
              <a:t>Project sources: bsdex_strategy.py, config.py, enhanced_signals.py, simulation.py, bsdex_historical_bt.py, docs/engine-integrity.md, ENGINE_INTEGRITY_FIXES.md; data/quotes/2026-10-11.csv.gz.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full-depth path uses Bitstamp BTC/EUR and ETH/EUR; the World path uses Binance BTC/USDT and ETH/USDT converted with fresh EURUSDT bid/ask. BSDEX and LMAX labels should not be mistaken for actual execution venues. LMAX fees are configured assumptions applied to Binance-derived prices. The simulator buys and sells the same fixed coin quantity; it does not wait for mean reversion after entry. Prefunding requires both cash and inventory. No actual FX execution, balance debit, partial fill inventory or rebalancing is implemented. Selling USDT proceeds divides by EURUSDT ask; buying divides by bid. Source: bsdex_strategy.py _process_market, _binance_book_usdt_to_eur; simulation.py simulate_arbitrage_trade.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data/quotes/2026-10-11.csv.gz, immutable build snapshot SHA256 64d534f97673d7044588578a7ad645a744a750fddf2134664c6e8d9cfcb6f82d. Period 2026-10-11 21:14:33.880 to 21:33:55.149 UTC, 19.35448 minutes. 1,077 snapshots per market. For each snapshot, size is 1,000/Bitstamp mid; require fresh, sufficient top-five depth for full-size VWAP and compute each direction's (sell-buy)/mean*10,000. Diagnostic takes better of both directions; it is not the exact live direction selector. BTC usable 1,049, mean -0.21974754 bps, maximum 1.5996329. ETH usable 988, mean -0.09362273, maximum 2.1950310. Remaining snapshots lack full depth. All usable observations are below 9 and 17 bps; even maxima are below aspirational 7 bps. These are snapshot-weighted means, not trade-weighted averages or long-run estimates. Chart compares maxima with approximate configured fee gates; exact gate uses euro after-fee proceeds.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bp = 0.01%; at 100,000 EUR, 1 bp = 10 EUR. Exact signal gate compares sale price*(1-sell fee) against buy price*(1+buy fee)+FX cost per coin. FX_COST_BPS=1 is applied once on actual USDT-leg EUR notional. Configured fee tiers: retail &lt;5M 40+6+1=47; &gt;5M 12+6+1=19; &gt;20M default 10+6+1=17; &gt;50M 8+6+1=15; &gt;100M 6+4+1=11; &gt;200M 6+3+1=10; &gt;250M 5+3+1=9; &gt;1B aspirational 3+3+1=7. These are not verified contractual prices. VWAP already includes spread/depth; do not add the candle execution model to quote replay. Conservative candle costs: half-spreads 5+1.5 bps, slippage 2*(capital/100000) bps each leg. At 100k and &gt;250M, approximate mid-price hurdle 9+6.5+4=19.5 bps. Carry=capital*4*.025*hours/8760; four funding pools are an assumption, not regulatory capital. ECB DFR 2.5% effective 16 Sep 2026: https://www.ecb.europa.eu/press/pr/date/2026/html/ecb.mp260910~314e508016.en.html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z=(s-mu)/sigma: current spread minus rolling mean divided by standard deviation. Current active live spread is the euro-per-coin bidA-askB series; execution direction is checked separately. Threshold theta=clip[0.4*(1+0.05*v)*(1/(1+ln(2)))*(1+0.1*abs(m)),0.3,2.0]. v=std(diff(spreads))/std(spreads), m=sum(last 5 spread changes), raw EUR/coin. volume input constant1 =&gt; ratio1, adjustment 1/(1+ln2)=0.5906. Time factor1. Config windows10,30,5, retain max30 observations (~30 seconds at 1-second updates). Starts after 2 samples and includes current observation in mean/std. Correlation output0 is unused. Under calm conditions .4*.5906&lt;.3 =&gt; floor. Adaptive rationale is a stricter threshold in unstable or persistent markets; not proven predictive. Momentum scale is not normalised across BTC/ETH. Backtests instead use prior 60-minute history and fixed1.5. No probability or confidence claim is justified.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loop approximately 50ms, statistical update approximately1 second, no guarantee of clock-exact scheduling. Books for both crypto venues and EURUSDT must be &lt;=5 seconds old by local receipt time. Need valid prices, z threshold, positive expected net edge, and full depth. Capital is converted to fixed coin quantity using Bitstamp mid at signal. Cooldown30seconds and one pending signal per market. At first tick &gt;=300ms, take full-size VWAP. Stale/shallow execution =&gt; failure, no partial-leg P&amp;L; negative realized edge is still a completed losing trade. Upper bound ~120 signals/hour/market from cooldown is not expected frequency. Corrected seven-day candle test has7trades =&gt;1/day; backtest cooldown30minutes differs. No current live session rate available. Only19-minute quote sample, no economic qualifiers.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signal, hold funded cash and crypto in appropriate venues. Signal: buy1BTC Bitstamp100000EUR, sell World100150EUR after FX conversion. World equivalent112168USDT/1.12EURUSDT ask=100150EUR. Fees A5bps=50, B3bps=30.045, FX1bp=10.015 =&gt;90.06; expected59.94. If other gates qualify, freeze quantity1BTC, direction and fee rates. On delayed fill buy100040, sell100020 =&gt;gross-20. Afee50.02+Bfee30.006+FX10.002=90.028 =&gt;net-110.028. Rounded slide90.03 and-110.03. Signal spread relative mean14.9888bps, fill-1.9994bps. Then reconcile and rebalance inventory in real operation; current simulator omits actual balances/settlement. Uses full-depth executable prices. Stale or insufficient book does not model partial fills; it records failed execution. A profitable signal must never be retroactively removed because the later fill loses.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Documented public-data corrected run, not a fresh rerun: 24Sep–1Oct2026UTC BTC/EUR,100000EUR/leg, &gt;250M tier, conservative execution. Trades7, wins0 losses7. Gross after model execution prices -918.4255; exchange+FX fees629.5510 includingFX69.9898; net-1547.9764; carry191.7808; netaftercarry-1739.7572; maxdrawdown1547.9764. Rounding explains0.0001 difference. Sharpe suppressed below30trades or20days; dailyreturns include idle days and annualise bysqrt365. Old implementation looked at future fill profitability, filtering losses and producing invalid100% win results. ECB daily FX distortion was corrected using live EURUSDT executable sides in live path. Candle1-minute latency differs live300ms; closes and synthetic costs are an approximation. Negative gross on this specific run means fee removal alone cannot make that fixed trade set profitable. Changing fee gates may change trade selection; no claim of invariant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retains max(10,30,5)=30samples, generally1second sampling, and includes current sample. Backtest prior-only60-minute window; quotes use earlier snapshots in60minutes, candles60bars. Live adaptive0.3–2, backtestfixed1.5. Live cooldown30seconds, backtests30minutes. Livefill&gt;=300ms first loop tick; candlefillnextbar; quote first snapshotat/afterchosenlatency, ordinarily1s with recorded cadence. Quote missingdepth, staleness or gap &gt;2sec beyondtarget fail explicitly. Quote quantity fixed capital/signalbuyask; live fixed capital/Bitstampmid; candles capital/fillbuyprice. Quotes recordedtop5 versus livefullbooks. Only19.35min currently saved, too short for60minwindow; not a completed quote performance backtest. Historical candles lasttrade closes can be stale and not executable. Calibrated execution costs use strictly earlier recorded data. No annualised claim from7days.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Proposals, not verified bank arrangements. Digital assets and electronic execution: actual fee agreements, direct quotes, latency and rejects, one-leg exposure. FX: executableEURUSDT/nativeEUR whereavailable, currencyflow netting. EURUSD is not EURUSDT: stablecoin basis/counterparty risk remains. Treasury/moneymarkets: fundingpool allocation, internal FTP, buffers and balance-sheet charges, not free funding. Financing/hedging: permitted borrow or approved hedge, residual basis/fundingrate andslippage. Custodyopsrisk: balances, transfers, reconciliation, venue exposure and kill switches. BIS guidance supports PvP wherepracticable andsettlementrisklimits; no implication crypto orUSDT eligibleCLS. https://www.bis.org/publ/bcbs241.pdf ; ECB2.5DFR reference https://www.ecb.europa.eu/press/pr/date/2026/html/ecb.mp260910~314e508016.en.html ; LMAX institutional access https://www.lmaxdigital.com/trading/ . Bank economics require contracted rates andallinternalcapitalallocations.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proposal based on limited evidence, not an investment recommendation. No evidence now demonstrates profit. First validate realcosts with actualvenues and FXdesk, pool fundingandrebalance charges. Then align signal warmup, threshold, quantity, cooldownandlatency across live andreplay. Collect longer gap-audited depthquotes at cadence adequate forintendedlatency andmeasure signal-to-fillshortfall. Add partialfills, inventorylimits, settlementandkill-switches. Evaluate outofsample andacross regimes. Proceed onlywhereafter-costprofits remain positive withacceptable losses andfailures. Faster executioncannot overcome9–17bpsfee hurdle inobserved quote sample whose maxima are1.6–2.2bps. Lowering z threshold alone cannotcreateeconomicedge. Guide contains complete formulas, all fee tiers andsizing/funding caveats.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1711decaf845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b1ef95fac149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cf833499eb4d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b7dee023e1947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bb9ab12cc4547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377299ce8de42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9CD95C-22CD-410B-9BC1-36829CE1D20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B8F84A0-2226-4233-89F1-F7EFBDC27A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9EC70CE-7792-4077-8F2B-5524F96679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A9B645-B2FE-4179-B1A3-F0B3EB3BB4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AE72D29-6CA7-43ED-9625-C60FD8AEA78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6F369E-CA69-4C87-877E-92C6F5E3C6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9902D3-3008-40B5-9B8E-EA4D3834C3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A01A0A-A3B4-4E3D-8E8E-22813B3E8F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A6A2B2-764C-4F98-BFFB-7246342350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76E7E6-3B27-451F-9911-07E35F35E42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ba6b6b162948ae" /><Relationship Type="http://schemas.openxmlformats.org/officeDocument/2006/relationships/slideLayout" Target="/ppt/slideLayouts/slideLayout1.xml" Id="R6d7063caf28b47b8" /><Relationship Type="http://schemas.openxmlformats.org/officeDocument/2006/relationships/slideLayout" Target="/ppt/slideLayouts/slideLayout2.xml" Id="R4ab5e4d16cec459a" /><Relationship Type="http://schemas.openxmlformats.org/officeDocument/2006/relationships/slideLayout" Target="/ppt/slideLayouts/slideLayout3.xml" Id="R1288e066f66d4a9f" /><Relationship Type="http://schemas.openxmlformats.org/officeDocument/2006/relationships/slideLayout" Target="/ppt/slideLayouts/slideLayout4.xml" Id="R91a78f5f46994f7b" /><Relationship Type="http://schemas.openxmlformats.org/officeDocument/2006/relationships/slideLayout" Target="/ppt/slideLayouts/slideLayout5.xml" Id="Ra8ac9a63056f4c80" /><Relationship Type="http://schemas.openxmlformats.org/officeDocument/2006/relationships/slideLayout" Target="/ppt/slideLayouts/slideLayout6.xml" Id="Rc79e502b27cf46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7063caf28b47b8"/>
    <p:sldLayoutId xmlns:r="http://schemas.openxmlformats.org/officeDocument/2006/relationships" id="2147483650" r:id="R4ab5e4d16cec459a"/>
    <p:sldLayoutId xmlns:r="http://schemas.openxmlformats.org/officeDocument/2006/relationships" id="2147483651" r:id="R1288e066f66d4a9f"/>
    <p:sldLayoutId xmlns:r="http://schemas.openxmlformats.org/officeDocument/2006/relationships" id="2147483652" r:id="R91a78f5f46994f7b"/>
    <p:sldLayoutId xmlns:r="http://schemas.openxmlformats.org/officeDocument/2006/relationships" id="2147483653" r:id="Ra8ac9a63056f4c80"/>
    <p:sldLayoutId xmlns:r="http://schemas.openxmlformats.org/officeDocument/2006/relationships" id="2147483654" r:id="Rc79e502b27cf46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75f3f97ad34467" /><Relationship Type="http://schemas.openxmlformats.org/officeDocument/2006/relationships/notesSlide" Target="/ppt/notesSlides/notesSlide1.xml" Id="Rf22e6f77e9e344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12643b12fb44b1" /><Relationship Type="http://schemas.openxmlformats.org/officeDocument/2006/relationships/notesSlide" Target="/ppt/notesSlides/notesSlide2.xml" Id="R97b51ad3f8ff45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359007370474846" /><Relationship Type="http://schemas.openxmlformats.org/officeDocument/2006/relationships/chart" Target="/ppt/slides/charts/chart1.xml" Id="R47a4096f4dc644bc" /><Relationship Type="http://schemas.openxmlformats.org/officeDocument/2006/relationships/notesSlide" Target="/ppt/notesSlides/notesSlide3.xml" Id="R84cc1806f76f4d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42363562e2444e3" /><Relationship Type="http://schemas.openxmlformats.org/officeDocument/2006/relationships/notesSlide" Target="/ppt/notesSlides/notesSlide4.xml" Id="Rbd654aa4cd834c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9148b7fe484365" /><Relationship Type="http://schemas.openxmlformats.org/officeDocument/2006/relationships/notesSlide" Target="/ppt/notesSlides/notesSlide5.xml" Id="R7e8505c4e9c445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86ec32da8794e74" /><Relationship Type="http://schemas.openxmlformats.org/officeDocument/2006/relationships/notesSlide" Target="/ppt/notesSlides/notesSlide6.xml" Id="Rbc7b2f1e4fa541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3dbc7060974904" /><Relationship Type="http://schemas.openxmlformats.org/officeDocument/2006/relationships/notesSlide" Target="/ppt/notesSlides/notesSlide7.xml" Id="R6f4399c23d3849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011bfe12b814189" /><Relationship Type="http://schemas.openxmlformats.org/officeDocument/2006/relationships/notesSlide" Target="/ppt/notesSlides/notesSlide8.xml" Id="Rb9f26bfc670b4a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956242e3cbd45a0" /><Relationship Type="http://schemas.openxmlformats.org/officeDocument/2006/relationships/notesSlide" Target="/ppt/notesSlides/notesSlide9.xml" Id="R2afaf2c72a804d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508d0adaa0a40e3" /><Relationship Type="http://schemas.openxmlformats.org/officeDocument/2006/relationships/notesSlide" Target="/ppt/notesSlides/notesSlide10.xml" Id="Rf8351dab1a8a42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cd0e5f762224e3e" /><Relationship Type="http://schemas.openxmlformats.org/officeDocument/2006/relationships/notesSlide" Target="/ppt/notesSlides/notesSlide11.xml" Id="R5a1d031a50044bc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Basis points</c:v>
          </c:tx>
          <c:spPr>
            <a:solidFill xmlns:a="http://schemas.openxmlformats.org/drawingml/2006/main">
              <a:srgbClr val="347A78"/>
            </a:solidFill>
          </c:spPr>
          <c:invertIfNegative val="0"/>
          <c:dPt>
            <c:idx val="2"/>
            <c:invertIfNegative val="0"/>
            <c:spPr>
              <a:solidFill xmlns:a="http://schemas.openxmlformats.org/drawingml/2006/main">
                <a:srgbClr val="A33639"/>
              </a:solidFill>
            </c:spPr>
          </c:dPt>
          <c:dPt>
            <c:idx val="3"/>
            <c:invertIfNegative val="0"/>
            <c:spPr>
              <a:solidFill xmlns:a="http://schemas.openxmlformats.org/drawingml/2006/main">
                <a:srgbClr val="A33639"/>
              </a:solidFill>
            </c:spPr>
          </c:dPt>
          <c:cat>
            <c:strRef>
              <c:f>'Chart Data'!$A$2:$A$5</c:f>
              <c:strCache>
                <c:ptCount val="4"/>
                <c:pt idx="0">
                  <c:v>BTC maximum</c:v>
                </c:pt>
                <c:pt idx="1">
                  <c:v>ETH maximum</c:v>
                </c:pt>
                <c:pt idx="2">
                  <c:v>&gt; $250M cost gate</c:v>
                </c:pt>
                <c:pt idx="3">
                  <c:v>Default cost gate</c:v>
                </c:pt>
              </c:strCache>
            </c:strRef>
          </c:cat>
          <c:val>
            <c:numRef>
              <c:f>'Chart Data'!$B$2:$B$5</c:f>
              <c:numCache>
                <c:formatCode>0</c:formatCode>
                <c:ptCount val="4"/>
                <c:pt idx="0">
                  <c:v>1.5996329</c:v>
                </c:pt>
                <c:pt idx="1">
                  <c:v>2.195031</c:v>
                </c:pt>
                <c:pt idx="2">
                  <c:v>9</c:v>
                </c:pt>
                <c:pt idx="3">
                  <c:v>17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18313B"/>
                  </a:solidFill>
                  <a:latin typeface="Arial"/>
                  <a:ea typeface="Arial"/>
                  <a:cs typeface="Arial"/>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8313B"/>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6DFE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6D"/>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B4268A-DD27-4D65-99FB-5A8AA0EBB6CB}"/>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SENIOR BRIEFING · 12 OCTOBER 2026</a:t>
            </a:r>
          </a:p>
        </p:txBody>
      </p:sp>
      <p:sp>
        <p:nvSpPr>
          <p:cNvPr id="2" name="">
            <a:extLst xmlns:a="http://schemas.openxmlformats.org/drawingml/2006/main">
              <a:ext uri="{FF2B5EF4-FFF2-40B4-BE49-F238E27FC236}">
                <a16:creationId xmlns:a16="http://schemas.microsoft.com/office/drawing/2014/main" id="{7146B47B-76AB-485A-A98C-9363FC1957EB}"/>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Crypto arbitrage tool</a:t>
            </a:r>
          </a:p>
        </p:txBody>
      </p:sp>
      <p:sp>
        <p:nvSpPr>
          <p:cNvPr id="3" name="">
            <a:extLst xmlns:a="http://schemas.openxmlformats.org/drawingml/2006/main">
              <a:ext uri="{FF2B5EF4-FFF2-40B4-BE49-F238E27FC236}">
                <a16:creationId xmlns:a16="http://schemas.microsoft.com/office/drawing/2014/main" id="{C0001DC5-C08D-4409-A8A5-5778C70D85F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DE8D0A8-E24D-4350-83A1-EE8DE4E8CE8D}"/>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Current code and saved evidence reviewed on 12 October 2026. Sources and caveats in speaker notes.</a:t>
            </a:r>
          </a:p>
        </p:txBody>
      </p:sp>
      <p:sp>
        <p:nvSpPr>
          <p:cNvPr id="5" name="">
            <a:extLst xmlns:a="http://schemas.openxmlformats.org/drawingml/2006/main">
              <a:ext uri="{FF2B5EF4-FFF2-40B4-BE49-F238E27FC236}">
                <a16:creationId xmlns:a16="http://schemas.microsoft.com/office/drawing/2014/main" id="{ED959A0E-F2DD-4E9A-AF03-2578FEDCE135}"/>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B209C23-A34C-446F-971D-D4BB62026430}"/>
              </a:ext>
            </a:extLst>
          </p:cNvPr>
          <p:cNvSpPr>
            <a:spLocks xmlns:a="http://schemas.openxmlformats.org/drawingml/2006/main" noGrp="1"/>
          </p:cNvSpPr>
          <p:nvPr/>
        </p:nvSpPr>
        <p:spPr>
          <a:xfrm xmlns:a="http://schemas.openxmlformats.org/drawingml/2006/main">
            <a:off x="609600" y="185737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53656D"/>
                </a:solidFill>
                <a:latin typeface="Arial"/>
                <a:ea typeface="Arial"/>
                <a:cs typeface="Arial"/>
              </a:defRPr>
            </a:defPPr>
          </a:lstStyle>
          <a:p xmlns:a="http://schemas.openxmlformats.org/drawingml/2006/main">
            <a:pPr>
              <a:defRPr sz="2400" b="0">
                <a:solidFill>
                  <a:srgbClr val="53656D"/>
                </a:solidFill>
                <a:latin typeface="Arial"/>
                <a:ea typeface="Arial"/>
                <a:cs typeface="Arial"/>
              </a:defRPr>
            </a:pPr>
            <a:r>
              <a:rPr sz="2400" b="0">
                <a:solidFill>
                  <a:srgbClr val="53656D"/>
                </a:solidFill>
                <a:latin typeface="Arial"/>
                <a:ea typeface="Arial"/>
                <a:cs typeface="Arial"/>
              </a:rPr>
              <a:t>Economics, evidence and the role of bank desks</a:t>
            </a:r>
          </a:p>
        </p:txBody>
      </p:sp>
      <p:sp>
        <p:nvSpPr>
          <p:cNvPr id="7" name="">
            <a:extLst xmlns:a="http://schemas.openxmlformats.org/drawingml/2006/main">
              <a:ext uri="{FF2B5EF4-FFF2-40B4-BE49-F238E27FC236}">
                <a16:creationId xmlns:a16="http://schemas.microsoft.com/office/drawing/2014/main" id="{7D3AC422-891B-4D07-AEB9-0BBBC9EBE78C}"/>
              </a:ext>
            </a:extLst>
          </p:cNvPr>
          <p:cNvSpPr>
            <a:spLocks xmlns:a="http://schemas.openxmlformats.org/drawingml/2006/main" noGrp="1"/>
          </p:cNvSpPr>
          <p:nvPr/>
        </p:nvSpPr>
        <p:spPr>
          <a:xfrm xmlns:a="http://schemas.openxmlformats.org/drawingml/2006/main">
            <a:off x="609600" y="2762250"/>
            <a:ext cx="10572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C4A"/>
                </a:solidFill>
                <a:latin typeface="Arial"/>
                <a:ea typeface="Arial"/>
                <a:cs typeface="Arial"/>
              </a:defRPr>
            </a:defPPr>
          </a:lstStyle>
          <a:p xmlns:a="http://schemas.openxmlformats.org/drawingml/2006/main">
            <a:pPr>
              <a:defRPr sz="3600" b="1">
                <a:solidFill>
                  <a:srgbClr val="173C4A"/>
                </a:solidFill>
                <a:latin typeface="Arial"/>
                <a:ea typeface="Arial"/>
                <a:cs typeface="Arial"/>
              </a:defRPr>
            </a:pPr>
            <a:r>
              <a:rPr sz="3600" b="1">
                <a:solidFill>
                  <a:srgbClr val="173C4A"/>
                </a:solidFill>
                <a:latin typeface="Arial"/>
                <a:ea typeface="Arial"/>
                <a:cs typeface="Arial"/>
              </a:rPr>
              <a:t>The current evidence does not</a:t>
            </a:r>
          </a:p>
          <a:p xmlns:a="http://schemas.openxmlformats.org/drawingml/2006/main">
            <a:pPr>
              <a:defRPr sz="3600" b="1">
                <a:solidFill>
                  <a:srgbClr val="173C4A"/>
                </a:solidFill>
                <a:latin typeface="Arial"/>
                <a:ea typeface="Arial"/>
                <a:cs typeface="Arial"/>
              </a:defRPr>
            </a:pPr>
            <a:r>
              <a:rPr sz="3600" b="1">
                <a:solidFill>
                  <a:srgbClr val="173C4A"/>
                </a:solidFill>
                <a:latin typeface="Arial"/>
                <a:ea typeface="Arial"/>
                <a:cs typeface="Arial"/>
              </a:rPr>
              <a:t>demonstrate a profitable strategy.</a:t>
            </a:r>
          </a:p>
        </p:txBody>
      </p:sp>
      <p:sp>
        <p:nvSpPr>
          <p:cNvPr id="8" name="">
            <a:extLst xmlns:a="http://schemas.openxmlformats.org/drawingml/2006/main">
              <a:ext uri="{FF2B5EF4-FFF2-40B4-BE49-F238E27FC236}">
                <a16:creationId xmlns:a16="http://schemas.microsoft.com/office/drawing/2014/main" id="{54D6AA62-8AE3-4A9F-9261-7B0C57F86801}"/>
              </a:ext>
            </a:extLst>
          </p:cNvPr>
          <p:cNvSpPr>
            <a:spLocks xmlns:a="http://schemas.openxmlformats.org/drawingml/2006/main" noGrp="1"/>
          </p:cNvSpPr>
          <p:nvPr/>
        </p:nvSpPr>
        <p:spPr>
          <a:xfrm xmlns:a="http://schemas.openxmlformats.org/drawingml/2006/main">
            <a:off x="609600" y="4619625"/>
            <a:ext cx="1076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13B"/>
                </a:solidFill>
                <a:latin typeface="Arial"/>
                <a:ea typeface="Arial"/>
                <a:cs typeface="Arial"/>
              </a:defRPr>
            </a:defPPr>
          </a:lstStyle>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Observed spreads do not cover configured costs.</a:t>
            </a:r>
          </a:p>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A bank could reduce frictions, but must prove a persistent net edge.</a:t>
            </a:r>
          </a:p>
        </p:txBody>
      </p:sp>
    </p:spTree>
    <p:extLst>
      <p:ext uri="{BB962C8B-B14F-4D97-AF65-F5344CB8AC3E}">
        <p14:creationId xmlns:p14="http://schemas.microsoft.com/office/powerpoint/2010/main" val="13587856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6BA1AA-7650-4CBD-B162-2F2AD35CC2C4}"/>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01 · OPERATING MODEL</a:t>
            </a:r>
          </a:p>
        </p:txBody>
      </p:sp>
      <p:sp>
        <p:nvSpPr>
          <p:cNvPr id="2" name="">
            <a:extLst xmlns:a="http://schemas.openxmlformats.org/drawingml/2006/main">
              <a:ext uri="{FF2B5EF4-FFF2-40B4-BE49-F238E27FC236}">
                <a16:creationId xmlns:a16="http://schemas.microsoft.com/office/drawing/2014/main" id="{BC9A0474-3E05-43D6-9EB2-028639CAD420}"/>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The model captures an immediate price difference</a:t>
            </a:r>
          </a:p>
        </p:txBody>
      </p:sp>
      <p:sp>
        <p:nvSpPr>
          <p:cNvPr id="3" name="">
            <a:extLst xmlns:a="http://schemas.openxmlformats.org/drawingml/2006/main">
              <a:ext uri="{FF2B5EF4-FFF2-40B4-BE49-F238E27FC236}">
                <a16:creationId xmlns:a16="http://schemas.microsoft.com/office/drawing/2014/main" id="{4C956975-E72A-49E5-B95A-8CF060D1F31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1A006D-7D02-45DB-9107-50C898CD13E3}"/>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bsdex_strategy.py; simulation.py; config.py.</a:t>
            </a:r>
          </a:p>
        </p:txBody>
      </p:sp>
      <p:sp>
        <p:nvSpPr>
          <p:cNvPr id="5" name="">
            <a:extLst xmlns:a="http://schemas.openxmlformats.org/drawingml/2006/main">
              <a:ext uri="{FF2B5EF4-FFF2-40B4-BE49-F238E27FC236}">
                <a16:creationId xmlns:a16="http://schemas.microsoft.com/office/drawing/2014/main" id="{98B963B0-BBC7-4E64-85E8-A8CF82FBECC8}"/>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02</a:t>
            </a:r>
          </a:p>
        </p:txBody>
      </p:sp>
      <p:graphicFrame>
        <p:nvGraphicFramePr>
          <p:cNvPr id="6" name="">
            <a:extLst xmlns:a="http://schemas.openxmlformats.org/drawingml/2006/main">
              <a:ext uri="{FF2B5EF4-FFF2-40B4-BE49-F238E27FC236}">
                <a16:creationId xmlns:a16="http://schemas.microsoft.com/office/drawing/2014/main" id="{A9EE8ED0-5895-4110-A6FC-A83A937DDD65}"/>
              </a:ext>
            </a:extLst>
          </p:cNvPr>
          <p:cNvGraphicFramePr/>
          <p:nvPr/>
        </p:nvGraphicFramePr>
        <p:xfrm>
          <a:off xmlns:a="http://schemas.openxmlformats.org/drawingml/2006/main" x="609600" y="1952625"/>
          <a:ext xmlns:a="http://schemas.openxmlformats.org/drawingml/2006/main" cx="10972800" cy="3238500"/>
        </p:xfrm>
        <a:graphic xmlns:a="http://schemas.openxmlformats.org/drawingml/2006/main">
          <a:graphicData uri="http://schemas.openxmlformats.org/drawingml/2006/table">
            <a:tbl>
              <a:tblPr/>
              <a:tblGrid>
                <a:gridCol w="1714500"/>
                <a:gridCol w="9258300"/>
              </a:tblGrid>
              <a:tr h="647700">
                <a:tc>
                  <a:txBody>
                    <a:bodyPr lIns="133350" tIns="95250" rIns="133350" bIns="95250"/>
                    <a:lstStyle/>
                    <a:p>
                      <a:r>
                        <a:rPr sz="1800" b="1">
                          <a:solidFill>
                            <a:srgbClr val="FFFFFF"/>
                          </a:solidFill>
                          <a:latin typeface="Arial"/>
                          <a:ea typeface="Arial"/>
                          <a:cs typeface="Arial"/>
                        </a:rPr>
                        <a:t>Stage</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Current paper model</a:t>
                      </a:r>
                    </a:p>
                  </a:txBody>
                  <a:tcPr marL="91440" marR="91440" marT="45720" marB="45720" anchor="ctr">
                    <a:solidFill>
                      <a:srgbClr val="173C4A"/>
                    </a:solidFill>
                  </a:tcPr>
                </a:tc>
              </a:tr>
              <a:tr h="647700">
                <a:tc>
                  <a:txBody>
                    <a:bodyPr lIns="133350" tIns="95250" rIns="133350" bIns="95250"/>
                    <a:lstStyle/>
                    <a:p>
                      <a:r>
                        <a:rPr sz="1800" b="0">
                          <a:solidFill>
                            <a:srgbClr val="18313B"/>
                          </a:solidFill>
                          <a:latin typeface="Arial"/>
                          <a:ea typeface="Arial"/>
                          <a:cs typeface="Arial"/>
                        </a:rPr>
                        <a:t>Compare</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Bitstamp EUR books against Binance books converted through EURUSDT</a:t>
                      </a:r>
                    </a:p>
                  </a:txBody>
                  <a:tcPr marL="91440" marR="91440" marT="45720" marB="45720" anchor="ctr">
                    <a:solidFill>
                      <a:srgbClr val="EDF3F4"/>
                    </a:solidFill>
                  </a:tcPr>
                </a:tc>
              </a:tr>
              <a:tr h="647700">
                <a:tc>
                  <a:txBody>
                    <a:bodyPr lIns="133350" tIns="95250" rIns="133350" bIns="95250"/>
                    <a:lstStyle/>
                    <a:p>
                      <a:r>
                        <a:rPr sz="1800" b="0">
                          <a:solidFill>
                            <a:srgbClr val="18313B"/>
                          </a:solidFill>
                          <a:latin typeface="Arial"/>
                          <a:ea typeface="Arial"/>
                          <a:cs typeface="Arial"/>
                        </a:rPr>
                        <a:t>Enter</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Buy the cheaper executable side; sell the dearer side</a:t>
                      </a:r>
                    </a:p>
                  </a:txBody>
                  <a:tcPr marL="91440" marR="91440" marT="45720" marB="45720" anchor="ctr">
                    <a:solidFill>
                      <a:srgbClr val="FFFFFF"/>
                    </a:solidFill>
                  </a:tcPr>
                </a:tc>
              </a:tr>
              <a:tr h="647700">
                <a:tc>
                  <a:txBody>
                    <a:bodyPr lIns="133350" tIns="95250" rIns="133350" bIns="95250"/>
                    <a:lstStyle/>
                    <a:p>
                      <a:r>
                        <a:rPr sz="1800" b="0">
                          <a:solidFill>
                            <a:srgbClr val="18313B"/>
                          </a:solidFill>
                          <a:latin typeface="Arial"/>
                          <a:ea typeface="Arial"/>
                          <a:cs typeface="Arial"/>
                        </a:rPr>
                        <a:t>Fill</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Keep the quantity fixed; reprice both legs after at least 300 ms</a:t>
                      </a:r>
                    </a:p>
                  </a:txBody>
                  <a:tcPr marL="91440" marR="91440" marT="45720" marB="45720" anchor="ctr">
                    <a:solidFill>
                      <a:srgbClr val="EDF3F4"/>
                    </a:solidFill>
                  </a:tcPr>
                </a:tc>
              </a:tr>
              <a:tr h="647700">
                <a:tc>
                  <a:txBody>
                    <a:bodyPr lIns="133350" tIns="95250" rIns="133350" bIns="95250"/>
                    <a:lstStyle/>
                    <a:p>
                      <a:r>
                        <a:rPr sz="1800" b="0">
                          <a:solidFill>
                            <a:srgbClr val="18313B"/>
                          </a:solidFill>
                          <a:latin typeface="Arial"/>
                          <a:ea typeface="Arial"/>
                          <a:cs typeface="Arial"/>
                        </a:rPr>
                        <a:t>Restore</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Real cash and coin rebalancing would be needed after execution</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50CB06C-990C-4D4A-BA8D-87AC88E74678}"/>
              </a:ext>
            </a:extLst>
          </p:cNvPr>
          <p:cNvSpPr>
            <a:spLocks xmlns:a="http://schemas.openxmlformats.org/drawingml/2006/main" noGrp="1"/>
          </p:cNvSpPr>
          <p:nvPr/>
        </p:nvSpPr>
        <p:spPr>
          <a:xfrm xmlns:a="http://schemas.openxmlformats.org/drawingml/2006/main">
            <a:off x="609600" y="53816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A33639"/>
                </a:solidFill>
                <a:latin typeface="Arial"/>
                <a:ea typeface="Arial"/>
                <a:cs typeface="Arial"/>
              </a:defRPr>
            </a:defPPr>
          </a:lstStyle>
          <a:p xmlns:a="http://schemas.openxmlformats.org/drawingml/2006/main">
            <a:pPr>
              <a:defRPr sz="1725" b="1">
                <a:solidFill>
                  <a:srgbClr val="A33639"/>
                </a:solidFill>
                <a:latin typeface="Arial"/>
                <a:ea typeface="Arial"/>
                <a:cs typeface="Arial"/>
              </a:defRPr>
            </a:pPr>
            <a:r>
              <a:rPr sz="1725" b="1">
                <a:solidFill>
                  <a:srgbClr val="A33639"/>
                </a:solidFill>
                <a:latin typeface="Arial"/>
                <a:ea typeface="Arial"/>
                <a:cs typeface="Arial"/>
              </a:rPr>
              <a:t>“BSDEX / LMAX” are labels and fee assumptions. The active price feeds are Bitstamp and Binance.</a:t>
            </a:r>
          </a:p>
        </p:txBody>
      </p:sp>
    </p:spTree>
    <p:extLst>
      <p:ext uri="{BB962C8B-B14F-4D97-AF65-F5344CB8AC3E}">
        <p14:creationId xmlns:p14="http://schemas.microsoft.com/office/powerpoint/2010/main" val="2835897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6EC980-E96E-4A36-BB7D-5BCB6E7269BE}"/>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02 · SAVED QUOTE EVIDENCE</a:t>
            </a:r>
          </a:p>
        </p:txBody>
      </p:sp>
      <p:sp>
        <p:nvSpPr>
          <p:cNvPr id="2" name="">
            <a:extLst xmlns:a="http://schemas.openxmlformats.org/drawingml/2006/main">
              <a:ext uri="{FF2B5EF4-FFF2-40B4-BE49-F238E27FC236}">
                <a16:creationId xmlns:a16="http://schemas.microsoft.com/office/drawing/2014/main" id="{B7F889AA-FF3D-4F4C-8606-D1883674F747}"/>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Even the best observed spreads are below costs</a:t>
            </a:r>
          </a:p>
        </p:txBody>
      </p:sp>
      <p:sp>
        <p:nvSpPr>
          <p:cNvPr id="3" name="">
            <a:extLst xmlns:a="http://schemas.openxmlformats.org/drawingml/2006/main">
              <a:ext uri="{FF2B5EF4-FFF2-40B4-BE49-F238E27FC236}">
                <a16:creationId xmlns:a16="http://schemas.microsoft.com/office/drawing/2014/main" id="{52FAFF6A-57D8-47E3-9723-9D1BDB63C83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356D103-D26C-4F1F-B088-49EBEE656D5D}"/>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 11 Oct quote file; full-size VWAP calculations. About €1,000 per leg; before fees.</a:t>
            </a:r>
          </a:p>
        </p:txBody>
      </p:sp>
      <p:sp>
        <p:nvSpPr>
          <p:cNvPr id="5" name="">
            <a:extLst xmlns:a="http://schemas.openxmlformats.org/drawingml/2006/main">
              <a:ext uri="{FF2B5EF4-FFF2-40B4-BE49-F238E27FC236}">
                <a16:creationId xmlns:a16="http://schemas.microsoft.com/office/drawing/2014/main" id="{FE00E14B-B91F-4D2F-B86E-C39FE466ACA3}"/>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A47F21B5-C2BF-4EEB-BC57-21F9D1CC29C5}"/>
              </a:ext>
            </a:extLst>
          </p:cNvPr>
          <p:cNvSpPr>
            <a:spLocks xmlns:a="http://schemas.openxmlformats.org/drawingml/2006/main" noGrp="1"/>
          </p:cNvSpPr>
          <p:nvPr/>
        </p:nvSpPr>
        <p:spPr>
          <a:xfrm xmlns:a="http://schemas.openxmlformats.org/drawingml/2006/main">
            <a:off x="609600" y="1790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C4A"/>
                </a:solidFill>
                <a:latin typeface="Arial"/>
                <a:ea typeface="Arial"/>
                <a:cs typeface="Arial"/>
              </a:defRPr>
            </a:defPPr>
          </a:lstStyle>
          <a:p xmlns:a="http://schemas.openxmlformats.org/drawingml/2006/main">
            <a:pPr>
              <a:defRPr sz="1950" b="1">
                <a:solidFill>
                  <a:srgbClr val="173C4A"/>
                </a:solidFill>
                <a:latin typeface="Arial"/>
                <a:ea typeface="Arial"/>
                <a:cs typeface="Arial"/>
              </a:defRPr>
            </a:pPr>
            <a:r>
              <a:rPr sz="1950" b="1">
                <a:solidFill>
                  <a:srgbClr val="173C4A"/>
                </a:solidFill>
                <a:latin typeface="Arial"/>
                <a:ea typeface="Arial"/>
                <a:cs typeface="Arial"/>
              </a:rPr>
              <a:t>Average best executable spread: BTC −0.22 bps  |  ETH −0.09 bps</a:t>
            </a:r>
          </a:p>
        </p:txBody>
      </p:sp>
      <p:graphicFrame>
        <p:nvGraphicFramePr>
          <p:cNvPr id="7" name="Chart">
            <a:extLst xmlns:a="http://schemas.openxmlformats.org/drawingml/2006/main">
              <a:ext uri="{FF2B5EF4-FFF2-40B4-BE49-F238E27FC236}">
                <a16:creationId xmlns:a16="http://schemas.microsoft.com/office/drawing/2014/main" id="{E2145D36-D326-4D12-8D28-DF63AF8E8D85}"/>
              </a:ext>
            </a:extLst>
          </p:cNvPr>
          <p:cNvGraphicFramePr/>
          <p:nvPr/>
        </p:nvGraphicFramePr>
        <p:xfrm>
          <a:off xmlns:a="http://schemas.openxmlformats.org/drawingml/2006/main" x="619125" y="2333625"/>
          <a:ext xmlns:a="http://schemas.openxmlformats.org/drawingml/2006/main" cx="10953750" cy="2905125"/>
        </p:xfrm>
        <a:graphic xmlns:a="http://schemas.openxmlformats.org/drawingml/2006/main">
          <a:graphicData uri="http://schemas.openxmlformats.org/drawingml/2006/chart">
            <c:chart xmlns:r="http://schemas.openxmlformats.org/officeDocument/2006/relationships" xmlns:c="http://schemas.openxmlformats.org/drawingml/2006/chart" r:id="R47a4096f4dc644bc"/>
          </a:graphicData>
        </a:graphic>
      </p:graphicFrame>
      <p:sp>
        <p:nvSpPr>
          <p:cNvPr id="8" name="">
            <a:extLst xmlns:a="http://schemas.openxmlformats.org/drawingml/2006/main">
              <a:ext uri="{FF2B5EF4-FFF2-40B4-BE49-F238E27FC236}">
                <a16:creationId xmlns:a16="http://schemas.microsoft.com/office/drawing/2014/main" id="{F9E00A09-64A0-45C5-AD18-039D02F1DBF0}"/>
              </a:ext>
            </a:extLst>
          </p:cNvPr>
          <p:cNvSpPr>
            <a:spLocks xmlns:a="http://schemas.openxmlformats.org/drawingml/2006/main" noGrp="1"/>
          </p:cNvSpPr>
          <p:nvPr/>
        </p:nvSpPr>
        <p:spPr>
          <a:xfrm xmlns:a="http://schemas.openxmlformats.org/drawingml/2006/main">
            <a:off x="609600" y="55626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8313B"/>
                </a:solidFill>
                <a:latin typeface="Arial"/>
                <a:ea typeface="Arial"/>
                <a:cs typeface="Arial"/>
              </a:defRPr>
            </a:defPPr>
          </a:lstStyle>
          <a:p xmlns:a="http://schemas.openxmlformats.org/drawingml/2006/main">
            <a:pPr>
              <a:defRPr sz="1800" b="0">
                <a:solidFill>
                  <a:srgbClr val="18313B"/>
                </a:solidFill>
                <a:latin typeface="Arial"/>
                <a:ea typeface="Arial"/>
                <a:cs typeface="Arial"/>
              </a:defRPr>
            </a:pPr>
            <a:r>
              <a:rPr sz="1800" b="0">
                <a:solidFill>
                  <a:srgbClr val="18313B"/>
                </a:solidFill>
                <a:latin typeface="Arial"/>
                <a:ea typeface="Arial"/>
                <a:cs typeface="Arial"/>
              </a:rPr>
              <a:t>Only 19.35 minutes of data. No qualifying economic opportunity in the usable snapshots.</a:t>
            </a:r>
          </a:p>
        </p:txBody>
      </p:sp>
    </p:spTree>
    <p:extLst>
      <p:ext uri="{BB962C8B-B14F-4D97-AF65-F5344CB8AC3E}">
        <p14:creationId xmlns:p14="http://schemas.microsoft.com/office/powerpoint/2010/main" val="14036928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1FA9DF7-3B6F-4E0E-BDB6-EEEFC2281F44}"/>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03 · COSTS IN BASIS POINTS</a:t>
            </a:r>
          </a:p>
        </p:txBody>
      </p:sp>
      <p:sp>
        <p:nvSpPr>
          <p:cNvPr id="2" name="">
            <a:extLst xmlns:a="http://schemas.openxmlformats.org/drawingml/2006/main">
              <a:ext uri="{FF2B5EF4-FFF2-40B4-BE49-F238E27FC236}">
                <a16:creationId xmlns:a16="http://schemas.microsoft.com/office/drawing/2014/main" id="{DCFD4BA8-0B20-41DB-B02D-015F074E7565}"/>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Break even depends on the full execution cost</a:t>
            </a:r>
          </a:p>
        </p:txBody>
      </p:sp>
      <p:sp>
        <p:nvSpPr>
          <p:cNvPr id="3" name="">
            <a:extLst xmlns:a="http://schemas.openxmlformats.org/drawingml/2006/main">
              <a:ext uri="{FF2B5EF4-FFF2-40B4-BE49-F238E27FC236}">
                <a16:creationId xmlns:a16="http://schemas.microsoft.com/office/drawing/2014/main" id="{59FC3F4A-A3FE-4408-B2DD-99A1481E061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4AA6EE-3FD9-4418-B186-E033838C5C8C}"/>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config.py; bsdex_historical_bt.py. Fee tiers are assumptions, not verified account quotes.</a:t>
            </a:r>
          </a:p>
        </p:txBody>
      </p:sp>
      <p:sp>
        <p:nvSpPr>
          <p:cNvPr id="5" name="">
            <a:extLst xmlns:a="http://schemas.openxmlformats.org/drawingml/2006/main">
              <a:ext uri="{FF2B5EF4-FFF2-40B4-BE49-F238E27FC236}">
                <a16:creationId xmlns:a16="http://schemas.microsoft.com/office/drawing/2014/main" id="{9CF4539C-60D0-469B-BA7C-A627CA00169D}"/>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5399629F-220D-4411-83EB-6D096A524D9B}"/>
              </a:ext>
            </a:extLst>
          </p:cNvPr>
          <p:cNvSpPr>
            <a:spLocks xmlns:a="http://schemas.openxmlformats.org/drawingml/2006/main" noGrp="1"/>
          </p:cNvSpPr>
          <p:nvPr/>
        </p:nvSpPr>
        <p:spPr>
          <a:xfrm xmlns:a="http://schemas.openxmlformats.org/drawingml/2006/main">
            <a:off x="609600" y="1790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8313B"/>
                </a:solidFill>
                <a:latin typeface="Arial"/>
                <a:ea typeface="Arial"/>
                <a:cs typeface="Arial"/>
              </a:defRPr>
            </a:defPPr>
          </a:lstStyle>
          <a:p xmlns:a="http://schemas.openxmlformats.org/drawingml/2006/main">
            <a:pPr>
              <a:defRPr sz="1950" b="0">
                <a:solidFill>
                  <a:srgbClr val="18313B"/>
                </a:solidFill>
                <a:latin typeface="Arial"/>
                <a:ea typeface="Arial"/>
                <a:cs typeface="Arial"/>
              </a:defRPr>
            </a:pPr>
            <a:r>
              <a:rPr sz="1950" b="0">
                <a:solidFill>
                  <a:srgbClr val="18313B"/>
                </a:solidFill>
                <a:latin typeface="Arial"/>
                <a:ea typeface="Arial"/>
                <a:cs typeface="Arial"/>
              </a:rPr>
              <a:t>1 bp = 0.01% = €10 on a €100,000 leg</a:t>
            </a:r>
          </a:p>
        </p:txBody>
      </p:sp>
      <p:graphicFrame>
        <p:nvGraphicFramePr>
          <p:cNvPr id="7" name="">
            <a:extLst xmlns:a="http://schemas.openxmlformats.org/drawingml/2006/main">
              <a:ext uri="{FF2B5EF4-FFF2-40B4-BE49-F238E27FC236}">
                <a16:creationId xmlns:a16="http://schemas.microsoft.com/office/drawing/2014/main" id="{A953CD75-B1CB-4670-B64B-0CC626B3E1F3}"/>
              </a:ext>
            </a:extLst>
          </p:cNvPr>
          <p:cNvGraphicFramePr/>
          <p:nvPr/>
        </p:nvGraphicFramePr>
        <p:xfrm>
          <a:off xmlns:a="http://schemas.openxmlformats.org/drawingml/2006/main" x="609600" y="2352675"/>
          <a:ext xmlns:a="http://schemas.openxmlformats.org/drawingml/2006/main" cx="10972800" cy="2324100"/>
        </p:xfrm>
        <a:graphic xmlns:a="http://schemas.openxmlformats.org/drawingml/2006/main">
          <a:graphicData uri="http://schemas.openxmlformats.org/drawingml/2006/table">
            <a:tbl>
              <a:tblPr/>
              <a:tblGrid>
                <a:gridCol w="3524250"/>
                <a:gridCol w="1905000"/>
                <a:gridCol w="2190750"/>
                <a:gridCol w="1333500"/>
                <a:gridCol w="2019300"/>
              </a:tblGrid>
              <a:tr h="581025">
                <a:tc>
                  <a:txBody>
                    <a:bodyPr lIns="133350" tIns="95250" rIns="133350" bIns="95250"/>
                    <a:lstStyle/>
                    <a:p>
                      <a:r>
                        <a:rPr sz="1800" b="1">
                          <a:solidFill>
                            <a:srgbClr val="FFFFFF"/>
                          </a:solidFill>
                          <a:latin typeface="Arial"/>
                          <a:ea typeface="Arial"/>
                          <a:cs typeface="Arial"/>
                        </a:rPr>
                        <a:t>Configured tier</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Bitstamp</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World proxy</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FX</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Total</a:t>
                      </a:r>
                    </a:p>
                  </a:txBody>
                  <a:tcPr marL="91440" marR="91440" marT="45720" marB="45720" anchor="ctr">
                    <a:solidFill>
                      <a:srgbClr val="173C4A"/>
                    </a:solidFill>
                  </a:tcPr>
                </a:tc>
              </a:tr>
              <a:tr h="581025">
                <a:tc>
                  <a:txBody>
                    <a:bodyPr lIns="133350" tIns="95250" rIns="133350" bIns="95250"/>
                    <a:lstStyle/>
                    <a:p>
                      <a:r>
                        <a:rPr sz="1800" b="0">
                          <a:solidFill>
                            <a:srgbClr val="18313B"/>
                          </a:solidFill>
                          <a:latin typeface="Arial"/>
                          <a:ea typeface="Arial"/>
                          <a:cs typeface="Arial"/>
                        </a:rPr>
                        <a:t>Default &gt; $20M</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10 bps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6 bps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 bp</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17 bps</a:t>
                      </a:r>
                    </a:p>
                  </a:txBody>
                  <a:tcPr marL="91440" marR="91440" marT="45720" marB="45720" anchor="ctr">
                    <a:solidFill>
                      <a:srgbClr val="EDF3F4"/>
                    </a:solidFill>
                  </a:tcPr>
                </a:tc>
              </a:tr>
              <a:tr h="581025">
                <a:tc>
                  <a:txBody>
                    <a:bodyPr lIns="133350" tIns="95250" rIns="133350" bIns="95250"/>
                    <a:lstStyle/>
                    <a:p>
                      <a:r>
                        <a:rPr sz="1800" b="0">
                          <a:solidFill>
                            <a:srgbClr val="18313B"/>
                          </a:solidFill>
                          <a:latin typeface="Arial"/>
                          <a:ea typeface="Arial"/>
                          <a:cs typeface="Arial"/>
                        </a:rPr>
                        <a:t>&gt; $250M</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5 bps</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3 bps</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1 bp</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9 bps</a:t>
                      </a:r>
                    </a:p>
                  </a:txBody>
                  <a:tcPr marL="91440" marR="91440" marT="45720" marB="45720" anchor="ctr">
                    <a:solidFill>
                      <a:srgbClr val="FFFFFF"/>
                    </a:solidFill>
                  </a:tcPr>
                </a:tc>
              </a:tr>
              <a:tr h="581025">
                <a:tc>
                  <a:txBody>
                    <a:bodyPr lIns="133350" tIns="95250" rIns="133350" bIns="95250"/>
                    <a:lstStyle/>
                    <a:p>
                      <a:r>
                        <a:rPr sz="1800" b="0">
                          <a:solidFill>
                            <a:srgbClr val="18313B"/>
                          </a:solidFill>
                          <a:latin typeface="Arial"/>
                          <a:ea typeface="Arial"/>
                          <a:cs typeface="Arial"/>
                        </a:rPr>
                        <a:t>&gt; $1B aspirational</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3 bps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3 bps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 bp</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7 bps</a:t>
                      </a:r>
                    </a:p>
                  </a:txBody>
                  <a:tcPr marL="91440" marR="91440" marT="45720" marB="45720" anchor="ctr">
                    <a:solidFill>
                      <a:srgbClr val="EDF3F4"/>
                    </a:solidFill>
                  </a:tcPr>
                </a:tc>
              </a:tr>
            </a:tbl>
          </a:graphicData>
        </a:graphic>
      </p:graphicFrame>
      <p:sp>
        <p:nvSpPr>
          <p:cNvPr id="8" name="">
            <a:extLst xmlns:a="http://schemas.openxmlformats.org/drawingml/2006/main">
              <a:ext uri="{FF2B5EF4-FFF2-40B4-BE49-F238E27FC236}">
                <a16:creationId xmlns:a16="http://schemas.microsoft.com/office/drawing/2014/main" id="{D16832B1-E4D5-407C-BE52-8CB77232721F}"/>
              </a:ext>
            </a:extLst>
          </p:cNvPr>
          <p:cNvSpPr>
            <a:spLocks xmlns:a="http://schemas.openxmlformats.org/drawingml/2006/main" noGrp="1"/>
          </p:cNvSpPr>
          <p:nvPr/>
        </p:nvSpPr>
        <p:spPr>
          <a:xfrm xmlns:a="http://schemas.openxmlformats.org/drawingml/2006/main">
            <a:off x="609600" y="49339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C4A"/>
                </a:solidFill>
                <a:latin typeface="Arial"/>
                <a:ea typeface="Arial"/>
                <a:cs typeface="Arial"/>
              </a:defRPr>
            </a:defPPr>
          </a:lstStyle>
          <a:p xmlns:a="http://schemas.openxmlformats.org/drawingml/2006/main">
            <a:pPr>
              <a:defRPr sz="1875" b="1">
                <a:solidFill>
                  <a:srgbClr val="173C4A"/>
                </a:solidFill>
                <a:latin typeface="Arial"/>
                <a:ea typeface="Arial"/>
                <a:cs typeface="Arial"/>
              </a:defRPr>
            </a:pPr>
            <a:r>
              <a:rPr sz="1875" b="1">
                <a:solidFill>
                  <a:srgbClr val="173C4A"/>
                </a:solidFill>
                <a:latin typeface="Arial"/>
                <a:ea typeface="Arial"/>
                <a:cs typeface="Arial"/>
              </a:rPr>
              <a:t>At €100k, the conservative candle hurdle rises to 19.5 bps</a:t>
            </a:r>
          </a:p>
          <a:p xmlns:a="http://schemas.openxmlformats.org/drawingml/2006/main">
            <a:pPr>
              <a:defRPr sz="1875" b="1">
                <a:solidFill>
                  <a:srgbClr val="173C4A"/>
                </a:solidFill>
                <a:latin typeface="Arial"/>
                <a:ea typeface="Arial"/>
                <a:cs typeface="Arial"/>
              </a:defRPr>
            </a:pPr>
            <a:r>
              <a:rPr sz="1875" b="1">
                <a:solidFill>
                  <a:srgbClr val="173C4A"/>
                </a:solidFill>
                <a:latin typeface="Arial"/>
                <a:ea typeface="Arial"/>
                <a:cs typeface="Arial"/>
              </a:rPr>
              <a:t>using the &gt; $250M tier, model spread and slippage.</a:t>
            </a:r>
          </a:p>
        </p:txBody>
      </p:sp>
      <p:sp>
        <p:nvSpPr>
          <p:cNvPr id="9" name="">
            <a:extLst xmlns:a="http://schemas.openxmlformats.org/drawingml/2006/main">
              <a:ext uri="{FF2B5EF4-FFF2-40B4-BE49-F238E27FC236}">
                <a16:creationId xmlns:a16="http://schemas.microsoft.com/office/drawing/2014/main" id="{E2F9E548-F6E2-4C92-9ABC-6AD188FFAAFA}"/>
              </a:ext>
            </a:extLst>
          </p:cNvPr>
          <p:cNvSpPr>
            <a:spLocks xmlns:a="http://schemas.openxmlformats.org/drawingml/2006/main" noGrp="1"/>
          </p:cNvSpPr>
          <p:nvPr/>
        </p:nvSpPr>
        <p:spPr>
          <a:xfrm xmlns:a="http://schemas.openxmlformats.org/drawingml/2006/main">
            <a:off x="609600" y="57816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6D"/>
                </a:solidFill>
                <a:latin typeface="Arial"/>
                <a:ea typeface="Arial"/>
                <a:cs typeface="Arial"/>
              </a:defRPr>
            </a:defPPr>
          </a:lstStyle>
          <a:p xmlns:a="http://schemas.openxmlformats.org/drawingml/2006/main">
            <a:pPr>
              <a:defRPr sz="1650" b="0">
                <a:solidFill>
                  <a:srgbClr val="53656D"/>
                </a:solidFill>
                <a:latin typeface="Arial"/>
                <a:ea typeface="Arial"/>
                <a:cs typeface="Arial"/>
              </a:defRPr>
            </a:pPr>
            <a:r>
              <a:rPr sz="1650" b="0">
                <a:solidFill>
                  <a:srgbClr val="53656D"/>
                </a:solidFill>
                <a:latin typeface="Arial"/>
                <a:ea typeface="Arial"/>
                <a:cs typeface="Arial"/>
              </a:rPr>
              <a:t>Carry is additional: four pools × 2.50% annually in the current model.</a:t>
            </a:r>
          </a:p>
        </p:txBody>
      </p:sp>
    </p:spTree>
    <p:extLst>
      <p:ext uri="{BB962C8B-B14F-4D97-AF65-F5344CB8AC3E}">
        <p14:creationId xmlns:p14="http://schemas.microsoft.com/office/powerpoint/2010/main" val="10011069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F6B77D-2151-40B6-B1FC-0333AB05E723}"/>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04 · QUANTITATIVE FRAMEWORK</a:t>
            </a:r>
          </a:p>
        </p:txBody>
      </p:sp>
      <p:sp>
        <p:nvSpPr>
          <p:cNvPr id="2" name="">
            <a:extLst xmlns:a="http://schemas.openxmlformats.org/drawingml/2006/main">
              <a:ext uri="{FF2B5EF4-FFF2-40B4-BE49-F238E27FC236}">
                <a16:creationId xmlns:a16="http://schemas.microsoft.com/office/drawing/2014/main" id="{A5732F75-6952-46ED-8C7B-335056067697}"/>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The z-score finds unusual spreads, not profits</a:t>
            </a:r>
          </a:p>
        </p:txBody>
      </p:sp>
      <p:sp>
        <p:nvSpPr>
          <p:cNvPr id="3" name="">
            <a:extLst xmlns:a="http://schemas.openxmlformats.org/drawingml/2006/main">
              <a:ext uri="{FF2B5EF4-FFF2-40B4-BE49-F238E27FC236}">
                <a16:creationId xmlns:a16="http://schemas.microsoft.com/office/drawing/2014/main" id="{EB6FCE71-8304-4D10-8879-886E5B9D808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BBCAB2-B862-4CD8-AA2F-2F9B39B0F106}"/>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enhanced_signals.py; config.py; bsdex_strategy.py. Full formula is in the guide.</a:t>
            </a:r>
          </a:p>
        </p:txBody>
      </p:sp>
      <p:sp>
        <p:nvSpPr>
          <p:cNvPr id="5" name="">
            <a:extLst xmlns:a="http://schemas.openxmlformats.org/drawingml/2006/main">
              <a:ext uri="{FF2B5EF4-FFF2-40B4-BE49-F238E27FC236}">
                <a16:creationId xmlns:a16="http://schemas.microsoft.com/office/drawing/2014/main" id="{3D28E454-3C19-41AC-8DE8-CF0C59E7C459}"/>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18CDE2C4-3D31-4A26-B1E1-E6E032FE4BC1}"/>
              </a:ext>
            </a:extLst>
          </p:cNvPr>
          <p:cNvSpPr>
            <a:spLocks xmlns:a="http://schemas.openxmlformats.org/drawingml/2006/main" noGrp="1"/>
          </p:cNvSpPr>
          <p:nvPr/>
        </p:nvSpPr>
        <p:spPr>
          <a:xfrm xmlns:a="http://schemas.openxmlformats.org/drawingml/2006/main">
            <a:off x="609600" y="189547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C4A"/>
                </a:solidFill>
                <a:latin typeface="Arial"/>
                <a:ea typeface="Arial"/>
                <a:cs typeface="Arial"/>
              </a:defRPr>
            </a:defPPr>
          </a:lstStyle>
          <a:p xmlns:a="http://schemas.openxmlformats.org/drawingml/2006/main">
            <a:pPr>
              <a:defRPr sz="3300" b="1">
                <a:solidFill>
                  <a:srgbClr val="173C4A"/>
                </a:solidFill>
                <a:latin typeface="Arial"/>
                <a:ea typeface="Arial"/>
                <a:cs typeface="Arial"/>
              </a:defRPr>
            </a:pPr>
            <a:r>
              <a:rPr sz="3300" b="1">
                <a:solidFill>
                  <a:srgbClr val="173C4A"/>
                </a:solidFill>
                <a:latin typeface="Arial"/>
                <a:ea typeface="Arial"/>
                <a:cs typeface="Arial"/>
              </a:rPr>
              <a:t>z = (s − μ) / σ</a:t>
            </a:r>
          </a:p>
        </p:txBody>
      </p:sp>
      <p:sp>
        <p:nvSpPr>
          <p:cNvPr id="7" name="">
            <a:extLst xmlns:a="http://schemas.openxmlformats.org/drawingml/2006/main">
              <a:ext uri="{FF2B5EF4-FFF2-40B4-BE49-F238E27FC236}">
                <a16:creationId xmlns:a16="http://schemas.microsoft.com/office/drawing/2014/main" id="{E00BC466-3632-47E7-BC40-55B349BB2DEE}"/>
              </a:ext>
            </a:extLst>
          </p:cNvPr>
          <p:cNvSpPr>
            <a:spLocks xmlns:a="http://schemas.openxmlformats.org/drawingml/2006/main" noGrp="1"/>
          </p:cNvSpPr>
          <p:nvPr/>
        </p:nvSpPr>
        <p:spPr>
          <a:xfrm xmlns:a="http://schemas.openxmlformats.org/drawingml/2006/main">
            <a:off x="609600" y="2809875"/>
            <a:ext cx="4667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13B"/>
                </a:solidFill>
                <a:latin typeface="Arial"/>
                <a:ea typeface="Arial"/>
                <a:cs typeface="Arial"/>
              </a:defRPr>
            </a:defPPr>
          </a:lstStyle>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s  = current spread</a:t>
            </a:r>
          </a:p>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μ = recent average spread</a:t>
            </a:r>
          </a:p>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σ = typical spread variation</a:t>
            </a:r>
          </a:p>
        </p:txBody>
      </p:sp>
      <p:sp>
        <p:nvSpPr>
          <p:cNvPr id="8" name="">
            <a:extLst xmlns:a="http://schemas.openxmlformats.org/drawingml/2006/main">
              <a:ext uri="{FF2B5EF4-FFF2-40B4-BE49-F238E27FC236}">
                <a16:creationId xmlns:a16="http://schemas.microsoft.com/office/drawing/2014/main" id="{2121AF4E-CC68-4F23-9EE9-C515F3F68BC3}"/>
              </a:ext>
            </a:extLst>
          </p:cNvPr>
          <p:cNvSpPr>
            <a:spLocks xmlns:a="http://schemas.openxmlformats.org/drawingml/2006/main" noGrp="1"/>
          </p:cNvSpPr>
          <p:nvPr/>
        </p:nvSpPr>
        <p:spPr>
          <a:xfrm xmlns:a="http://schemas.openxmlformats.org/drawingml/2006/main">
            <a:off x="609600" y="4533900"/>
            <a:ext cx="476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313B"/>
                </a:solidFill>
                <a:latin typeface="Arial"/>
                <a:ea typeface="Arial"/>
                <a:cs typeface="Arial"/>
              </a:defRPr>
            </a:defPPr>
          </a:lstStyle>
          <a:p xmlns:a="http://schemas.openxmlformats.org/drawingml/2006/main">
            <a:pPr>
              <a:defRPr sz="1875" b="0">
                <a:solidFill>
                  <a:srgbClr val="18313B"/>
                </a:solidFill>
                <a:latin typeface="Arial"/>
                <a:ea typeface="Arial"/>
                <a:cs typeface="Arial"/>
              </a:defRPr>
            </a:pPr>
            <a:r>
              <a:rPr sz="1875" b="0">
                <a:solidFill>
                  <a:srgbClr val="18313B"/>
                </a:solidFill>
                <a:latin typeface="Arial"/>
                <a:ea typeface="Arial"/>
                <a:cs typeface="Arial"/>
              </a:rPr>
              <a:t>Example: (€5 − €1) / €2 = 2</a:t>
            </a:r>
          </a:p>
          <a:p xmlns:a="http://schemas.openxmlformats.org/drawingml/2006/main">
            <a:pPr>
              <a:defRPr sz="1875" b="0">
                <a:solidFill>
                  <a:srgbClr val="18313B"/>
                </a:solidFill>
                <a:latin typeface="Arial"/>
                <a:ea typeface="Arial"/>
                <a:cs typeface="Arial"/>
              </a:defRPr>
            </a:pPr>
            <a:r>
              <a:rPr sz="1875" b="0">
                <a:solidFill>
                  <a:srgbClr val="18313B"/>
                </a:solidFill>
                <a:latin typeface="Arial"/>
                <a:ea typeface="Arial"/>
                <a:cs typeface="Arial"/>
              </a:rPr>
              <a:t>The spread is two standard deviations</a:t>
            </a:r>
          </a:p>
          <a:p xmlns:a="http://schemas.openxmlformats.org/drawingml/2006/main">
            <a:pPr>
              <a:defRPr sz="1875" b="0">
                <a:solidFill>
                  <a:srgbClr val="18313B"/>
                </a:solidFill>
                <a:latin typeface="Arial"/>
                <a:ea typeface="Arial"/>
                <a:cs typeface="Arial"/>
              </a:defRPr>
            </a:pPr>
            <a:r>
              <a:rPr sz="1875" b="0">
                <a:solidFill>
                  <a:srgbClr val="18313B"/>
                </a:solidFill>
                <a:latin typeface="Arial"/>
                <a:ea typeface="Arial"/>
                <a:cs typeface="Arial"/>
              </a:rPr>
              <a:t>above its recent average.</a:t>
            </a:r>
          </a:p>
        </p:txBody>
      </p:sp>
      <p:sp>
        <p:nvSpPr>
          <p:cNvPr id="9" name="">
            <a:extLst xmlns:a="http://schemas.openxmlformats.org/drawingml/2006/main">
              <a:ext uri="{FF2B5EF4-FFF2-40B4-BE49-F238E27FC236}">
                <a16:creationId xmlns:a16="http://schemas.microsoft.com/office/drawing/2014/main" id="{5686EA8B-C3D0-42EB-A26C-AE8E7DC36160}"/>
              </a:ext>
            </a:extLst>
          </p:cNvPr>
          <p:cNvSpPr>
            <a:spLocks xmlns:a="http://schemas.openxmlformats.org/drawingml/2006/main" noGrp="1"/>
          </p:cNvSpPr>
          <p:nvPr/>
        </p:nvSpPr>
        <p:spPr>
          <a:xfrm xmlns:a="http://schemas.openxmlformats.org/drawingml/2006/main">
            <a:off x="6334125" y="191452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C4A"/>
                </a:solidFill>
                <a:latin typeface="Arial"/>
                <a:ea typeface="Arial"/>
                <a:cs typeface="Arial"/>
              </a:defRPr>
            </a:defPPr>
          </a:lstStyle>
          <a:p xmlns:a="http://schemas.openxmlformats.org/drawingml/2006/main">
            <a:pPr>
              <a:defRPr sz="2250" b="1">
                <a:solidFill>
                  <a:srgbClr val="173C4A"/>
                </a:solidFill>
                <a:latin typeface="Arial"/>
                <a:ea typeface="Arial"/>
                <a:cs typeface="Arial"/>
              </a:defRPr>
            </a:pPr>
            <a:r>
              <a:rPr sz="2250" b="1">
                <a:solidFill>
                  <a:srgbClr val="173C4A"/>
                </a:solidFill>
                <a:latin typeface="Arial"/>
                <a:ea typeface="Arial"/>
                <a:cs typeface="Arial"/>
              </a:rPr>
              <a:t>Why adjust the entry threshold?</a:t>
            </a:r>
          </a:p>
        </p:txBody>
      </p:sp>
      <p:sp>
        <p:nvSpPr>
          <p:cNvPr id="10" name="">
            <a:extLst xmlns:a="http://schemas.openxmlformats.org/drawingml/2006/main">
              <a:ext uri="{FF2B5EF4-FFF2-40B4-BE49-F238E27FC236}">
                <a16:creationId xmlns:a16="http://schemas.microsoft.com/office/drawing/2014/main" id="{03514AD8-61BB-40FE-AE6F-489330301714}"/>
              </a:ext>
            </a:extLst>
          </p:cNvPr>
          <p:cNvSpPr>
            <a:spLocks xmlns:a="http://schemas.openxmlformats.org/drawingml/2006/main" noGrp="1"/>
          </p:cNvSpPr>
          <p:nvPr/>
        </p:nvSpPr>
        <p:spPr>
          <a:xfrm xmlns:a="http://schemas.openxmlformats.org/drawingml/2006/main">
            <a:off x="6334125" y="2705100"/>
            <a:ext cx="5191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The intended response is to demand a more unusual signal when spread volatility or momentum rises.</a:t>
            </a:r>
          </a:p>
        </p:txBody>
      </p:sp>
      <p:sp>
        <p:nvSpPr>
          <p:cNvPr id="11" name="">
            <a:extLst xmlns:a="http://schemas.openxmlformats.org/drawingml/2006/main">
              <a:ext uri="{FF2B5EF4-FFF2-40B4-BE49-F238E27FC236}">
                <a16:creationId xmlns:a16="http://schemas.microsoft.com/office/drawing/2014/main" id="{2EF76C5C-E409-4C17-81BC-5A898337A06F}"/>
              </a:ext>
            </a:extLst>
          </p:cNvPr>
          <p:cNvSpPr>
            <a:spLocks xmlns:a="http://schemas.openxmlformats.org/drawingml/2006/main" noGrp="1"/>
          </p:cNvSpPr>
          <p:nvPr/>
        </p:nvSpPr>
        <p:spPr>
          <a:xfrm xmlns:a="http://schemas.openxmlformats.org/drawingml/2006/main">
            <a:off x="6334125" y="3943350"/>
            <a:ext cx="5191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Live threshold: 0.3–2.0</a:t>
            </a:r>
          </a:p>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Base value: 0.4</a:t>
            </a:r>
          </a:p>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History: up to 30 recent samples</a:t>
            </a:r>
          </a:p>
        </p:txBody>
      </p:sp>
      <p:sp>
        <p:nvSpPr>
          <p:cNvPr id="12" name="">
            <a:extLst xmlns:a="http://schemas.openxmlformats.org/drawingml/2006/main">
              <a:ext uri="{FF2B5EF4-FFF2-40B4-BE49-F238E27FC236}">
                <a16:creationId xmlns:a16="http://schemas.microsoft.com/office/drawing/2014/main" id="{504A3E78-81C6-4211-BB44-896AAA6A4C7D}"/>
              </a:ext>
            </a:extLst>
          </p:cNvPr>
          <p:cNvSpPr>
            <a:spLocks xmlns:a="http://schemas.openxmlformats.org/drawingml/2006/main" noGrp="1"/>
          </p:cNvSpPr>
          <p:nvPr/>
        </p:nvSpPr>
        <p:spPr>
          <a:xfrm xmlns:a="http://schemas.openxmlformats.org/drawingml/2006/main">
            <a:off x="6334125" y="5267325"/>
            <a:ext cx="5191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33639"/>
                </a:solidFill>
                <a:latin typeface="Arial"/>
                <a:ea typeface="Arial"/>
                <a:cs typeface="Arial"/>
              </a:defRPr>
            </a:defPPr>
          </a:lstStyle>
          <a:p xmlns:a="http://schemas.openxmlformats.org/drawingml/2006/main">
            <a:pPr>
              <a:defRPr sz="1800" b="0">
                <a:solidFill>
                  <a:srgbClr val="A33639"/>
                </a:solidFill>
                <a:latin typeface="Arial"/>
                <a:ea typeface="Arial"/>
                <a:cs typeface="Arial"/>
              </a:defRPr>
            </a:pPr>
            <a:r>
              <a:rPr sz="1800" b="0">
                <a:solidFill>
                  <a:srgbClr val="A33639"/>
                </a:solidFill>
                <a:latin typeface="Arial"/>
                <a:ea typeface="Arial"/>
                <a:cs typeface="Arial"/>
              </a:rPr>
              <a:t>Limits: volume input is constant; momentum is in raw EUR; predictive value is unproven.</a:t>
            </a:r>
          </a:p>
        </p:txBody>
      </p:sp>
    </p:spTree>
    <p:extLst>
      <p:ext uri="{BB962C8B-B14F-4D97-AF65-F5344CB8AC3E}">
        <p14:creationId xmlns:p14="http://schemas.microsoft.com/office/powerpoint/2010/main" val="11982513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5599AC-2ED7-4685-AA26-FB23DAEE503A}"/>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05 · ENTRY CONTROLS AND FREQUENCY</a:t>
            </a:r>
          </a:p>
        </p:txBody>
      </p:sp>
      <p:sp>
        <p:nvSpPr>
          <p:cNvPr id="2" name="">
            <a:extLst xmlns:a="http://schemas.openxmlformats.org/drawingml/2006/main">
              <a:ext uri="{FF2B5EF4-FFF2-40B4-BE49-F238E27FC236}">
                <a16:creationId xmlns:a16="http://schemas.microsoft.com/office/drawing/2014/main" id="{7A6A844E-37A5-4E5F-911A-19152A52DF17}"/>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Every signal must pass several gates</a:t>
            </a:r>
          </a:p>
        </p:txBody>
      </p:sp>
      <p:sp>
        <p:nvSpPr>
          <p:cNvPr id="3" name="">
            <a:extLst xmlns:a="http://schemas.openxmlformats.org/drawingml/2006/main">
              <a:ext uri="{FF2B5EF4-FFF2-40B4-BE49-F238E27FC236}">
                <a16:creationId xmlns:a16="http://schemas.microsoft.com/office/drawing/2014/main" id="{A36D13F1-BE25-4569-8370-1143789D4CB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6BCCD97-E0E9-40E1-9F98-3862610D0B64}"/>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bsdex_strategy.py; enhanced_signals.py; simulation.py.</a:t>
            </a:r>
          </a:p>
        </p:txBody>
      </p:sp>
      <p:sp>
        <p:nvSpPr>
          <p:cNvPr id="5" name="">
            <a:extLst xmlns:a="http://schemas.openxmlformats.org/drawingml/2006/main">
              <a:ext uri="{FF2B5EF4-FFF2-40B4-BE49-F238E27FC236}">
                <a16:creationId xmlns:a16="http://schemas.microsoft.com/office/drawing/2014/main" id="{0120EE68-CEC6-445D-9320-581A8889B57B}"/>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06</a:t>
            </a:r>
          </a:p>
        </p:txBody>
      </p:sp>
      <p:graphicFrame>
        <p:nvGraphicFramePr>
          <p:cNvPr id="6" name="">
            <a:extLst xmlns:a="http://schemas.openxmlformats.org/drawingml/2006/main">
              <a:ext uri="{FF2B5EF4-FFF2-40B4-BE49-F238E27FC236}">
                <a16:creationId xmlns:a16="http://schemas.microsoft.com/office/drawing/2014/main" id="{5309CDD7-1CAE-4D1E-88BE-6084D91AA007}"/>
              </a:ext>
            </a:extLst>
          </p:cNvPr>
          <p:cNvGraphicFramePr/>
          <p:nvPr/>
        </p:nvGraphicFramePr>
        <p:xfrm>
          <a:off xmlns:a="http://schemas.openxmlformats.org/drawingml/2006/main" x="609600" y="1790700"/>
          <a:ext xmlns:a="http://schemas.openxmlformats.org/drawingml/2006/main" cx="10972800" cy="3886200"/>
        </p:xfrm>
        <a:graphic xmlns:a="http://schemas.openxmlformats.org/drawingml/2006/main">
          <a:graphicData uri="http://schemas.openxmlformats.org/drawingml/2006/table">
            <a:tbl>
              <a:tblPr/>
              <a:tblGrid>
                <a:gridCol w="2476500"/>
                <a:gridCol w="8496300"/>
              </a:tblGrid>
              <a:tr h="647700">
                <a:tc>
                  <a:txBody>
                    <a:bodyPr lIns="133350" tIns="95250" rIns="133350" bIns="95250"/>
                    <a:lstStyle/>
                    <a:p>
                      <a:r>
                        <a:rPr sz="1800" b="1">
                          <a:solidFill>
                            <a:srgbClr val="FFFFFF"/>
                          </a:solidFill>
                          <a:latin typeface="Arial"/>
                          <a:ea typeface="Arial"/>
                          <a:cs typeface="Arial"/>
                        </a:rPr>
                        <a:t>Gate</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Required condition</a:t>
                      </a:r>
                    </a:p>
                  </a:txBody>
                  <a:tcPr marL="91440" marR="91440" marT="45720" marB="45720" anchor="ctr">
                    <a:solidFill>
                      <a:srgbClr val="173C4A"/>
                    </a:solidFill>
                  </a:tcPr>
                </a:tc>
              </a:tr>
              <a:tr h="647700">
                <a:tc>
                  <a:txBody>
                    <a:bodyPr lIns="133350" tIns="95250" rIns="133350" bIns="95250"/>
                    <a:lstStyle/>
                    <a:p>
                      <a:r>
                        <a:rPr sz="1800" b="0">
                          <a:solidFill>
                            <a:srgbClr val="18313B"/>
                          </a:solidFill>
                          <a:latin typeface="Arial"/>
                          <a:ea typeface="Arial"/>
                          <a:cs typeface="Arial"/>
                        </a:rPr>
                        <a:t>Freshness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Both crypto books and the EURUSDT book are no older than 5 seconds</a:t>
                      </a:r>
                    </a:p>
                  </a:txBody>
                  <a:tcPr marL="91440" marR="91440" marT="45720" marB="45720" anchor="ctr">
                    <a:solidFill>
                      <a:srgbClr val="EDF3F4"/>
                    </a:solidFill>
                  </a:tcPr>
                </a:tc>
              </a:tr>
              <a:tr h="647700">
                <a:tc>
                  <a:txBody>
                    <a:bodyPr lIns="133350" tIns="95250" rIns="133350" bIns="95250"/>
                    <a:lstStyle/>
                    <a:p>
                      <a:r>
                        <a:rPr sz="1800" b="0">
                          <a:solidFill>
                            <a:srgbClr val="18313B"/>
                          </a:solidFill>
                          <a:latin typeface="Arial"/>
                          <a:ea typeface="Arial"/>
                          <a:cs typeface="Arial"/>
                        </a:rPr>
                        <a:t>Signal and economics</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|z| reaches the threshold; expected proceeds exceed all trading fees</a:t>
                      </a:r>
                    </a:p>
                  </a:txBody>
                  <a:tcPr marL="91440" marR="91440" marT="45720" marB="45720" anchor="ctr">
                    <a:solidFill>
                      <a:srgbClr val="FFFFFF"/>
                    </a:solidFill>
                  </a:tcPr>
                </a:tc>
              </a:tr>
              <a:tr h="647700">
                <a:tc>
                  <a:txBody>
                    <a:bodyPr lIns="133350" tIns="95250" rIns="133350" bIns="95250"/>
                    <a:lstStyle/>
                    <a:p>
                      <a:r>
                        <a:rPr sz="1800" b="0">
                          <a:solidFill>
                            <a:srgbClr val="18313B"/>
                          </a:solidFill>
                          <a:latin typeface="Arial"/>
                          <a:ea typeface="Arial"/>
                          <a:cs typeface="Arial"/>
                        </a:rPr>
                        <a:t>Depth</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Both sides have enough visible quantity for the whole trade</a:t>
                      </a:r>
                    </a:p>
                  </a:txBody>
                  <a:tcPr marL="91440" marR="91440" marT="45720" marB="45720" anchor="ctr">
                    <a:solidFill>
                      <a:srgbClr val="EDF3F4"/>
                    </a:solidFill>
                  </a:tcPr>
                </a:tc>
              </a:tr>
              <a:tr h="647700">
                <a:tc>
                  <a:txBody>
                    <a:bodyPr lIns="133350" tIns="95250" rIns="133350" bIns="95250"/>
                    <a:lstStyle/>
                    <a:p>
                      <a:r>
                        <a:rPr sz="1800" b="0">
                          <a:solidFill>
                            <a:srgbClr val="18313B"/>
                          </a:solidFill>
                          <a:latin typeface="Arial"/>
                          <a:ea typeface="Arial"/>
                          <a:cs typeface="Arial"/>
                        </a:rPr>
                        <a:t>Rate control</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30-second live cooldown; one pending order per market</a:t>
                      </a:r>
                    </a:p>
                  </a:txBody>
                  <a:tcPr marL="91440" marR="91440" marT="45720" marB="45720" anchor="ctr">
                    <a:solidFill>
                      <a:srgbClr val="FFFFFF"/>
                    </a:solidFill>
                  </a:tcPr>
                </a:tc>
              </a:tr>
              <a:tr h="647700">
                <a:tc>
                  <a:txBody>
                    <a:bodyPr lIns="133350" tIns="95250" rIns="133350" bIns="95250"/>
                    <a:lstStyle/>
                    <a:p>
                      <a:r>
                        <a:rPr sz="1800" b="0">
                          <a:solidFill>
                            <a:srgbClr val="18313B"/>
                          </a:solidFill>
                          <a:latin typeface="Arial"/>
                          <a:ea typeface="Arial"/>
                          <a:cs typeface="Arial"/>
                        </a:rPr>
                        <a:t>Delayed fill</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At least 300 ms; retain losses and explicitly count failed fills</a:t>
                      </a:r>
                    </a:p>
                  </a:txBody>
                  <a:tcPr marL="91440" marR="91440" marT="45720" marB="45720" anchor="ctr">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BC923A88-AB25-40A6-B919-C1B1E1C3E6DC}"/>
              </a:ext>
            </a:extLst>
          </p:cNvPr>
          <p:cNvSpPr>
            <a:spLocks xmlns:a="http://schemas.openxmlformats.org/drawingml/2006/main" noGrp="1"/>
          </p:cNvSpPr>
          <p:nvPr/>
        </p:nvSpPr>
        <p:spPr>
          <a:xfrm xmlns:a="http://schemas.openxmlformats.org/drawingml/2006/main">
            <a:off x="609600" y="58293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56D"/>
                </a:solidFill>
                <a:latin typeface="Arial"/>
                <a:ea typeface="Arial"/>
                <a:cs typeface="Arial"/>
              </a:defRPr>
            </a:defPPr>
          </a:lstStyle>
          <a:p xmlns:a="http://schemas.openxmlformats.org/drawingml/2006/main">
            <a:pPr>
              <a:defRPr sz="1575" b="0">
                <a:solidFill>
                  <a:srgbClr val="53656D"/>
                </a:solidFill>
                <a:latin typeface="Arial"/>
                <a:ea typeface="Arial"/>
                <a:cs typeface="Arial"/>
              </a:defRPr>
            </a:pPr>
            <a:r>
              <a:rPr sz="1575" b="0">
                <a:solidFill>
                  <a:srgbClr val="53656D"/>
                </a:solidFill>
                <a:latin typeface="Arial"/>
                <a:ea typeface="Arial"/>
                <a:cs typeface="Arial"/>
              </a:rPr>
              <a:t>Event-driven, not a fixed trade schedule. The live ceiling is about 120 signals/hour per market; observed candle frequency was one trade/day.</a:t>
            </a:r>
          </a:p>
        </p:txBody>
      </p:sp>
    </p:spTree>
    <p:extLst>
      <p:ext uri="{BB962C8B-B14F-4D97-AF65-F5344CB8AC3E}">
        <p14:creationId xmlns:p14="http://schemas.microsoft.com/office/powerpoint/2010/main" val="14016077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A5E878-1929-4100-8A54-03904E996737}"/>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06 · FULL CYCLE EXAMPLE · ILLUSTRATIVE, NOT A RECORDED TRADE</a:t>
            </a:r>
          </a:p>
        </p:txBody>
      </p:sp>
      <p:sp>
        <p:nvSpPr>
          <p:cNvPr id="2" name="">
            <a:extLst xmlns:a="http://schemas.openxmlformats.org/drawingml/2006/main">
              <a:ext uri="{FF2B5EF4-FFF2-40B4-BE49-F238E27FC236}">
                <a16:creationId xmlns:a16="http://schemas.microsoft.com/office/drawing/2014/main" id="{11BE1349-215A-4881-878D-BA99E137A922}"/>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A valid signal can become a losing fill</a:t>
            </a:r>
          </a:p>
        </p:txBody>
      </p:sp>
      <p:sp>
        <p:nvSpPr>
          <p:cNvPr id="3" name="">
            <a:extLst xmlns:a="http://schemas.openxmlformats.org/drawingml/2006/main">
              <a:ext uri="{FF2B5EF4-FFF2-40B4-BE49-F238E27FC236}">
                <a16:creationId xmlns:a16="http://schemas.microsoft.com/office/drawing/2014/main" id="{4DF6E083-9FF4-4735-80E1-3C92610A99A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D2FB33-78B8-45CD-9680-C1D9A7EB8718}"/>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 current fee and latency model. Example uses 1 BTC, &gt; $250M tier; excludes carry and rebalancing.</a:t>
            </a:r>
          </a:p>
        </p:txBody>
      </p:sp>
      <p:sp>
        <p:nvSpPr>
          <p:cNvPr id="5" name="">
            <a:extLst xmlns:a="http://schemas.openxmlformats.org/drawingml/2006/main">
              <a:ext uri="{FF2B5EF4-FFF2-40B4-BE49-F238E27FC236}">
                <a16:creationId xmlns:a16="http://schemas.microsoft.com/office/drawing/2014/main" id="{AE635C1A-4477-4542-A0F0-E4F487A9285B}"/>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07</a:t>
            </a:r>
          </a:p>
        </p:txBody>
      </p:sp>
      <p:graphicFrame>
        <p:nvGraphicFramePr>
          <p:cNvPr id="6" name="">
            <a:extLst xmlns:a="http://schemas.openxmlformats.org/drawingml/2006/main">
              <a:ext uri="{FF2B5EF4-FFF2-40B4-BE49-F238E27FC236}">
                <a16:creationId xmlns:a16="http://schemas.microsoft.com/office/drawing/2014/main" id="{3282E07C-0351-4FE5-8157-CAA34E632AE2}"/>
              </a:ext>
            </a:extLst>
          </p:cNvPr>
          <p:cNvGraphicFramePr/>
          <p:nvPr/>
        </p:nvGraphicFramePr>
        <p:xfrm>
          <a:off xmlns:a="http://schemas.openxmlformats.org/drawingml/2006/main" x="609600" y="1800225"/>
          <a:ext xmlns:a="http://schemas.openxmlformats.org/drawingml/2006/main" cx="10972800" cy="3600450"/>
        </p:xfrm>
        <a:graphic xmlns:a="http://schemas.openxmlformats.org/drawingml/2006/main">
          <a:graphicData uri="http://schemas.openxmlformats.org/drawingml/2006/table">
            <a:tbl>
              <a:tblPr/>
              <a:tblGrid>
                <a:gridCol w="4114800"/>
                <a:gridCol w="3429000"/>
                <a:gridCol w="3429000"/>
              </a:tblGrid>
              <a:tr h="600075">
                <a:tc>
                  <a:txBody>
                    <a:bodyPr lIns="133350" tIns="95250" rIns="133350" bIns="95250"/>
                    <a:lstStyle/>
                    <a:p>
                      <a:r>
                        <a:rPr sz="1875" b="1">
                          <a:solidFill>
                            <a:srgbClr val="FFFFFF"/>
                          </a:solidFill>
                          <a:latin typeface="Arial"/>
                          <a:ea typeface="Arial"/>
                          <a:cs typeface="Arial"/>
                        </a:rPr>
                        <a:t>One BTC</a:t>
                      </a:r>
                    </a:p>
                  </a:txBody>
                  <a:tcPr marL="91440" marR="91440" marT="45720" marB="45720" anchor="ctr">
                    <a:solidFill>
                      <a:srgbClr val="173C4A"/>
                    </a:solidFill>
                  </a:tcPr>
                </a:tc>
                <a:tc>
                  <a:txBody>
                    <a:bodyPr lIns="133350" tIns="95250" rIns="133350" bIns="95250"/>
                    <a:lstStyle/>
                    <a:p>
                      <a:r>
                        <a:rPr sz="1875" b="1">
                          <a:solidFill>
                            <a:srgbClr val="FFFFFF"/>
                          </a:solidFill>
                          <a:latin typeface="Arial"/>
                          <a:ea typeface="Arial"/>
                          <a:cs typeface="Arial"/>
                        </a:rPr>
                        <a:t>Signal expectation</a:t>
                      </a:r>
                    </a:p>
                  </a:txBody>
                  <a:tcPr marL="91440" marR="91440" marT="45720" marB="45720" anchor="ctr">
                    <a:solidFill>
                      <a:srgbClr val="173C4A"/>
                    </a:solidFill>
                  </a:tcPr>
                </a:tc>
                <a:tc>
                  <a:txBody>
                    <a:bodyPr lIns="133350" tIns="95250" rIns="133350" bIns="95250"/>
                    <a:lstStyle/>
                    <a:p>
                      <a:r>
                        <a:rPr sz="1875" b="1">
                          <a:solidFill>
                            <a:srgbClr val="FFFFFF"/>
                          </a:solidFill>
                          <a:latin typeface="Arial"/>
                          <a:ea typeface="Arial"/>
                          <a:cs typeface="Arial"/>
                        </a:rPr>
                        <a:t>Delayed execution</a:t>
                      </a:r>
                    </a:p>
                  </a:txBody>
                  <a:tcPr marL="91440" marR="91440" marT="45720" marB="45720" anchor="ctr">
                    <a:solidFill>
                      <a:srgbClr val="173C4A"/>
                    </a:solidFill>
                  </a:tcPr>
                </a:tc>
              </a:tr>
              <a:tr h="600075">
                <a:tc>
                  <a:txBody>
                    <a:bodyPr lIns="133350" tIns="95250" rIns="133350" bIns="95250"/>
                    <a:lstStyle/>
                    <a:p>
                      <a:r>
                        <a:rPr sz="1875" b="0">
                          <a:solidFill>
                            <a:srgbClr val="18313B"/>
                          </a:solidFill>
                          <a:latin typeface="Arial"/>
                          <a:ea typeface="Arial"/>
                          <a:cs typeface="Arial"/>
                        </a:rPr>
                        <a:t>Buy on Bitstamp</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€100,000</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€100,040</a:t>
                      </a:r>
                    </a:p>
                  </a:txBody>
                  <a:tcPr marL="91440" marR="91440" marT="45720" marB="45720" anchor="ctr">
                    <a:solidFill>
                      <a:srgbClr val="EDF3F4"/>
                    </a:solidFill>
                  </a:tcPr>
                </a:tc>
              </a:tr>
              <a:tr h="600075">
                <a:tc>
                  <a:txBody>
                    <a:bodyPr lIns="133350" tIns="95250" rIns="133350" bIns="95250"/>
                    <a:lstStyle/>
                    <a:p>
                      <a:r>
                        <a:rPr sz="1875" b="0">
                          <a:solidFill>
                            <a:srgbClr val="18313B"/>
                          </a:solidFill>
                          <a:latin typeface="Arial"/>
                          <a:ea typeface="Arial"/>
                          <a:cs typeface="Arial"/>
                        </a:rPr>
                        <a:t>Sell after FX conversion</a:t>
                      </a:r>
                    </a:p>
                  </a:txBody>
                  <a:tcPr marL="91440" marR="91440" marT="45720" marB="45720" anchor="ctr">
                    <a:solidFill>
                      <a:srgbClr val="FFFFFF"/>
                    </a:solidFill>
                  </a:tcPr>
                </a:tc>
                <a:tc>
                  <a:txBody>
                    <a:bodyPr lIns="133350" tIns="95250" rIns="133350" bIns="95250"/>
                    <a:lstStyle/>
                    <a:p>
                      <a:r>
                        <a:rPr sz="1875" b="0">
                          <a:solidFill>
                            <a:srgbClr val="18313B"/>
                          </a:solidFill>
                          <a:latin typeface="Arial"/>
                          <a:ea typeface="Arial"/>
                          <a:cs typeface="Arial"/>
                        </a:rPr>
                        <a:t>€100,150</a:t>
                      </a:r>
                    </a:p>
                  </a:txBody>
                  <a:tcPr marL="91440" marR="91440" marT="45720" marB="45720" anchor="ctr">
                    <a:solidFill>
                      <a:srgbClr val="FFFFFF"/>
                    </a:solidFill>
                  </a:tcPr>
                </a:tc>
                <a:tc>
                  <a:txBody>
                    <a:bodyPr lIns="133350" tIns="95250" rIns="133350" bIns="95250"/>
                    <a:lstStyle/>
                    <a:p>
                      <a:r>
                        <a:rPr sz="1875" b="0">
                          <a:solidFill>
                            <a:srgbClr val="18313B"/>
                          </a:solidFill>
                          <a:latin typeface="Arial"/>
                          <a:ea typeface="Arial"/>
                          <a:cs typeface="Arial"/>
                        </a:rPr>
                        <a:t>€100,020</a:t>
                      </a:r>
                    </a:p>
                  </a:txBody>
                  <a:tcPr marL="91440" marR="91440" marT="45720" marB="45720" anchor="ctr">
                    <a:solidFill>
                      <a:srgbClr val="FFFFFF"/>
                    </a:solidFill>
                  </a:tcPr>
                </a:tc>
              </a:tr>
              <a:tr h="600075">
                <a:tc>
                  <a:txBody>
                    <a:bodyPr lIns="133350" tIns="95250" rIns="133350" bIns="95250"/>
                    <a:lstStyle/>
                    <a:p>
                      <a:r>
                        <a:rPr sz="1875" b="0">
                          <a:solidFill>
                            <a:srgbClr val="18313B"/>
                          </a:solidFill>
                          <a:latin typeface="Arial"/>
                          <a:ea typeface="Arial"/>
                          <a:cs typeface="Arial"/>
                        </a:rPr>
                        <a:t>Gross difference</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+€150.00</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−€20.00</a:t>
                      </a:r>
                    </a:p>
                  </a:txBody>
                  <a:tcPr marL="91440" marR="91440" marT="45720" marB="45720" anchor="ctr">
                    <a:solidFill>
                      <a:srgbClr val="EDF3F4"/>
                    </a:solidFill>
                  </a:tcPr>
                </a:tc>
              </a:tr>
              <a:tr h="600075">
                <a:tc>
                  <a:txBody>
                    <a:bodyPr lIns="133350" tIns="95250" rIns="133350" bIns="95250"/>
                    <a:lstStyle/>
                    <a:p>
                      <a:r>
                        <a:rPr sz="1875" b="0">
                          <a:solidFill>
                            <a:srgbClr val="18313B"/>
                          </a:solidFill>
                          <a:latin typeface="Arial"/>
                          <a:ea typeface="Arial"/>
                          <a:cs typeface="Arial"/>
                        </a:rPr>
                        <a:t>Fees and FX cost</a:t>
                      </a:r>
                    </a:p>
                  </a:txBody>
                  <a:tcPr marL="91440" marR="91440" marT="45720" marB="45720" anchor="ctr">
                    <a:solidFill>
                      <a:srgbClr val="FFFFFF"/>
                    </a:solidFill>
                  </a:tcPr>
                </a:tc>
                <a:tc>
                  <a:txBody>
                    <a:bodyPr lIns="133350" tIns="95250" rIns="133350" bIns="95250"/>
                    <a:lstStyle/>
                    <a:p>
                      <a:r>
                        <a:rPr sz="1875" b="0">
                          <a:solidFill>
                            <a:srgbClr val="18313B"/>
                          </a:solidFill>
                          <a:latin typeface="Arial"/>
                          <a:ea typeface="Arial"/>
                          <a:cs typeface="Arial"/>
                        </a:rPr>
                        <a:t>€90.06</a:t>
                      </a:r>
                    </a:p>
                  </a:txBody>
                  <a:tcPr marL="91440" marR="91440" marT="45720" marB="45720" anchor="ctr">
                    <a:solidFill>
                      <a:srgbClr val="FFFFFF"/>
                    </a:solidFill>
                  </a:tcPr>
                </a:tc>
                <a:tc>
                  <a:txBody>
                    <a:bodyPr lIns="133350" tIns="95250" rIns="133350" bIns="95250"/>
                    <a:lstStyle/>
                    <a:p>
                      <a:r>
                        <a:rPr sz="1875" b="0">
                          <a:solidFill>
                            <a:srgbClr val="18313B"/>
                          </a:solidFill>
                          <a:latin typeface="Arial"/>
                          <a:ea typeface="Arial"/>
                          <a:cs typeface="Arial"/>
                        </a:rPr>
                        <a:t>€90.03</a:t>
                      </a:r>
                    </a:p>
                  </a:txBody>
                  <a:tcPr marL="91440" marR="91440" marT="45720" marB="45720" anchor="ctr">
                    <a:solidFill>
                      <a:srgbClr val="FFFFFF"/>
                    </a:solidFill>
                  </a:tcPr>
                </a:tc>
              </a:tr>
              <a:tr h="600075">
                <a:tc>
                  <a:txBody>
                    <a:bodyPr lIns="133350" tIns="95250" rIns="133350" bIns="95250"/>
                    <a:lstStyle/>
                    <a:p>
                      <a:r>
                        <a:rPr sz="1875" b="0">
                          <a:solidFill>
                            <a:srgbClr val="18313B"/>
                          </a:solidFill>
                          <a:latin typeface="Arial"/>
                          <a:ea typeface="Arial"/>
                          <a:cs typeface="Arial"/>
                        </a:rPr>
                        <a:t>Net before carry</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+€59.94</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−€110.03</a:t>
                      </a:r>
                    </a:p>
                  </a:txBody>
                  <a:tcPr marL="91440" marR="91440" marT="45720" marB="45720" anchor="ctr">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AF54B62C-D5D3-450A-9F3B-0E9F18859249}"/>
              </a:ext>
            </a:extLst>
          </p:cNvPr>
          <p:cNvSpPr>
            <a:spLocks xmlns:a="http://schemas.openxmlformats.org/drawingml/2006/main" noGrp="1"/>
          </p:cNvSpPr>
          <p:nvPr/>
        </p:nvSpPr>
        <p:spPr>
          <a:xfrm xmlns:a="http://schemas.openxmlformats.org/drawingml/2006/main">
            <a:off x="609600" y="57435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C4A"/>
                </a:solidFill>
                <a:latin typeface="Arial"/>
                <a:ea typeface="Arial"/>
                <a:cs typeface="Arial"/>
              </a:defRPr>
            </a:defPPr>
          </a:lstStyle>
          <a:p xmlns:a="http://schemas.openxmlformats.org/drawingml/2006/main">
            <a:pPr>
              <a:defRPr sz="1875" b="1">
                <a:solidFill>
                  <a:srgbClr val="173C4A"/>
                </a:solidFill>
                <a:latin typeface="Arial"/>
                <a:ea typeface="Arial"/>
                <a:cs typeface="Arial"/>
              </a:defRPr>
            </a:pPr>
            <a:r>
              <a:rPr sz="1875" b="1">
                <a:solidFill>
                  <a:srgbClr val="173C4A"/>
                </a:solidFill>
                <a:latin typeface="Arial"/>
                <a:ea typeface="Arial"/>
                <a:cs typeface="Arial"/>
              </a:rPr>
              <a:t>Prefund → identify → fix quantity → fill both legs → reconcile and rebalance</a:t>
            </a:r>
          </a:p>
        </p:txBody>
      </p:sp>
    </p:spTree>
    <p:extLst>
      <p:ext uri="{BB962C8B-B14F-4D97-AF65-F5344CB8AC3E}">
        <p14:creationId xmlns:p14="http://schemas.microsoft.com/office/powerpoint/2010/main" val="11488034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947FE8-4E98-477F-9AF3-152DBF613320}"/>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07 · DOCUMENTED BACKTEST RESULT</a:t>
            </a:r>
          </a:p>
        </p:txBody>
      </p:sp>
      <p:sp>
        <p:nvSpPr>
          <p:cNvPr id="2" name="">
            <a:extLst xmlns:a="http://schemas.openxmlformats.org/drawingml/2006/main">
              <a:ext uri="{FF2B5EF4-FFF2-40B4-BE49-F238E27FC236}">
                <a16:creationId xmlns:a16="http://schemas.microsoft.com/office/drawing/2014/main" id="{46410317-739C-4C28-8181-AB31AE36CFC2}"/>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The corrected candle test lost money</a:t>
            </a:r>
          </a:p>
        </p:txBody>
      </p:sp>
      <p:sp>
        <p:nvSpPr>
          <p:cNvPr id="3" name="">
            <a:extLst xmlns:a="http://schemas.openxmlformats.org/drawingml/2006/main">
              <a:ext uri="{FF2B5EF4-FFF2-40B4-BE49-F238E27FC236}">
                <a16:creationId xmlns:a16="http://schemas.microsoft.com/office/drawing/2014/main" id="{B04BA095-45D8-4207-A225-5BB5BC51DDB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F93CB6-3ECD-4CF3-9A6D-AF39053E25DC}"/>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 docs/engine-integrity.md, verification dated 11 October 2026; model result, not account P&amp;L.</a:t>
            </a:r>
          </a:p>
        </p:txBody>
      </p:sp>
      <p:sp>
        <p:nvSpPr>
          <p:cNvPr id="5" name="">
            <a:extLst xmlns:a="http://schemas.openxmlformats.org/drawingml/2006/main">
              <a:ext uri="{FF2B5EF4-FFF2-40B4-BE49-F238E27FC236}">
                <a16:creationId xmlns:a16="http://schemas.microsoft.com/office/drawing/2014/main" id="{0212519F-84A7-46B9-9887-920F9EDD2857}"/>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32FF4BA2-F9AB-4186-8AFC-76B6AB8E00BE}"/>
              </a:ext>
            </a:extLst>
          </p:cNvPr>
          <p:cNvSpPr>
            <a:spLocks xmlns:a="http://schemas.openxmlformats.org/drawingml/2006/main" noGrp="1"/>
          </p:cNvSpPr>
          <p:nvPr/>
        </p:nvSpPr>
        <p:spPr>
          <a:xfrm xmlns:a="http://schemas.openxmlformats.org/drawingml/2006/main">
            <a:off x="609600" y="17526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33639"/>
                </a:solidFill>
                <a:latin typeface="Arial"/>
                <a:ea typeface="Arial"/>
                <a:cs typeface="Arial"/>
              </a:defRPr>
            </a:defPPr>
          </a:lstStyle>
          <a:p xmlns:a="http://schemas.openxmlformats.org/drawingml/2006/main">
            <a:pPr>
              <a:defRPr sz="2475" b="1">
                <a:solidFill>
                  <a:srgbClr val="A33639"/>
                </a:solidFill>
                <a:latin typeface="Arial"/>
                <a:ea typeface="Arial"/>
                <a:cs typeface="Arial"/>
              </a:defRPr>
            </a:pPr>
            <a:r>
              <a:rPr sz="2475" b="1">
                <a:solidFill>
                  <a:srgbClr val="A33639"/>
                </a:solidFill>
                <a:latin typeface="Arial"/>
                <a:ea typeface="Arial"/>
                <a:cs typeface="Arial"/>
              </a:rPr>
              <a:t>7 trades  ·  0 winners  ·  7 losses</a:t>
            </a:r>
          </a:p>
        </p:txBody>
      </p:sp>
      <p:graphicFrame>
        <p:nvGraphicFramePr>
          <p:cNvPr id="7" name="">
            <a:extLst xmlns:a="http://schemas.openxmlformats.org/drawingml/2006/main">
              <a:ext uri="{FF2B5EF4-FFF2-40B4-BE49-F238E27FC236}">
                <a16:creationId xmlns:a16="http://schemas.microsoft.com/office/drawing/2014/main" id="{DD9F08D3-84CE-4D5C-8E95-C6A52F2D8103}"/>
              </a:ext>
            </a:extLst>
          </p:cNvPr>
          <p:cNvGraphicFramePr/>
          <p:nvPr/>
        </p:nvGraphicFramePr>
        <p:xfrm>
          <a:off xmlns:a="http://schemas.openxmlformats.org/drawingml/2006/main" x="609600" y="2409825"/>
          <a:ext xmlns:a="http://schemas.openxmlformats.org/drawingml/2006/main" cx="10972800" cy="3028950"/>
        </p:xfrm>
        <a:graphic xmlns:a="http://schemas.openxmlformats.org/drawingml/2006/main">
          <a:graphicData uri="http://schemas.openxmlformats.org/drawingml/2006/table">
            <a:tbl>
              <a:tblPr/>
              <a:tblGrid>
                <a:gridCol w="7734300"/>
                <a:gridCol w="3238500"/>
              </a:tblGrid>
              <a:tr h="504825">
                <a:tc>
                  <a:txBody>
                    <a:bodyPr lIns="133350" tIns="95250" rIns="133350" bIns="95250"/>
                    <a:lstStyle/>
                    <a:p>
                      <a:r>
                        <a:rPr sz="1800" b="1">
                          <a:solidFill>
                            <a:srgbClr val="FFFFFF"/>
                          </a:solidFill>
                          <a:latin typeface="Arial"/>
                          <a:ea typeface="Arial"/>
                          <a:cs typeface="Arial"/>
                        </a:rPr>
                        <a:t>Component</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Seven-day result</a:t>
                      </a:r>
                    </a:p>
                  </a:txBody>
                  <a:tcPr marL="91440" marR="91440" marT="45720" marB="45720" anchor="ctr">
                    <a:solidFill>
                      <a:srgbClr val="173C4A"/>
                    </a:solidFill>
                  </a:tcPr>
                </a:tc>
              </a:tr>
              <a:tr h="504825">
                <a:tc>
                  <a:txBody>
                    <a:bodyPr lIns="133350" tIns="95250" rIns="133350" bIns="95250"/>
                    <a:lstStyle/>
                    <a:p>
                      <a:r>
                        <a:rPr sz="1800" b="0">
                          <a:solidFill>
                            <a:srgbClr val="18313B"/>
                          </a:solidFill>
                          <a:latin typeface="Arial"/>
                          <a:ea typeface="Arial"/>
                          <a:cs typeface="Arial"/>
                        </a:rPr>
                        <a:t>Gross after model execution prices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−€918.43</a:t>
                      </a:r>
                    </a:p>
                  </a:txBody>
                  <a:tcPr marL="91440" marR="91440" marT="45720" marB="45720" anchor="ctr">
                    <a:solidFill>
                      <a:srgbClr val="EDF3F4"/>
                    </a:solidFill>
                  </a:tcPr>
                </a:tc>
              </a:tr>
              <a:tr h="504825">
                <a:tc>
                  <a:txBody>
                    <a:bodyPr lIns="133350" tIns="95250" rIns="133350" bIns="95250"/>
                    <a:lstStyle/>
                    <a:p>
                      <a:r>
                        <a:rPr sz="1800" b="0">
                          <a:solidFill>
                            <a:srgbClr val="18313B"/>
                          </a:solidFill>
                          <a:latin typeface="Arial"/>
                          <a:ea typeface="Arial"/>
                          <a:cs typeface="Arial"/>
                        </a:rPr>
                        <a:t>Venue fees and FX cost</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−€629.55</a:t>
                      </a:r>
                    </a:p>
                  </a:txBody>
                  <a:tcPr marL="91440" marR="91440" marT="45720" marB="45720" anchor="ctr">
                    <a:solidFill>
                      <a:srgbClr val="FFFFFF"/>
                    </a:solidFill>
                  </a:tcPr>
                </a:tc>
              </a:tr>
              <a:tr h="504825">
                <a:tc>
                  <a:txBody>
                    <a:bodyPr lIns="133350" tIns="95250" rIns="133350" bIns="95250"/>
                    <a:lstStyle/>
                    <a:p>
                      <a:r>
                        <a:rPr sz="1800" b="0">
                          <a:solidFill>
                            <a:srgbClr val="18313B"/>
                          </a:solidFill>
                          <a:latin typeface="Arial"/>
                          <a:ea typeface="Arial"/>
                          <a:cs typeface="Arial"/>
                        </a:rPr>
                        <a:t>Net before carry</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−€1,547.98</a:t>
                      </a:r>
                    </a:p>
                  </a:txBody>
                  <a:tcPr marL="91440" marR="91440" marT="45720" marB="45720" anchor="ctr">
                    <a:solidFill>
                      <a:srgbClr val="EDF3F4"/>
                    </a:solidFill>
                  </a:tcPr>
                </a:tc>
              </a:tr>
              <a:tr h="504825">
                <a:tc>
                  <a:txBody>
                    <a:bodyPr lIns="133350" tIns="95250" rIns="133350" bIns="95250"/>
                    <a:lstStyle/>
                    <a:p>
                      <a:r>
                        <a:rPr sz="1800" b="0">
                          <a:solidFill>
                            <a:srgbClr val="18313B"/>
                          </a:solidFill>
                          <a:latin typeface="Arial"/>
                          <a:ea typeface="Arial"/>
                          <a:cs typeface="Arial"/>
                        </a:rPr>
                        <a:t>Carry</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−€191.78</a:t>
                      </a:r>
                    </a:p>
                  </a:txBody>
                  <a:tcPr marL="91440" marR="91440" marT="45720" marB="45720" anchor="ctr">
                    <a:solidFill>
                      <a:srgbClr val="FFFFFF"/>
                    </a:solidFill>
                  </a:tcPr>
                </a:tc>
              </a:tr>
              <a:tr h="504825">
                <a:tc>
                  <a:txBody>
                    <a:bodyPr lIns="133350" tIns="95250" rIns="133350" bIns="95250"/>
                    <a:lstStyle/>
                    <a:p>
                      <a:r>
                        <a:rPr sz="1800" b="0">
                          <a:solidFill>
                            <a:srgbClr val="18313B"/>
                          </a:solidFill>
                          <a:latin typeface="Arial"/>
                          <a:ea typeface="Arial"/>
                          <a:cs typeface="Arial"/>
                        </a:rPr>
                        <a:t>Net after carry</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−€1,739.76</a:t>
                      </a:r>
                    </a:p>
                  </a:txBody>
                  <a:tcPr marL="91440" marR="91440" marT="45720" marB="45720" anchor="ctr">
                    <a:solidFill>
                      <a:srgbClr val="EDF3F4"/>
                    </a:solidFill>
                  </a:tcPr>
                </a:tc>
              </a:tr>
            </a:tbl>
          </a:graphicData>
        </a:graphic>
      </p:graphicFrame>
      <p:sp>
        <p:nvSpPr>
          <p:cNvPr id="8" name="">
            <a:extLst xmlns:a="http://schemas.openxmlformats.org/drawingml/2006/main">
              <a:ext uri="{FF2B5EF4-FFF2-40B4-BE49-F238E27FC236}">
                <a16:creationId xmlns:a16="http://schemas.microsoft.com/office/drawing/2014/main" id="{431EBE09-26A4-47B7-909B-E95D141F2914}"/>
              </a:ext>
            </a:extLst>
          </p:cNvPr>
          <p:cNvSpPr>
            <a:spLocks xmlns:a="http://schemas.openxmlformats.org/drawingml/2006/main" noGrp="1"/>
          </p:cNvSpPr>
          <p:nvPr/>
        </p:nvSpPr>
        <p:spPr>
          <a:xfrm xmlns:a="http://schemas.openxmlformats.org/drawingml/2006/main">
            <a:off x="609600" y="57054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56D"/>
                </a:solidFill>
                <a:latin typeface="Arial"/>
                <a:ea typeface="Arial"/>
                <a:cs typeface="Arial"/>
              </a:defRPr>
            </a:def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BTC · 24 Sep–1 Oct 2026 · €100k per leg · &gt; $250M tier · conservative costs</a:t>
            </a:r>
          </a:p>
        </p:txBody>
      </p:sp>
    </p:spTree>
    <p:extLst>
      <p:ext uri="{BB962C8B-B14F-4D97-AF65-F5344CB8AC3E}">
        <p14:creationId xmlns:p14="http://schemas.microsoft.com/office/powerpoint/2010/main" val="12723350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C053FF-C60B-4AC4-9815-4109081B9262}"/>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08 · MODEL DIFFERENCES AND EVIDENCE LIMITS</a:t>
            </a:r>
          </a:p>
        </p:txBody>
      </p:sp>
      <p:sp>
        <p:nvSpPr>
          <p:cNvPr id="2" name="">
            <a:extLst xmlns:a="http://schemas.openxmlformats.org/drawingml/2006/main">
              <a:ext uri="{FF2B5EF4-FFF2-40B4-BE49-F238E27FC236}">
                <a16:creationId xmlns:a16="http://schemas.microsoft.com/office/drawing/2014/main" id="{D99A4B4D-7D87-4557-8310-FC14A662E20C}"/>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Replay must match live before it predicts live</a:t>
            </a:r>
          </a:p>
        </p:txBody>
      </p:sp>
      <p:sp>
        <p:nvSpPr>
          <p:cNvPr id="3" name="">
            <a:extLst xmlns:a="http://schemas.openxmlformats.org/drawingml/2006/main">
              <a:ext uri="{FF2B5EF4-FFF2-40B4-BE49-F238E27FC236}">
                <a16:creationId xmlns:a16="http://schemas.microsoft.com/office/drawing/2014/main" id="{B7731322-5247-4C30-B1CF-E674B285072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6189FE-66B8-47EF-8C24-05F08297952D}"/>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enhanced_signals.py; bsdex_historical_bt.py; quote_recorder.py.</a:t>
            </a:r>
          </a:p>
        </p:txBody>
      </p:sp>
      <p:sp>
        <p:nvSpPr>
          <p:cNvPr id="5" name="">
            <a:extLst xmlns:a="http://schemas.openxmlformats.org/drawingml/2006/main">
              <a:ext uri="{FF2B5EF4-FFF2-40B4-BE49-F238E27FC236}">
                <a16:creationId xmlns:a16="http://schemas.microsoft.com/office/drawing/2014/main" id="{CC4AAD15-C647-48FE-A76C-55D164182D4A}"/>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09</a:t>
            </a:r>
          </a:p>
        </p:txBody>
      </p:sp>
      <p:graphicFrame>
        <p:nvGraphicFramePr>
          <p:cNvPr id="6" name="">
            <a:extLst xmlns:a="http://schemas.openxmlformats.org/drawingml/2006/main">
              <a:ext uri="{FF2B5EF4-FFF2-40B4-BE49-F238E27FC236}">
                <a16:creationId xmlns:a16="http://schemas.microsoft.com/office/drawing/2014/main" id="{F6E98454-2F99-4D7A-9912-49F88C39AA5F}"/>
              </a:ext>
            </a:extLst>
          </p:cNvPr>
          <p:cNvGraphicFramePr/>
          <p:nvPr/>
        </p:nvGraphicFramePr>
        <p:xfrm>
          <a:off xmlns:a="http://schemas.openxmlformats.org/drawingml/2006/main" x="609600" y="1790700"/>
          <a:ext xmlns:a="http://schemas.openxmlformats.org/drawingml/2006/main" cx="10972800" cy="3600450"/>
        </p:xfrm>
        <a:graphic xmlns:a="http://schemas.openxmlformats.org/drawingml/2006/main">
          <a:graphicData uri="http://schemas.openxmlformats.org/drawingml/2006/table">
            <a:tbl>
              <a:tblPr/>
              <a:tblGrid>
                <a:gridCol w="2400300"/>
                <a:gridCol w="2571750"/>
                <a:gridCol w="2571750"/>
                <a:gridCol w="3429000"/>
              </a:tblGrid>
              <a:tr h="600075">
                <a:tc>
                  <a:txBody>
                    <a:bodyPr lIns="133350" tIns="95250" rIns="133350" bIns="95250"/>
                    <a:lstStyle/>
                    <a:p>
                      <a:r>
                        <a:rPr sz="1725" b="1">
                          <a:solidFill>
                            <a:srgbClr val="FFFFFF"/>
                          </a:solidFill>
                          <a:latin typeface="Arial"/>
                          <a:ea typeface="Arial"/>
                          <a:cs typeface="Arial"/>
                        </a:rPr>
                        <a:t>Setting</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Live paper</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Candle replay</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Quote replay</a:t>
                      </a:r>
                    </a:p>
                  </a:txBody>
                  <a:tcPr marL="91440" marR="91440" marT="45720" marB="45720" anchor="ctr">
                    <a:solidFill>
                      <a:srgbClr val="173C4A"/>
                    </a:solidFill>
                  </a:tcPr>
                </a:tc>
              </a:tr>
              <a:tr h="600075">
                <a:tc>
                  <a:txBody>
                    <a:bodyPr lIns="133350" tIns="95250" rIns="133350" bIns="95250"/>
                    <a:lstStyle/>
                    <a:p>
                      <a:r>
                        <a:rPr sz="1725" b="0">
                          <a:solidFill>
                            <a:srgbClr val="18313B"/>
                          </a:solidFill>
                          <a:latin typeface="Arial"/>
                          <a:ea typeface="Arial"/>
                          <a:cs typeface="Arial"/>
                        </a:rPr>
                        <a:t>Signal history</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~30 seconds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60 minutes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60 minutes</a:t>
                      </a:r>
                    </a:p>
                  </a:txBody>
                  <a:tcPr marL="91440" marR="91440" marT="45720" marB="45720" anchor="ctr">
                    <a:solidFill>
                      <a:srgbClr val="EDF3F4"/>
                    </a:solidFill>
                  </a:tcPr>
                </a:tc>
              </a:tr>
              <a:tr h="600075">
                <a:tc>
                  <a:txBody>
                    <a:bodyPr lIns="133350" tIns="95250" rIns="133350" bIns="95250"/>
                    <a:lstStyle/>
                    <a:p>
                      <a:r>
                        <a:rPr sz="1725" b="0">
                          <a:solidFill>
                            <a:srgbClr val="18313B"/>
                          </a:solidFill>
                          <a:latin typeface="Arial"/>
                          <a:ea typeface="Arial"/>
                          <a:cs typeface="Arial"/>
                        </a:rPr>
                        <a:t>Entry threshold</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Adaptive 0.3–2.0</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Fixed 1.5</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Fixed 1.5</a:t>
                      </a:r>
                    </a:p>
                  </a:txBody>
                  <a:tcPr marL="91440" marR="91440" marT="45720" marB="45720" anchor="ctr">
                    <a:solidFill>
                      <a:srgbClr val="FFFFFF"/>
                    </a:solidFill>
                  </a:tcPr>
                </a:tc>
              </a:tr>
              <a:tr h="600075">
                <a:tc>
                  <a:txBody>
                    <a:bodyPr lIns="133350" tIns="95250" rIns="133350" bIns="95250"/>
                    <a:lstStyle/>
                    <a:p>
                      <a:r>
                        <a:rPr sz="1725" b="0">
                          <a:solidFill>
                            <a:srgbClr val="18313B"/>
                          </a:solidFill>
                          <a:latin typeface="Arial"/>
                          <a:ea typeface="Arial"/>
                          <a:cs typeface="Arial"/>
                        </a:rPr>
                        <a:t>Cooldown</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30 seconds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30 minutes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30 minutes</a:t>
                      </a:r>
                    </a:p>
                  </a:txBody>
                  <a:tcPr marL="91440" marR="91440" marT="45720" marB="45720" anchor="ctr">
                    <a:solidFill>
                      <a:srgbClr val="EDF3F4"/>
                    </a:solidFill>
                  </a:tcPr>
                </a:tc>
              </a:tr>
              <a:tr h="600075">
                <a:tc>
                  <a:txBody>
                    <a:bodyPr lIns="133350" tIns="95250" rIns="133350" bIns="95250"/>
                    <a:lstStyle/>
                    <a:p>
                      <a:r>
                        <a:rPr sz="1725" b="0">
                          <a:solidFill>
                            <a:srgbClr val="18313B"/>
                          </a:solidFill>
                          <a:latin typeface="Arial"/>
                          <a:ea typeface="Arial"/>
                          <a:cs typeface="Arial"/>
                        </a:rPr>
                        <a:t>Fill timing</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First tick ≥300 ms</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Next minute</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Next eligible snapshot</a:t>
                      </a:r>
                    </a:p>
                  </a:txBody>
                  <a:tcPr marL="91440" marR="91440" marT="45720" marB="45720" anchor="ctr">
                    <a:solidFill>
                      <a:srgbClr val="FFFFFF"/>
                    </a:solidFill>
                  </a:tcPr>
                </a:tc>
              </a:tr>
              <a:tr h="600075">
                <a:tc>
                  <a:txBody>
                    <a:bodyPr lIns="133350" tIns="95250" rIns="133350" bIns="95250"/>
                    <a:lstStyle/>
                    <a:p>
                      <a:r>
                        <a:rPr sz="1725" b="0">
                          <a:solidFill>
                            <a:srgbClr val="18313B"/>
                          </a:solidFill>
                          <a:latin typeface="Arial"/>
                          <a:ea typeface="Arial"/>
                          <a:cs typeface="Arial"/>
                        </a:rPr>
                        <a:t>Prices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Book VWAP</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Closes + cost model</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Recorded top-five VWAP</a:t>
                      </a:r>
                    </a:p>
                  </a:txBody>
                  <a:tcPr marL="91440" marR="91440" marT="45720" marB="45720" anchor="ctr">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897E2FB4-1117-4645-8B82-867410E2630C}"/>
              </a:ext>
            </a:extLst>
          </p:cNvPr>
          <p:cNvSpPr>
            <a:spLocks xmlns:a="http://schemas.openxmlformats.org/drawingml/2006/main" noGrp="1"/>
          </p:cNvSpPr>
          <p:nvPr/>
        </p:nvSpPr>
        <p:spPr>
          <a:xfrm xmlns:a="http://schemas.openxmlformats.org/drawingml/2006/main">
            <a:off x="609600" y="5581650"/>
            <a:ext cx="10858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33639"/>
                </a:solidFill>
                <a:latin typeface="Arial"/>
                <a:ea typeface="Arial"/>
                <a:cs typeface="Arial"/>
              </a:defRPr>
            </a:defPPr>
          </a:lstStyle>
          <a:p xmlns:a="http://schemas.openxmlformats.org/drawingml/2006/main">
            <a:pPr>
              <a:defRPr sz="1800" b="0">
                <a:solidFill>
                  <a:srgbClr val="A33639"/>
                </a:solidFill>
                <a:latin typeface="Arial"/>
                <a:ea typeface="Arial"/>
                <a:cs typeface="Arial"/>
              </a:defRPr>
            </a:pPr>
            <a:r>
              <a:rPr sz="1800" b="0">
                <a:solidFill>
                  <a:srgbClr val="A33639"/>
                </a:solidFill>
                <a:latin typeface="Arial"/>
                <a:ea typeface="Arial"/>
                <a:cs typeface="Arial"/>
              </a:rPr>
              <a:t>One-second recording cannot resolve a 300 ms fill path. The saved 19-minute sample is too short for the quote model’s 60-minute signal window.</a:t>
            </a:r>
          </a:p>
        </p:txBody>
      </p:sp>
    </p:spTree>
    <p:extLst>
      <p:ext uri="{BB962C8B-B14F-4D97-AF65-F5344CB8AC3E}">
        <p14:creationId xmlns:p14="http://schemas.microsoft.com/office/powerpoint/2010/main" val="21414453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086E00-76B4-463D-BF13-B01AD6E26657}"/>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09 · CONDITIONAL INSTITUTIONAL IMPROVEMENTS</a:t>
            </a:r>
          </a:p>
        </p:txBody>
      </p:sp>
      <p:sp>
        <p:nvSpPr>
          <p:cNvPr id="2" name="">
            <a:extLst xmlns:a="http://schemas.openxmlformats.org/drawingml/2006/main">
              <a:ext uri="{FF2B5EF4-FFF2-40B4-BE49-F238E27FC236}">
                <a16:creationId xmlns:a16="http://schemas.microsoft.com/office/drawing/2014/main" id="{71B79F9D-9C48-4D32-A339-31C942580D54}"/>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Bank desks can reduce specific frictions</a:t>
            </a:r>
          </a:p>
        </p:txBody>
      </p:sp>
      <p:sp>
        <p:nvSpPr>
          <p:cNvPr id="3" name="">
            <a:extLst xmlns:a="http://schemas.openxmlformats.org/drawingml/2006/main">
              <a:ext uri="{FF2B5EF4-FFF2-40B4-BE49-F238E27FC236}">
                <a16:creationId xmlns:a16="http://schemas.microsoft.com/office/drawing/2014/main" id="{9CC13309-9AC4-4D19-B28C-CF939355531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C074C0-69A1-4570-99D7-A6F2F063906E}"/>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project constraints; ECB and BIS guidance. These are proposals, not secured arrangements.</a:t>
            </a:r>
          </a:p>
        </p:txBody>
      </p:sp>
      <p:sp>
        <p:nvSpPr>
          <p:cNvPr id="5" name="">
            <a:extLst xmlns:a="http://schemas.openxmlformats.org/drawingml/2006/main">
              <a:ext uri="{FF2B5EF4-FFF2-40B4-BE49-F238E27FC236}">
                <a16:creationId xmlns:a16="http://schemas.microsoft.com/office/drawing/2014/main" id="{4BFADC80-46A9-4FF1-A29E-AF515B8C2A84}"/>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10</a:t>
            </a:r>
          </a:p>
        </p:txBody>
      </p:sp>
      <p:graphicFrame>
        <p:nvGraphicFramePr>
          <p:cNvPr id="6" name="">
            <a:extLst xmlns:a="http://schemas.openxmlformats.org/drawingml/2006/main">
              <a:ext uri="{FF2B5EF4-FFF2-40B4-BE49-F238E27FC236}">
                <a16:creationId xmlns:a16="http://schemas.microsoft.com/office/drawing/2014/main" id="{CF4D9243-36D3-442E-B50E-A579B62E5A13}"/>
              </a:ext>
            </a:extLst>
          </p:cNvPr>
          <p:cNvGraphicFramePr/>
          <p:nvPr/>
        </p:nvGraphicFramePr>
        <p:xfrm>
          <a:off xmlns:a="http://schemas.openxmlformats.org/drawingml/2006/main" x="609600" y="1809750"/>
          <a:ext xmlns:a="http://schemas.openxmlformats.org/drawingml/2006/main" cx="10972800" cy="4000500"/>
        </p:xfrm>
        <a:graphic xmlns:a="http://schemas.openxmlformats.org/drawingml/2006/main">
          <a:graphicData uri="http://schemas.openxmlformats.org/drawingml/2006/table">
            <a:tbl>
              <a:tblPr/>
              <a:tblGrid>
                <a:gridCol w="3181350"/>
                <a:gridCol w="4248150"/>
                <a:gridCol w="3543300"/>
              </a:tblGrid>
              <a:tr h="666750">
                <a:tc>
                  <a:txBody>
                    <a:bodyPr lIns="133350" tIns="95250" rIns="133350" bIns="95250"/>
                    <a:lstStyle/>
                    <a:p>
                      <a:r>
                        <a:rPr sz="1725" b="1">
                          <a:solidFill>
                            <a:srgbClr val="FFFFFF"/>
                          </a:solidFill>
                          <a:latin typeface="Arial"/>
                          <a:ea typeface="Arial"/>
                          <a:cs typeface="Arial"/>
                        </a:rPr>
                        <a:t>Desk</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Potential benefit</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Residual constraint</a:t>
                      </a:r>
                    </a:p>
                  </a:txBody>
                  <a:tcPr marL="91440" marR="91440" marT="45720" marB="45720" anchor="ctr">
                    <a:solidFill>
                      <a:srgbClr val="173C4A"/>
                    </a:solidFill>
                  </a:tcPr>
                </a:tc>
              </a:tr>
              <a:tr h="666750">
                <a:tc>
                  <a:txBody>
                    <a:bodyPr lIns="133350" tIns="95250" rIns="133350" bIns="95250"/>
                    <a:lstStyle/>
                    <a:p>
                      <a:r>
                        <a:rPr sz="1725" b="0">
                          <a:solidFill>
                            <a:srgbClr val="18313B"/>
                          </a:solidFill>
                          <a:latin typeface="Arial"/>
                          <a:ea typeface="Arial"/>
                          <a:cs typeface="Arial"/>
                        </a:rPr>
                        <a:t>Digital assets / execution</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Actual fees, direct feeds, lower latency</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An edge may still be absent</a:t>
                      </a:r>
                    </a:p>
                  </a:txBody>
                  <a:tcPr marL="91440" marR="91440" marT="45720" marB="45720" anchor="ctr">
                    <a:solidFill>
                      <a:srgbClr val="EDF3F4"/>
                    </a:solidFill>
                  </a:tcPr>
                </a:tc>
              </a:tr>
              <a:tr h="666750">
                <a:tc>
                  <a:txBody>
                    <a:bodyPr lIns="133350" tIns="95250" rIns="133350" bIns="95250"/>
                    <a:lstStyle/>
                    <a:p>
                      <a:r>
                        <a:rPr sz="1725" b="0">
                          <a:solidFill>
                            <a:srgbClr val="18313B"/>
                          </a:solidFill>
                          <a:latin typeface="Arial"/>
                          <a:ea typeface="Arial"/>
                          <a:cs typeface="Arial"/>
                        </a:rPr>
                        <a:t>FX</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Executable conversion; net flows</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USDT basis and liquidity</a:t>
                      </a:r>
                    </a:p>
                  </a:txBody>
                  <a:tcPr marL="91440" marR="91440" marT="45720" marB="45720" anchor="ctr">
                    <a:solidFill>
                      <a:srgbClr val="FFFFFF"/>
                    </a:solidFill>
                  </a:tcPr>
                </a:tc>
              </a:tr>
              <a:tr h="666750">
                <a:tc>
                  <a:txBody>
                    <a:bodyPr lIns="133350" tIns="95250" rIns="133350" bIns="95250"/>
                    <a:lstStyle/>
                    <a:p>
                      <a:r>
                        <a:rPr sz="1725" b="0">
                          <a:solidFill>
                            <a:srgbClr val="18313B"/>
                          </a:solidFill>
                          <a:latin typeface="Arial"/>
                          <a:ea typeface="Arial"/>
                          <a:cs typeface="Arial"/>
                        </a:rPr>
                        <a:t>Treasury / money markets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Shared funding and cash buffers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Funding and capital charges</a:t>
                      </a:r>
                    </a:p>
                  </a:txBody>
                  <a:tcPr marL="91440" marR="91440" marT="45720" marB="45720" anchor="ctr">
                    <a:solidFill>
                      <a:srgbClr val="EDF3F4"/>
                    </a:solidFill>
                  </a:tcPr>
                </a:tc>
              </a:tr>
              <a:tr h="666750">
                <a:tc>
                  <a:txBody>
                    <a:bodyPr lIns="133350" tIns="95250" rIns="133350" bIns="95250"/>
                    <a:lstStyle/>
                    <a:p>
                      <a:r>
                        <a:rPr sz="1725" b="0">
                          <a:solidFill>
                            <a:srgbClr val="18313B"/>
                          </a:solidFill>
                          <a:latin typeface="Arial"/>
                          <a:ea typeface="Arial"/>
                          <a:cs typeface="Arial"/>
                        </a:rPr>
                        <a:t>Financing / hedging</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Inventory access; approved hedges</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Borrow cost, basis and slippage</a:t>
                      </a:r>
                    </a:p>
                  </a:txBody>
                  <a:tcPr marL="91440" marR="91440" marT="45720" marB="45720" anchor="ctr">
                    <a:solidFill>
                      <a:srgbClr val="FFFFFF"/>
                    </a:solidFill>
                  </a:tcPr>
                </a:tc>
              </a:tr>
              <a:tr h="666750">
                <a:tc>
                  <a:txBody>
                    <a:bodyPr lIns="133350" tIns="95250" rIns="133350" bIns="95250"/>
                    <a:lstStyle/>
                    <a:p>
                      <a:r>
                        <a:rPr sz="1725" b="0">
                          <a:solidFill>
                            <a:srgbClr val="18313B"/>
                          </a:solidFill>
                          <a:latin typeface="Arial"/>
                          <a:ea typeface="Arial"/>
                          <a:cs typeface="Arial"/>
                        </a:rPr>
                        <a:t>Custody / operations / risk</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Rebalancing, limits and reconciliation</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Venue and settlement risk</a:t>
                      </a:r>
                    </a:p>
                  </a:txBody>
                  <a:tcPr marL="91440" marR="91440" marT="45720" marB="45720" anchor="ctr">
                    <a:solidFill>
                      <a:srgbClr val="EDF3F4"/>
                    </a:solidFill>
                  </a:tcPr>
                </a:tc>
              </a:tr>
            </a:tbl>
          </a:graphicData>
        </a:graphic>
      </p:graphicFrame>
    </p:spTree>
    <p:extLst>
      <p:ext uri="{BB962C8B-B14F-4D97-AF65-F5344CB8AC3E}">
        <p14:creationId xmlns:p14="http://schemas.microsoft.com/office/powerpoint/2010/main" val="5833641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016AB66-9FF1-4361-8B70-F936534648A3}"/>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10 · DECISION AND NEXT EVIDENCE</a:t>
            </a:r>
          </a:p>
        </p:txBody>
      </p:sp>
      <p:sp>
        <p:nvSpPr>
          <p:cNvPr id="2" name="">
            <a:extLst xmlns:a="http://schemas.openxmlformats.org/drawingml/2006/main">
              <a:ext uri="{FF2B5EF4-FFF2-40B4-BE49-F238E27FC236}">
                <a16:creationId xmlns:a16="http://schemas.microsoft.com/office/drawing/2014/main" id="{CD737C55-4216-4F30-95F2-A52D21C3014D}"/>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Continue as a measured paper pilot</a:t>
            </a:r>
          </a:p>
        </p:txBody>
      </p:sp>
      <p:sp>
        <p:nvSpPr>
          <p:cNvPr id="3" name="">
            <a:extLst xmlns:a="http://schemas.openxmlformats.org/drawingml/2006/main">
              <a:ext uri="{FF2B5EF4-FFF2-40B4-BE49-F238E27FC236}">
                <a16:creationId xmlns:a16="http://schemas.microsoft.com/office/drawing/2014/main" id="{09FDEF84-C7EE-4688-BFBE-BF9219E523B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A566ACE-CE54-4E45-A44D-D0682DD4D57B}"/>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synthesis of code review and saved results. Further investment depends on measured net economics.</a:t>
            </a:r>
          </a:p>
        </p:txBody>
      </p:sp>
      <p:sp>
        <p:nvSpPr>
          <p:cNvPr id="5" name="">
            <a:extLst xmlns:a="http://schemas.openxmlformats.org/drawingml/2006/main">
              <a:ext uri="{FF2B5EF4-FFF2-40B4-BE49-F238E27FC236}">
                <a16:creationId xmlns:a16="http://schemas.microsoft.com/office/drawing/2014/main" id="{E66C91AC-00F9-4934-B343-5650B5F62FCE}"/>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DD909DF2-2BA2-465C-9308-C96E0827F97A}"/>
              </a:ext>
            </a:extLst>
          </p:cNvPr>
          <p:cNvSpPr>
            <a:spLocks xmlns:a="http://schemas.openxmlformats.org/drawingml/2006/main" noGrp="1"/>
          </p:cNvSpPr>
          <p:nvPr/>
        </p:nvSpPr>
        <p:spPr>
          <a:xfrm xmlns:a="http://schemas.openxmlformats.org/drawingml/2006/main">
            <a:off x="609600" y="1885950"/>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47A78"/>
                </a:solidFill>
                <a:latin typeface="Arial"/>
                <a:ea typeface="Arial"/>
                <a:cs typeface="Arial"/>
              </a:defRPr>
            </a:defPPr>
          </a:lstStyle>
          <a:p xmlns:a="http://schemas.openxmlformats.org/drawingml/2006/main">
            <a:pPr>
              <a:defRPr sz="2700" b="1">
                <a:solidFill>
                  <a:srgbClr val="347A78"/>
                </a:solidFill>
                <a:latin typeface="Arial"/>
                <a:ea typeface="Arial"/>
                <a:cs typeface="Arial"/>
              </a:defRPr>
            </a:pPr>
            <a:r>
              <a:rPr sz="2700" b="1">
                <a:solidFill>
                  <a:srgbClr val="347A78"/>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32122CD1-E7D5-4818-915B-6A931D561D25}"/>
              </a:ext>
            </a:extLst>
          </p:cNvPr>
          <p:cNvSpPr>
            <a:spLocks xmlns:a="http://schemas.openxmlformats.org/drawingml/2006/main" noGrp="1"/>
          </p:cNvSpPr>
          <p:nvPr/>
        </p:nvSpPr>
        <p:spPr>
          <a:xfrm xmlns:a="http://schemas.openxmlformats.org/drawingml/2006/main">
            <a:off x="1257300" y="1885950"/>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C4A"/>
                </a:solidFill>
                <a:latin typeface="Arial"/>
                <a:ea typeface="Arial"/>
                <a:cs typeface="Arial"/>
              </a:defRPr>
            </a:defPPr>
          </a:lstStyle>
          <a:p xmlns:a="http://schemas.openxmlformats.org/drawingml/2006/main">
            <a:pPr>
              <a:defRPr sz="2250" b="1">
                <a:solidFill>
                  <a:srgbClr val="173C4A"/>
                </a:solidFill>
                <a:latin typeface="Arial"/>
                <a:ea typeface="Arial"/>
                <a:cs typeface="Arial"/>
              </a:defRPr>
            </a:pPr>
            <a:r>
              <a:rPr sz="2250" b="1">
                <a:solidFill>
                  <a:srgbClr val="173C4A"/>
                </a:solidFill>
                <a:latin typeface="Arial"/>
                <a:ea typeface="Arial"/>
                <a:cs typeface="Arial"/>
              </a:rPr>
              <a:t>Confirm the real economics</a:t>
            </a:r>
          </a:p>
        </p:txBody>
      </p:sp>
      <p:sp>
        <p:nvSpPr>
          <p:cNvPr id="8" name="">
            <a:extLst xmlns:a="http://schemas.openxmlformats.org/drawingml/2006/main">
              <a:ext uri="{FF2B5EF4-FFF2-40B4-BE49-F238E27FC236}">
                <a16:creationId xmlns:a16="http://schemas.microsoft.com/office/drawing/2014/main" id="{325E7D84-81DB-4386-BA78-6B37F2125CF0}"/>
              </a:ext>
            </a:extLst>
          </p:cNvPr>
          <p:cNvSpPr>
            <a:spLocks xmlns:a="http://schemas.openxmlformats.org/drawingml/2006/main" noGrp="1"/>
          </p:cNvSpPr>
          <p:nvPr/>
        </p:nvSpPr>
        <p:spPr>
          <a:xfrm xmlns:a="http://schemas.openxmlformats.org/drawingml/2006/main">
            <a:off x="1257300" y="237172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Use contracted venue and FX prices, funding, inventory and rebalancing costs.</a:t>
            </a:r>
          </a:p>
        </p:txBody>
      </p:sp>
      <p:sp>
        <p:nvSpPr>
          <p:cNvPr id="9" name="">
            <a:extLst xmlns:a="http://schemas.openxmlformats.org/drawingml/2006/main">
              <a:ext uri="{FF2B5EF4-FFF2-40B4-BE49-F238E27FC236}">
                <a16:creationId xmlns:a16="http://schemas.microsoft.com/office/drawing/2014/main" id="{EC6AC2BE-A866-4EA3-884E-15B7E457374F}"/>
              </a:ext>
            </a:extLst>
          </p:cNvPr>
          <p:cNvSpPr>
            <a:spLocks xmlns:a="http://schemas.openxmlformats.org/drawingml/2006/main" noGrp="1"/>
          </p:cNvSpPr>
          <p:nvPr/>
        </p:nvSpPr>
        <p:spPr>
          <a:xfrm xmlns:a="http://schemas.openxmlformats.org/drawingml/2006/main">
            <a:off x="609600" y="3209925"/>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47A78"/>
                </a:solidFill>
                <a:latin typeface="Arial"/>
                <a:ea typeface="Arial"/>
                <a:cs typeface="Arial"/>
              </a:defRPr>
            </a:defPPr>
          </a:lstStyle>
          <a:p xmlns:a="http://schemas.openxmlformats.org/drawingml/2006/main">
            <a:pPr>
              <a:defRPr sz="2700" b="1">
                <a:solidFill>
                  <a:srgbClr val="347A78"/>
                </a:solidFill>
                <a:latin typeface="Arial"/>
                <a:ea typeface="Arial"/>
                <a:cs typeface="Arial"/>
              </a:defRPr>
            </a:pPr>
            <a:r>
              <a:rPr sz="2700" b="1">
                <a:solidFill>
                  <a:srgbClr val="347A78"/>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C61D638B-4427-42C6-A51F-2986C424F1B0}"/>
              </a:ext>
            </a:extLst>
          </p:cNvPr>
          <p:cNvSpPr>
            <a:spLocks xmlns:a="http://schemas.openxmlformats.org/drawingml/2006/main" noGrp="1"/>
          </p:cNvSpPr>
          <p:nvPr/>
        </p:nvSpPr>
        <p:spPr>
          <a:xfrm xmlns:a="http://schemas.openxmlformats.org/drawingml/2006/main">
            <a:off x="1257300" y="3209925"/>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C4A"/>
                </a:solidFill>
                <a:latin typeface="Arial"/>
                <a:ea typeface="Arial"/>
                <a:cs typeface="Arial"/>
              </a:defRPr>
            </a:defPPr>
          </a:lstStyle>
          <a:p xmlns:a="http://schemas.openxmlformats.org/drawingml/2006/main">
            <a:pPr>
              <a:defRPr sz="2250" b="1">
                <a:solidFill>
                  <a:srgbClr val="173C4A"/>
                </a:solidFill>
                <a:latin typeface="Arial"/>
                <a:ea typeface="Arial"/>
                <a:cs typeface="Arial"/>
              </a:defRPr>
            </a:pPr>
            <a:r>
              <a:rPr sz="2250" b="1">
                <a:solidFill>
                  <a:srgbClr val="173C4A"/>
                </a:solidFill>
                <a:latin typeface="Arial"/>
                <a:ea typeface="Arial"/>
                <a:cs typeface="Arial"/>
              </a:rPr>
              <a:t>Make live and replay comparable</a:t>
            </a:r>
          </a:p>
        </p:txBody>
      </p:sp>
      <p:sp>
        <p:nvSpPr>
          <p:cNvPr id="11" name="">
            <a:extLst xmlns:a="http://schemas.openxmlformats.org/drawingml/2006/main">
              <a:ext uri="{FF2B5EF4-FFF2-40B4-BE49-F238E27FC236}">
                <a16:creationId xmlns:a16="http://schemas.microsoft.com/office/drawing/2014/main" id="{16C58A2A-57CF-4474-A4DA-9330A19C00C9}"/>
              </a:ext>
            </a:extLst>
          </p:cNvPr>
          <p:cNvSpPr>
            <a:spLocks xmlns:a="http://schemas.openxmlformats.org/drawingml/2006/main" noGrp="1"/>
          </p:cNvSpPr>
          <p:nvPr/>
        </p:nvSpPr>
        <p:spPr>
          <a:xfrm xmlns:a="http://schemas.openxmlformats.org/drawingml/2006/main">
            <a:off x="1257300" y="3695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Align the rules; collect longer depth history; measure signal-to-fill deterioration.</a:t>
            </a:r>
          </a:p>
        </p:txBody>
      </p:sp>
      <p:sp>
        <p:nvSpPr>
          <p:cNvPr id="12" name="">
            <a:extLst xmlns:a="http://schemas.openxmlformats.org/drawingml/2006/main">
              <a:ext uri="{FF2B5EF4-FFF2-40B4-BE49-F238E27FC236}">
                <a16:creationId xmlns:a16="http://schemas.microsoft.com/office/drawing/2014/main" id="{18A5F3F0-FDDB-4647-A939-71B439426FF1}"/>
              </a:ext>
            </a:extLst>
          </p:cNvPr>
          <p:cNvSpPr>
            <a:spLocks xmlns:a="http://schemas.openxmlformats.org/drawingml/2006/main" noGrp="1"/>
          </p:cNvSpPr>
          <p:nvPr/>
        </p:nvSpPr>
        <p:spPr>
          <a:xfrm xmlns:a="http://schemas.openxmlformats.org/drawingml/2006/main">
            <a:off x="609600" y="4533900"/>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47A78"/>
                </a:solidFill>
                <a:latin typeface="Arial"/>
                <a:ea typeface="Arial"/>
                <a:cs typeface="Arial"/>
              </a:defRPr>
            </a:defPPr>
          </a:lstStyle>
          <a:p xmlns:a="http://schemas.openxmlformats.org/drawingml/2006/main">
            <a:pPr>
              <a:defRPr sz="2700" b="1">
                <a:solidFill>
                  <a:srgbClr val="347A78"/>
                </a:solidFill>
                <a:latin typeface="Arial"/>
                <a:ea typeface="Arial"/>
                <a:cs typeface="Arial"/>
              </a:defRPr>
            </a:pPr>
            <a:r>
              <a:rPr sz="2700" b="1">
                <a:solidFill>
                  <a:srgbClr val="347A78"/>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61E644C1-387D-4690-A412-C68F1F413B52}"/>
              </a:ext>
            </a:extLst>
          </p:cNvPr>
          <p:cNvSpPr>
            <a:spLocks xmlns:a="http://schemas.openxmlformats.org/drawingml/2006/main" noGrp="1"/>
          </p:cNvSpPr>
          <p:nvPr/>
        </p:nvSpPr>
        <p:spPr>
          <a:xfrm xmlns:a="http://schemas.openxmlformats.org/drawingml/2006/main">
            <a:off x="1257300" y="4533900"/>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C4A"/>
                </a:solidFill>
                <a:latin typeface="Arial"/>
                <a:ea typeface="Arial"/>
                <a:cs typeface="Arial"/>
              </a:defRPr>
            </a:defPPr>
          </a:lstStyle>
          <a:p xmlns:a="http://schemas.openxmlformats.org/drawingml/2006/main">
            <a:pPr>
              <a:defRPr sz="2250" b="1">
                <a:solidFill>
                  <a:srgbClr val="173C4A"/>
                </a:solidFill>
                <a:latin typeface="Arial"/>
                <a:ea typeface="Arial"/>
                <a:cs typeface="Arial"/>
              </a:defRPr>
            </a:pPr>
            <a:r>
              <a:rPr sz="2250" b="1">
                <a:solidFill>
                  <a:srgbClr val="173C4A"/>
                </a:solidFill>
                <a:latin typeface="Arial"/>
                <a:ea typeface="Arial"/>
                <a:cs typeface="Arial"/>
              </a:rPr>
              <a:t>Require positive results after every cost</a:t>
            </a:r>
          </a:p>
        </p:txBody>
      </p:sp>
      <p:sp>
        <p:nvSpPr>
          <p:cNvPr id="14" name="">
            <a:extLst xmlns:a="http://schemas.openxmlformats.org/drawingml/2006/main">
              <a:ext uri="{FF2B5EF4-FFF2-40B4-BE49-F238E27FC236}">
                <a16:creationId xmlns:a16="http://schemas.microsoft.com/office/drawing/2014/main" id="{513C2773-D1AB-4E38-A69F-956CDF7B61C5}"/>
              </a:ext>
            </a:extLst>
          </p:cNvPr>
          <p:cNvSpPr>
            <a:spLocks xmlns:a="http://schemas.openxmlformats.org/drawingml/2006/main" noGrp="1"/>
          </p:cNvSpPr>
          <p:nvPr/>
        </p:nvSpPr>
        <p:spPr>
          <a:xfrm xmlns:a="http://schemas.openxmlformats.org/drawingml/2006/main">
            <a:off x="1257300" y="501967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Test out of sample, including failed and partial fills, with clear loss limits.</a:t>
            </a:r>
          </a:p>
        </p:txBody>
      </p:sp>
    </p:spTree>
    <p:extLst>
      <p:ext uri="{BB962C8B-B14F-4D97-AF65-F5344CB8AC3E}">
        <p14:creationId xmlns:p14="http://schemas.microsoft.com/office/powerpoint/2010/main" val="16455860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2026-10-12T21:11:05.7480000Z</dcterms:created>
  <dcterms:modified xsi:type="dcterms:W3CDTF">2026-10-12T21:11:05.7480000Z</dcterms:modified>
</coreProperties>
</file>